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68" r:id="rId1"/>
  </p:sldMasterIdLst>
  <p:notesMasterIdLst>
    <p:notesMasterId r:id="rId12"/>
  </p:notesMasterIdLst>
  <p:handoutMasterIdLst>
    <p:handoutMasterId r:id="rId13"/>
  </p:handoutMasterIdLst>
  <p:sldIdLst>
    <p:sldId id="1295" r:id="rId34"/>
    <p:sldId id="1296" r:id="rId35"/>
    <p:sldId id="1297" r:id="rId36"/>
    <p:sldId id="1298" r:id="rId37"/>
    <p:sldId id="1299" r:id="rId38"/>
    <p:sldId id="1300" r:id="rId39"/>
    <p:sldId id="1301" r:id="rId40"/>
    <p:sldId id="1302" r:id="rId41"/>
    <p:sldId id="1303" r:id="rId42"/>
  </p:sldIdLst>
  <p:sldSz cx="9906000" cy="6858000" type="A4"/>
  <p:notesSz cx="6858000" cy="9945688"/>
  <p:embeddedFontLst>
    <p:embeddedFont>
      <p:font typeface="High Tower Text" panose="02040502050506030303" pitchFamily="18" charset="0"/>
      <p:regular r:id="rId14"/>
      <p:italic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바탕체 Medium" panose="02020603020101020101" pitchFamily="18" charset="-127"/>
      <p:regular r:id="rId18"/>
    </p:embeddedFont>
    <p:embeddedFont>
      <p:font typeface="Noto Sans KR" panose="020B0200000000000000" pitchFamily="50" charset="-127"/>
      <p:regular r:id="rId19"/>
      <p:bold r:id="rId20"/>
    </p:embeddedFont>
    <p:embeddedFont>
      <p:font typeface="Wingdings 2" panose="05020102010507070707" pitchFamily="18" charset="2"/>
      <p:regular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페이퍼로지 3 Light" pitchFamily="2" charset="-127"/>
      <p:regular r:id="rId24"/>
    </p:embeddedFont>
    <p:embeddedFont>
      <p:font typeface="페이퍼로지 4 Regular" pitchFamily="2" charset="-127"/>
      <p:regular r:id="rId25"/>
    </p:embeddedFont>
    <p:embeddedFont>
      <p:font typeface="페이퍼로지 5 Medium" pitchFamily="2" charset="-127"/>
      <p:regular r:id="rId26"/>
    </p:embeddedFont>
    <p:embeddedFont>
      <p:font typeface="페이퍼로지 6 SemiBold" pitchFamily="2" charset="-127"/>
      <p:bold r:id="rId27"/>
    </p:embeddedFont>
    <p:embeddedFont>
      <p:font typeface="페이퍼로지 8 ExtraBold" pitchFamily="2" charset="-127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6" orient="horz" pos="3702" userDrawn="1">
          <p15:clr>
            <a:srgbClr val="A4A3A4"/>
          </p15:clr>
        </p15:guide>
        <p15:guide id="7" pos="3029" userDrawn="1">
          <p15:clr>
            <a:srgbClr val="A4A3A4"/>
          </p15:clr>
        </p15:guide>
        <p15:guide id="8" pos="3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k kwiok" initials="pk" lastIdx="1" clrIdx="0">
    <p:extLst>
      <p:ext uri="{19B8F6BF-5375-455C-9EA6-DF929625EA0E}">
        <p15:presenceInfo xmlns:p15="http://schemas.microsoft.com/office/powerpoint/2012/main" userId="07fed7d8f8fc40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DFA"/>
    <a:srgbClr val="99F6E4"/>
    <a:srgbClr val="0066FF"/>
    <a:srgbClr val="203864"/>
    <a:srgbClr val="0E455E"/>
    <a:srgbClr val="707E8E"/>
    <a:srgbClr val="14658A"/>
    <a:srgbClr val="0A81A5"/>
    <a:srgbClr val="2F559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6" autoAdjust="0"/>
    <p:restoredTop sz="96147" autoAdjust="0"/>
  </p:normalViewPr>
  <p:slideViewPr>
    <p:cSldViewPr showGuides="1">
      <p:cViewPr varScale="1">
        <p:scale>
          <a:sx n="104" d="100"/>
          <a:sy n="104" d="100"/>
        </p:scale>
        <p:origin x="1014" y="114"/>
      </p:cViewPr>
      <p:guideLst>
        <p:guide orient="horz" pos="1979"/>
        <p:guide orient="horz" pos="3702"/>
        <p:guide pos="3029"/>
        <p:guide pos="32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3424" y="36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  <Relationship Id="rId34" Type="http://schemas.openxmlformats.org/officeDocument/2006/relationships/slide" Target="slides/slide11.xml"/>
  <Relationship Id="rId35" Type="http://schemas.openxmlformats.org/officeDocument/2006/relationships/slide" Target="slides/slide12.xml"/>
  <Relationship Id="rId36" Type="http://schemas.openxmlformats.org/officeDocument/2006/relationships/slide" Target="slides/slide13.xml"/>
  <Relationship Id="rId37" Type="http://schemas.openxmlformats.org/officeDocument/2006/relationships/slide" Target="slides/slide14.xml"/>
  <Relationship Id="rId38" Type="http://schemas.openxmlformats.org/officeDocument/2006/relationships/slide" Target="slides/slide15.xml"/>
  <Relationship Id="rId39" Type="http://schemas.openxmlformats.org/officeDocument/2006/relationships/slide" Target="slides/slide16.xml"/>
  <Relationship Id="rId40" Type="http://schemas.openxmlformats.org/officeDocument/2006/relationships/slide" Target="slides/slide17.xml"/>
  <Relationship Id="rId41" Type="http://schemas.openxmlformats.org/officeDocument/2006/relationships/slide" Target="slides/slide18.xml"/>
  <Relationship Id="rId42" Type="http://schemas.openxmlformats.org/officeDocument/2006/relationships/slide" Target="slides/slide1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CAFD2-6692-486F-A843-86F00658999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B4218-D4DB-448D-8929-A56739477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014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799" cy="499012"/>
          </a:xfrm>
          <a:prstGeom prst="rect">
            <a:avLst/>
          </a:prstGeom>
        </p:spPr>
        <p:txBody>
          <a:bodyPr vert="horz" lIns="96025" tIns="48013" rIns="96025" bIns="4801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799" cy="499012"/>
          </a:xfrm>
          <a:prstGeom prst="rect">
            <a:avLst/>
          </a:prstGeom>
        </p:spPr>
        <p:txBody>
          <a:bodyPr vert="horz" lIns="96025" tIns="48013" rIns="96025" bIns="48013" rtlCol="0"/>
          <a:lstStyle>
            <a:lvl1pPr algn="r">
              <a:defRPr sz="1300"/>
            </a:lvl1pPr>
          </a:lstStyle>
          <a:p>
            <a:fld id="{94029942-5610-4965-9E2D-AA1D8C55B4F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43013"/>
            <a:ext cx="48514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025" tIns="48013" rIns="96025" bIns="480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63"/>
            <a:ext cx="5486400" cy="3916114"/>
          </a:xfrm>
          <a:prstGeom prst="rect">
            <a:avLst/>
          </a:prstGeom>
        </p:spPr>
        <p:txBody>
          <a:bodyPr vert="horz" lIns="96025" tIns="48013" rIns="96025" bIns="4801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799" cy="499011"/>
          </a:xfrm>
          <a:prstGeom prst="rect">
            <a:avLst/>
          </a:prstGeom>
        </p:spPr>
        <p:txBody>
          <a:bodyPr vert="horz" lIns="96025" tIns="48013" rIns="96025" bIns="4801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799" cy="499011"/>
          </a:xfrm>
          <a:prstGeom prst="rect">
            <a:avLst/>
          </a:prstGeom>
        </p:spPr>
        <p:txBody>
          <a:bodyPr vert="horz" lIns="96025" tIns="48013" rIns="96025" bIns="48013" rtlCol="0" anchor="b"/>
          <a:lstStyle>
            <a:lvl1pPr algn="r">
              <a:defRPr sz="1300"/>
            </a:lvl1pPr>
          </a:lstStyle>
          <a:p>
            <a:fld id="{A33EF193-27A3-4447-B62D-88A5A9D40A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059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사업의 이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텍스트 개체 틀 43">
            <a:extLst>
              <a:ext uri="{FF2B5EF4-FFF2-40B4-BE49-F238E27FC236}">
                <a16:creationId xmlns:a16="http://schemas.microsoft.com/office/drawing/2014/main" id="{9367B1A9-FCDC-471C-A49C-4CC4C56259EA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2191349" cy="246221"/>
            <a:chOff x="696952" y="180388"/>
            <a:chExt cx="2530584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1751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Ⅰ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433764" y="230088"/>
              <a:ext cx="1793772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사업의 이해 및 추진 방향</a:t>
              </a:r>
              <a:endPara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/>
                <a:ea typeface="페이퍼로지 5 Medium"/>
                <a:cs typeface="+mn-cs"/>
              </a:endParaRP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0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17" userDrawn="1">
          <p15:clr>
            <a:srgbClr val="FBAE40"/>
          </p15:clr>
        </p15:guide>
        <p15:guide id="4" pos="6023" userDrawn="1">
          <p15:clr>
            <a:srgbClr val="FBAE40"/>
          </p15:clr>
        </p15:guide>
        <p15:guide id="5" orient="horz" pos="4065" userDrawn="1">
          <p15:clr>
            <a:srgbClr val="FBAE40"/>
          </p15:clr>
        </p15:guide>
        <p15:guide id="6" orient="horz" pos="989" userDrawn="1">
          <p15:clr>
            <a:srgbClr val="FBAE40"/>
          </p15:clr>
        </p15:guide>
        <p15:guide id="7" orient="horz" pos="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전략 및 방법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2215438" cy="246221"/>
            <a:chOff x="696952" y="180388"/>
            <a:chExt cx="2558403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1751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Ⅱ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461582" y="230088"/>
              <a:ext cx="1793773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 추진전략 및 방법론 </a:t>
              </a: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5B07A24D-5615-4FF7-9C39-020FF0C8331A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61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기술 및 기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1757293" cy="246221"/>
            <a:chOff x="696952" y="180388"/>
            <a:chExt cx="2029334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Ⅲ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515628" y="230088"/>
              <a:ext cx="1210658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단계별 수행방안</a:t>
              </a: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9C952404-F7F1-4CC6-B597-9ADC2C852BF9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18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사업관리방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1621350" cy="246221"/>
            <a:chOff x="696952" y="180388"/>
            <a:chExt cx="1872346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Ⅳ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475263" y="230088"/>
              <a:ext cx="1094035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 관리 방안</a:t>
              </a: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1B00380F-3C82-4478-B662-C4F7F2FE8436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69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사업지원방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289C972-1627-435E-977C-BA90593A716F}"/>
              </a:ext>
            </a:extLst>
          </p:cNvPr>
          <p:cNvGrpSpPr/>
          <p:nvPr userDrawn="1"/>
        </p:nvGrpSpPr>
        <p:grpSpPr>
          <a:xfrm>
            <a:off x="344488" y="227808"/>
            <a:ext cx="1621350" cy="246221"/>
            <a:chOff x="696952" y="180388"/>
            <a:chExt cx="1872346" cy="284408"/>
          </a:xfrm>
        </p:grpSpPr>
        <p:sp>
          <p:nvSpPr>
            <p:cNvPr id="61" name="텍스트 개체 틀 43">
              <a:extLst>
                <a:ext uri="{FF2B5EF4-FFF2-40B4-BE49-F238E27FC236}">
                  <a16:creationId xmlns:a16="http://schemas.microsoft.com/office/drawing/2014/main" id="{561B051F-2389-4212-A67D-7072D4340D7F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2" name="텍스트 개체 틀 43">
              <a:extLst>
                <a:ext uri="{FF2B5EF4-FFF2-40B4-BE49-F238E27FC236}">
                  <a16:creationId xmlns:a16="http://schemas.microsoft.com/office/drawing/2014/main" id="{51CC8790-2700-4056-9766-9B1E2A8B2885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Ⅴ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63" name="텍스트 개체 틀 43">
              <a:extLst>
                <a:ext uri="{FF2B5EF4-FFF2-40B4-BE49-F238E27FC236}">
                  <a16:creationId xmlns:a16="http://schemas.microsoft.com/office/drawing/2014/main" id="{4ADA5F42-8D0E-4467-A89B-6051BD103ED0}"/>
                </a:ext>
              </a:extLst>
            </p:cNvPr>
            <p:cNvSpPr txBox="1">
              <a:spLocks/>
            </p:cNvSpPr>
            <p:nvPr/>
          </p:nvSpPr>
          <p:spPr>
            <a:xfrm>
              <a:off x="1475263" y="230088"/>
              <a:ext cx="1094035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 지원 방안</a:t>
              </a:r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FE2101AF-4096-419C-814A-2C34B39C005A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556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마무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289C972-1627-435E-977C-BA90593A716F}"/>
              </a:ext>
            </a:extLst>
          </p:cNvPr>
          <p:cNvGrpSpPr/>
          <p:nvPr userDrawn="1"/>
        </p:nvGrpSpPr>
        <p:grpSpPr>
          <a:xfrm>
            <a:off x="344488" y="227808"/>
            <a:ext cx="1172924" cy="246221"/>
            <a:chOff x="696952" y="180388"/>
            <a:chExt cx="1354502" cy="284408"/>
          </a:xfrm>
        </p:grpSpPr>
        <p:sp>
          <p:nvSpPr>
            <p:cNvPr id="61" name="텍스트 개체 틀 43">
              <a:extLst>
                <a:ext uri="{FF2B5EF4-FFF2-40B4-BE49-F238E27FC236}">
                  <a16:creationId xmlns:a16="http://schemas.microsoft.com/office/drawing/2014/main" id="{561B051F-2389-4212-A67D-7072D4340D7F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2" name="텍스트 개체 틀 43">
              <a:extLst>
                <a:ext uri="{FF2B5EF4-FFF2-40B4-BE49-F238E27FC236}">
                  <a16:creationId xmlns:a16="http://schemas.microsoft.com/office/drawing/2014/main" id="{51CC8790-2700-4056-9766-9B1E2A8B2885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Ⅵ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63" name="텍스트 개체 틀 43">
              <a:extLst>
                <a:ext uri="{FF2B5EF4-FFF2-40B4-BE49-F238E27FC236}">
                  <a16:creationId xmlns:a16="http://schemas.microsoft.com/office/drawing/2014/main" id="{4ADA5F42-8D0E-4467-A89B-6051BD103ED0}"/>
                </a:ext>
              </a:extLst>
            </p:cNvPr>
            <p:cNvSpPr txBox="1">
              <a:spLocks/>
            </p:cNvSpPr>
            <p:nvPr/>
          </p:nvSpPr>
          <p:spPr>
            <a:xfrm>
              <a:off x="1501661" y="230088"/>
              <a:ext cx="549793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마무리</a:t>
              </a:r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DA5EC62E-2A56-4B6C-B8F4-CC75F9EB6DAB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078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페이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747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4872037" y="6564810"/>
            <a:ext cx="161927" cy="215444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pPr algn="ctr"/>
            <a:fld id="{99AD8D5B-4656-455A-B1DC-159D4210260C}" type="slidenum">
              <a:rPr lang="ko-KR" altLang="en-US" sz="80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pPr algn="ctr"/>
              <a:t>‹#›</a:t>
            </a:fld>
            <a:endParaRPr lang="ko-KR" altLang="en-US" sz="8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666636-15D5-4F35-B23E-498B55321977}"/>
              </a:ext>
            </a:extLst>
          </p:cNvPr>
          <p:cNvGrpSpPr/>
          <p:nvPr userDrawn="1"/>
        </p:nvGrpSpPr>
        <p:grpSpPr>
          <a:xfrm>
            <a:off x="-2165064" y="0"/>
            <a:ext cx="1942222" cy="4405957"/>
            <a:chOff x="-2165064" y="0"/>
            <a:chExt cx="1942222" cy="440595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308DE9A-36EB-4D38-9FE2-AE1FAAAE0E43}"/>
                </a:ext>
              </a:extLst>
            </p:cNvPr>
            <p:cNvSpPr/>
            <p:nvPr userDrawn="1"/>
          </p:nvSpPr>
          <p:spPr>
            <a:xfrm>
              <a:off x="-819742" y="636998"/>
              <a:ext cx="596900" cy="596900"/>
            </a:xfrm>
            <a:prstGeom prst="rect">
              <a:avLst/>
            </a:prstGeom>
            <a:solidFill>
              <a:srgbClr val="4A54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BC7C9D1-2256-4BB1-91C8-4E6D2B806FAC}"/>
                </a:ext>
              </a:extLst>
            </p:cNvPr>
            <p:cNvSpPr/>
            <p:nvPr userDrawn="1"/>
          </p:nvSpPr>
          <p:spPr>
            <a:xfrm>
              <a:off x="-819742" y="1267765"/>
              <a:ext cx="596900" cy="596900"/>
            </a:xfrm>
            <a:prstGeom prst="rect">
              <a:avLst/>
            </a:prstGeom>
            <a:solidFill>
              <a:srgbClr val="707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20A3DBB-D22C-46BD-B148-686ACA0C000F}"/>
                </a:ext>
              </a:extLst>
            </p:cNvPr>
            <p:cNvSpPr/>
            <p:nvPr userDrawn="1"/>
          </p:nvSpPr>
          <p:spPr>
            <a:xfrm>
              <a:off x="-819742" y="1898532"/>
              <a:ext cx="596900" cy="596900"/>
            </a:xfrm>
            <a:prstGeom prst="rect">
              <a:avLst/>
            </a:prstGeom>
            <a:solidFill>
              <a:srgbClr val="B6BE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930A8F7-5A54-4AA8-9A1E-AFFB7FA93D9C}"/>
                </a:ext>
              </a:extLst>
            </p:cNvPr>
            <p:cNvSpPr/>
            <p:nvPr userDrawn="1"/>
          </p:nvSpPr>
          <p:spPr>
            <a:xfrm>
              <a:off x="-819742" y="2529298"/>
              <a:ext cx="596900" cy="596900"/>
            </a:xfrm>
            <a:prstGeom prst="rect">
              <a:avLst/>
            </a:prstGeom>
            <a:solidFill>
              <a:srgbClr val="D0D5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D3BB74C-1039-4C86-8188-CF200B095A4B}"/>
                </a:ext>
              </a:extLst>
            </p:cNvPr>
            <p:cNvSpPr/>
            <p:nvPr userDrawn="1"/>
          </p:nvSpPr>
          <p:spPr>
            <a:xfrm>
              <a:off x="-819742" y="3157948"/>
              <a:ext cx="596900" cy="596900"/>
            </a:xfrm>
            <a:prstGeom prst="rect">
              <a:avLst/>
            </a:prstGeom>
            <a:solidFill>
              <a:srgbClr val="E2E6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F7B68A4-ED98-4173-B02A-478CEF2A8854}"/>
                </a:ext>
              </a:extLst>
            </p:cNvPr>
            <p:cNvSpPr/>
            <p:nvPr userDrawn="1"/>
          </p:nvSpPr>
          <p:spPr>
            <a:xfrm>
              <a:off x="-819742" y="3786598"/>
              <a:ext cx="596900" cy="596900"/>
            </a:xfrm>
            <a:prstGeom prst="rect">
              <a:avLst/>
            </a:prstGeom>
            <a:solidFill>
              <a:srgbClr val="F0F2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A350CD-8538-4735-814E-53E51374D860}"/>
                </a:ext>
              </a:extLst>
            </p:cNvPr>
            <p:cNvSpPr/>
            <p:nvPr userDrawn="1"/>
          </p:nvSpPr>
          <p:spPr>
            <a:xfrm>
              <a:off x="-1497456" y="1275626"/>
              <a:ext cx="596900" cy="596900"/>
            </a:xfrm>
            <a:prstGeom prst="rect">
              <a:avLst/>
            </a:prstGeom>
            <a:solidFill>
              <a:srgbClr val="0A81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1117D8C-0187-47E7-AF2E-D95C23760190}"/>
                </a:ext>
              </a:extLst>
            </p:cNvPr>
            <p:cNvSpPr/>
            <p:nvPr userDrawn="1"/>
          </p:nvSpPr>
          <p:spPr>
            <a:xfrm>
              <a:off x="-1497456" y="1906393"/>
              <a:ext cx="596900" cy="596900"/>
            </a:xfrm>
            <a:prstGeom prst="rect">
              <a:avLst/>
            </a:prstGeom>
            <a:solidFill>
              <a:srgbClr val="67B9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C31D1CB-525A-495F-90AF-72F16F8BE852}"/>
                </a:ext>
              </a:extLst>
            </p:cNvPr>
            <p:cNvSpPr/>
            <p:nvPr userDrawn="1"/>
          </p:nvSpPr>
          <p:spPr>
            <a:xfrm>
              <a:off x="-1497456" y="2537160"/>
              <a:ext cx="596900" cy="596900"/>
            </a:xfrm>
            <a:prstGeom prst="rect">
              <a:avLst/>
            </a:prstGeom>
            <a:solidFill>
              <a:srgbClr val="A6D7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EA10450-C8ED-404C-AC8F-82FCC023ABB1}"/>
                </a:ext>
              </a:extLst>
            </p:cNvPr>
            <p:cNvSpPr/>
            <p:nvPr userDrawn="1"/>
          </p:nvSpPr>
          <p:spPr>
            <a:xfrm>
              <a:off x="-1497456" y="3809057"/>
              <a:ext cx="596900" cy="596900"/>
            </a:xfrm>
            <a:prstGeom prst="rect">
              <a:avLst/>
            </a:prstGeom>
            <a:solidFill>
              <a:srgbClr val="E2F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8D94A4B-0E37-4049-93FC-81C1BFBA13A7}"/>
                </a:ext>
              </a:extLst>
            </p:cNvPr>
            <p:cNvSpPr/>
            <p:nvPr userDrawn="1"/>
          </p:nvSpPr>
          <p:spPr>
            <a:xfrm>
              <a:off x="-1498825" y="3167926"/>
              <a:ext cx="596900" cy="596900"/>
            </a:xfrm>
            <a:prstGeom prst="rect">
              <a:avLst/>
            </a:prstGeom>
            <a:solidFill>
              <a:srgbClr val="C5E0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1BC60FB-E033-4E77-A4BD-AEE44954F81A}"/>
                </a:ext>
              </a:extLst>
            </p:cNvPr>
            <p:cNvSpPr/>
            <p:nvPr userDrawn="1"/>
          </p:nvSpPr>
          <p:spPr>
            <a:xfrm>
              <a:off x="-1497456" y="636998"/>
              <a:ext cx="596900" cy="596900"/>
            </a:xfrm>
            <a:prstGeom prst="rect">
              <a:avLst/>
            </a:prstGeom>
            <a:solidFill>
              <a:srgbClr val="1465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1C252A8-CE1E-4EFE-854F-24C060E71845}"/>
                </a:ext>
              </a:extLst>
            </p:cNvPr>
            <p:cNvSpPr/>
            <p:nvPr userDrawn="1"/>
          </p:nvSpPr>
          <p:spPr>
            <a:xfrm>
              <a:off x="-1497456" y="0"/>
              <a:ext cx="596900" cy="596900"/>
            </a:xfrm>
            <a:prstGeom prst="rect">
              <a:avLst/>
            </a:prstGeom>
            <a:solidFill>
              <a:srgbClr val="0E4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9CFA8A3-617D-4A6C-AC26-A94B869DB82B}"/>
                </a:ext>
              </a:extLst>
            </p:cNvPr>
            <p:cNvSpPr/>
            <p:nvPr userDrawn="1"/>
          </p:nvSpPr>
          <p:spPr>
            <a:xfrm>
              <a:off x="-2165064" y="0"/>
              <a:ext cx="602278" cy="602278"/>
            </a:xfrm>
            <a:prstGeom prst="rect">
              <a:avLst/>
            </a:prstGeom>
            <a:solidFill>
              <a:srgbClr val="FC1D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2C22701-BCE9-43AB-BA53-5861D33686C1}"/>
                </a:ext>
              </a:extLst>
            </p:cNvPr>
            <p:cNvSpPr/>
            <p:nvPr userDrawn="1"/>
          </p:nvSpPr>
          <p:spPr>
            <a:xfrm>
              <a:off x="-2165064" y="636998"/>
              <a:ext cx="602278" cy="602278"/>
            </a:xfrm>
            <a:prstGeom prst="rect">
              <a:avLst/>
            </a:prstGeom>
            <a:solidFill>
              <a:srgbClr val="FEBE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DEE096E-214F-4F89-A858-7D2BFDBCB7E8}"/>
                </a:ext>
              </a:extLst>
            </p:cNvPr>
            <p:cNvSpPr/>
            <p:nvPr userDrawn="1"/>
          </p:nvSpPr>
          <p:spPr>
            <a:xfrm>
              <a:off x="-2165064" y="1906393"/>
              <a:ext cx="602278" cy="60227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086D6A3-233D-4D6D-A7CD-87E5DAC89C18}"/>
                </a:ext>
              </a:extLst>
            </p:cNvPr>
            <p:cNvSpPr/>
            <p:nvPr userDrawn="1"/>
          </p:nvSpPr>
          <p:spPr>
            <a:xfrm>
              <a:off x="-2165064" y="2537160"/>
              <a:ext cx="602278" cy="60227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5" name="Picture 3">
            <a:extLst>
              <a:ext uri="{FF2B5EF4-FFF2-40B4-BE49-F238E27FC236}">
                <a16:creationId xmlns:a16="http://schemas.microsoft.com/office/drawing/2014/main" id="{80EE6B5E-7609-4CD6-8209-377042C52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271" t="4571" r="4125" b="6530"/>
          <a:stretch/>
        </p:blipFill>
        <p:spPr>
          <a:xfrm>
            <a:off x="2381" y="6599733"/>
            <a:ext cx="792000" cy="2436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6580433-9BA4-49D1-8FEE-3C22EA6E3E6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611641" y="6665640"/>
            <a:ext cx="1294359" cy="20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7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741" r:id="rId2"/>
    <p:sldLayoutId id="2147483742" r:id="rId3"/>
    <p:sldLayoutId id="2147483744" r:id="rId4"/>
    <p:sldLayoutId id="2147483743" r:id="rId5"/>
    <p:sldLayoutId id="2147483745" r:id="rId6"/>
    <p:sldLayoutId id="2147483746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57762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6091CC"/>
        </a:buClr>
        <a:buSzPct val="70000"/>
        <a:buFont typeface="Wingdings 2" panose="05020102010507070707" pitchFamily="18" charset="2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⑤ GPU 자원 배분·통제 규칙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“목적 소명·맞춤 배분·오남용 통제”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➔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기반 GPU 자원 배분·통제 체계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자문의견별 대응방안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6793992" y="1883664"/>
            <a:ext cx="2788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2026. 9. 18. 착수보고회 자문의견 기준</a:t>
            </a:r>
            <a:endParaRPr lang="en-US" sz="750" dirty="0"/>
          </a:p>
        </p:txBody>
      </p:sp>
      <p:sp>
        <p:nvSpPr>
          <p:cNvPr id="1007" name="Text 5"/>
          <p:cNvSpPr txBox="1"/>
          <p:nvPr/>
        </p:nvSpPr>
        <p:spPr>
          <a:xfrm>
            <a:off x="329184" y="2157984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자문의견</a:t>
            </a:r>
            <a:endParaRPr lang="en-US" sz="850" dirty="0"/>
          </a:p>
        </p:txBody>
      </p:sp>
      <p:sp>
        <p:nvSpPr>
          <p:cNvPr id="1008" name="Text 6"/>
          <p:cNvSpPr txBox="1"/>
          <p:nvPr/>
        </p:nvSpPr>
        <p:spPr>
          <a:xfrm>
            <a:off x="4764024" y="2157984"/>
            <a:ext cx="4818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대응방안</a:t>
            </a:r>
            <a:endParaRPr lang="en-US" sz="850" dirty="0"/>
          </a:p>
        </p:txBody>
      </p:sp>
      <p:sp>
        <p:nvSpPr>
          <p:cNvPr id="1009" name="Shape 7"/>
          <p:cNvSpPr/>
          <p:nvPr/>
        </p:nvSpPr>
        <p:spPr>
          <a:xfrm>
            <a:off x="329184" y="2395728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0" name="Text 8"/>
          <p:cNvSpPr txBox="1"/>
          <p:nvPr/>
        </p:nvSpPr>
        <p:spPr>
          <a:xfrm>
            <a:off x="402336" y="2395728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 소명 기반 선정, 공공자원 오남용(코인 채굴 등) 감시·통제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11" name="Shape 9"/>
          <p:cNvSpPr/>
          <p:nvPr/>
        </p:nvSpPr>
        <p:spPr>
          <a:xfrm>
            <a:off x="4407408" y="2514600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2" name="Shape 10"/>
          <p:cNvSpPr/>
          <p:nvPr/>
        </p:nvSpPr>
        <p:spPr>
          <a:xfrm>
            <a:off x="4764024" y="2395728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3" name="Text 11"/>
          <p:cNvSpPr txBox="1"/>
          <p:nvPr/>
        </p:nvSpPr>
        <p:spPr>
          <a:xfrm>
            <a:off x="4855464" y="2395728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소명서 기반 선정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사용량 자동 계측·이상 탐지 + 단계별 제재</a:t>
            </a:r>
            <a:endParaRPr lang="en-US" sz="900" dirty="0"/>
          </a:p>
        </p:txBody>
      </p:sp>
      <p:sp>
        <p:nvSpPr>
          <p:cNvPr id="1014" name="Shape 12"/>
          <p:cNvSpPr/>
          <p:nvPr/>
        </p:nvSpPr>
        <p:spPr>
          <a:xfrm>
            <a:off x="329184" y="2871216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5" name="Text 13"/>
          <p:cNvSpPr txBox="1"/>
          <p:nvPr/>
        </p:nvSpPr>
        <p:spPr>
          <a:xfrm>
            <a:off x="402336" y="2871216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규모·역량별 맞춤 배분, 신청·보고 절차 간소화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16" name="Shape 14"/>
          <p:cNvSpPr/>
          <p:nvPr/>
        </p:nvSpPr>
        <p:spPr>
          <a:xfrm>
            <a:off x="4407408" y="2990088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7" name="Shape 15"/>
          <p:cNvSpPr/>
          <p:nvPr/>
        </p:nvSpPr>
        <p:spPr>
          <a:xfrm>
            <a:off x="4764024" y="2871216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4855464" y="2871216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유형 4종별 배분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결과보고를 플랫폼 계측 리포트로 대체</a:t>
            </a:r>
            <a:endParaRPr lang="en-US" sz="900" dirty="0"/>
          </a:p>
        </p:txBody>
      </p:sp>
      <p:sp>
        <p:nvSpPr>
          <p:cNvPr id="1019" name="Shape 17"/>
          <p:cNvSpPr/>
          <p:nvPr/>
        </p:nvSpPr>
        <p:spPr>
          <a:xfrm>
            <a:off x="329184" y="3346704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0" name="Text 18"/>
          <p:cNvSpPr txBox="1"/>
          <p:nvPr/>
        </p:nvSpPr>
        <p:spPr>
          <a:xfrm>
            <a:off x="402336" y="3346704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학습(GPU)·추론(NPU) 구분, 실증 후 서버가 묶이는 문제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21" name="Shape 19"/>
          <p:cNvSpPr/>
          <p:nvPr/>
        </p:nvSpPr>
        <p:spPr>
          <a:xfrm>
            <a:off x="4407408" y="3465576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2" name="Shape 20"/>
          <p:cNvSpPr/>
          <p:nvPr/>
        </p:nvSpPr>
        <p:spPr>
          <a:xfrm>
            <a:off x="4764024" y="3346704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3" name="Text 21"/>
          <p:cNvSpPr txBox="1"/>
          <p:nvPr/>
        </p:nvSpPr>
        <p:spPr>
          <a:xfrm>
            <a:off x="4855464" y="3346704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학습·추론·범용 자원 풀 분리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실증 종료 후 전환(이관) 경로 마련</a:t>
            </a:r>
            <a:endParaRPr lang="en-US" sz="900" dirty="0"/>
          </a:p>
        </p:txBody>
      </p:sp>
      <p:sp>
        <p:nvSpPr>
          <p:cNvPr id="1024" name="Shape 22"/>
          <p:cNvSpPr/>
          <p:nvPr/>
        </p:nvSpPr>
        <p:spPr>
          <a:xfrm>
            <a:off x="329184" y="3822192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402336" y="3822192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CPU로 처리 가능한 영역까지 고려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26" name="Shape 24"/>
          <p:cNvSpPr/>
          <p:nvPr/>
        </p:nvSpPr>
        <p:spPr>
          <a:xfrm>
            <a:off x="4407408" y="3941064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7" name="Shape 25"/>
          <p:cNvSpPr/>
          <p:nvPr/>
        </p:nvSpPr>
        <p:spPr>
          <a:xfrm>
            <a:off x="4764024" y="3822192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8" name="Text 26"/>
          <p:cNvSpPr txBox="1"/>
          <p:nvPr/>
        </p:nvSpPr>
        <p:spPr>
          <a:xfrm>
            <a:off x="4855464" y="3822192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유형별 CPU/GPU 적합도 분류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후 배분</a:t>
            </a:r>
            <a:endParaRPr lang="en-US" sz="900" dirty="0"/>
          </a:p>
        </p:txBody>
      </p:sp>
      <p:sp>
        <p:nvSpPr>
          <p:cNvPr id="1029" name="Shape 27"/>
          <p:cNvSpPr/>
          <p:nvPr/>
        </p:nvSpPr>
        <p:spPr>
          <a:xfrm>
            <a:off x="192024" y="43891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30" name="Shape 28"/>
          <p:cNvSpPr/>
          <p:nvPr/>
        </p:nvSpPr>
        <p:spPr>
          <a:xfrm>
            <a:off x="329184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1" name="Text 29"/>
          <p:cNvSpPr txBox="1"/>
          <p:nvPr/>
        </p:nvSpPr>
        <p:spPr>
          <a:xfrm>
            <a:off x="438912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대응 원칙</a:t>
            </a:r>
            <a:endParaRPr lang="en-US" sz="1050" dirty="0"/>
          </a:p>
        </p:txBody>
      </p:sp>
      <p:sp>
        <p:nvSpPr>
          <p:cNvPr id="1032" name="Shape 30"/>
          <p:cNvSpPr/>
          <p:nvPr/>
        </p:nvSpPr>
        <p:spPr>
          <a:xfrm>
            <a:off x="356616" y="481888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3" name="Text 31"/>
          <p:cNvSpPr txBox="1"/>
          <p:nvPr/>
        </p:nvSpPr>
        <p:spPr>
          <a:xfrm>
            <a:off x="356616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1034" name="Text 32"/>
          <p:cNvSpPr txBox="1"/>
          <p:nvPr/>
        </p:nvSpPr>
        <p:spPr>
          <a:xfrm>
            <a:off x="667512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선정은 “목적 소명 + 사업화 가능성”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신청하면 다 주는 방식이 아닌 소명·심사 기반 선정</a:t>
            </a:r>
            <a:endParaRPr lang="en-US" sz="850" dirty="0"/>
          </a:p>
        </p:txBody>
      </p:sp>
      <p:sp>
        <p:nvSpPr>
          <p:cNvPr id="1035" name="Shape 33"/>
          <p:cNvSpPr/>
          <p:nvPr/>
        </p:nvSpPr>
        <p:spPr>
          <a:xfrm>
            <a:off x="356616" y="519607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6" name="Text 34"/>
          <p:cNvSpPr txBox="1"/>
          <p:nvPr/>
        </p:nvSpPr>
        <p:spPr>
          <a:xfrm>
            <a:off x="356616" y="5196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037" name="Text 35"/>
          <p:cNvSpPr txBox="1"/>
          <p:nvPr/>
        </p:nvSpPr>
        <p:spPr>
          <a:xfrm>
            <a:off x="667512" y="515950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배분은 “기업 유형 × 작업 유형”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장의 기준표로 누구에게 무엇을 얼마나 줄지 제시</a:t>
            </a:r>
            <a:endParaRPr lang="en-US" sz="850" dirty="0"/>
          </a:p>
        </p:txBody>
      </p:sp>
      <p:sp>
        <p:nvSpPr>
          <p:cNvPr id="1038" name="Shape 36"/>
          <p:cNvSpPr/>
          <p:nvPr/>
        </p:nvSpPr>
        <p:spPr>
          <a:xfrm>
            <a:off x="356616" y="557326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9" name="Text 37"/>
          <p:cNvSpPr txBox="1"/>
          <p:nvPr/>
        </p:nvSpPr>
        <p:spPr>
          <a:xfrm>
            <a:off x="356616" y="55732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1040" name="Text 38"/>
          <p:cNvSpPr txBox="1"/>
          <p:nvPr/>
        </p:nvSpPr>
        <p:spPr>
          <a:xfrm>
            <a:off x="667512" y="553669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감시는 플랫폼 자동 계측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점검 대신 계측값으로 보고·과금·용량 산정</a:t>
            </a:r>
            <a:endParaRPr lang="en-US" sz="850" dirty="0"/>
          </a:p>
        </p:txBody>
      </p:sp>
      <p:sp>
        <p:nvSpPr>
          <p:cNvPr id="1041" name="Shape 39"/>
          <p:cNvSpPr/>
          <p:nvPr/>
        </p:nvSpPr>
        <p:spPr>
          <a:xfrm>
            <a:off x="356616" y="595045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42" name="Text 40"/>
          <p:cNvSpPr txBox="1"/>
          <p:nvPr/>
        </p:nvSpPr>
        <p:spPr>
          <a:xfrm>
            <a:off x="356616" y="5950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1043" name="Text 41"/>
          <p:cNvSpPr txBox="1"/>
          <p:nvPr/>
        </p:nvSpPr>
        <p:spPr>
          <a:xfrm>
            <a:off x="667512" y="591388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종료 후 전환 경로 확보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유예 → 유료 전환 또는 외부 이관으로 자원 묶임 방지</a:t>
            </a:r>
            <a:endParaRPr lang="en-US" sz="850" dirty="0"/>
          </a:p>
        </p:txBody>
      </p:sp>
      <p:sp>
        <p:nvSpPr>
          <p:cNvPr id="1044" name="Shape 42"/>
          <p:cNvSpPr/>
          <p:nvPr/>
        </p:nvSpPr>
        <p:spPr>
          <a:xfrm>
            <a:off x="4507992" y="43891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5" name="Shape 43"/>
          <p:cNvSpPr/>
          <p:nvPr/>
        </p:nvSpPr>
        <p:spPr>
          <a:xfrm>
            <a:off x="4645152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6" name="Text 44"/>
          <p:cNvSpPr txBox="1"/>
          <p:nvPr/>
        </p:nvSpPr>
        <p:spPr>
          <a:xfrm>
            <a:off x="4754880" y="4480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작업 유형별 자원 풀 분리(안)</a:t>
            </a:r>
            <a:endParaRPr lang="en-US" sz="1050" dirty="0"/>
          </a:p>
        </p:txBody>
      </p:sp>
      <p:sp>
        <p:nvSpPr>
          <p:cNvPr id="1047" name="Text 45"/>
          <p:cNvSpPr txBox="1"/>
          <p:nvPr/>
        </p:nvSpPr>
        <p:spPr>
          <a:xfrm>
            <a:off x="4645152" y="4800600"/>
            <a:ext cx="158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· 통계 · 전통 ML</a:t>
            </a:r>
            <a:endParaRPr lang="en-US" sz="830" dirty="0"/>
          </a:p>
        </p:txBody>
      </p:sp>
      <p:sp>
        <p:nvSpPr>
          <p:cNvPr id="1048" name="Shape 46"/>
          <p:cNvSpPr/>
          <p:nvPr/>
        </p:nvSpPr>
        <p:spPr>
          <a:xfrm>
            <a:off x="5346192" y="5093208"/>
            <a:ext cx="182880" cy="18288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49" name="Shape 47"/>
          <p:cNvSpPr/>
          <p:nvPr/>
        </p:nvSpPr>
        <p:spPr>
          <a:xfrm>
            <a:off x="4645152" y="5312664"/>
            <a:ext cx="158496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050" name="Text 48"/>
          <p:cNvSpPr txBox="1"/>
          <p:nvPr/>
        </p:nvSpPr>
        <p:spPr>
          <a:xfrm>
            <a:off x="4645152" y="5312664"/>
            <a:ext cx="158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풀 (CPU)</a:t>
            </a:r>
            <a:endParaRPr lang="en-US" sz="900" dirty="0"/>
          </a:p>
        </p:txBody>
      </p:sp>
      <p:sp>
        <p:nvSpPr>
          <p:cNvPr id="1051" name="Text 49"/>
          <p:cNvSpPr txBox="1"/>
          <p:nvPr/>
        </p:nvSpPr>
        <p:spPr>
          <a:xfrm>
            <a:off x="4645152" y="5733288"/>
            <a:ext cx="158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신청 대상에서 제외, 상시 제공</a:t>
            </a:r>
            <a:endParaRPr lang="en-US" sz="780" dirty="0"/>
          </a:p>
        </p:txBody>
      </p:sp>
      <p:sp>
        <p:nvSpPr>
          <p:cNvPr id="1052" name="Text 50"/>
          <p:cNvSpPr txBox="1"/>
          <p:nvPr/>
        </p:nvSpPr>
        <p:spPr>
          <a:xfrm>
            <a:off x="6321552" y="4800600"/>
            <a:ext cx="158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 · 추가학습</a:t>
            </a:r>
            <a:endParaRPr lang="en-US" sz="830" dirty="0"/>
          </a:p>
        </p:txBody>
      </p:sp>
      <p:sp>
        <p:nvSpPr>
          <p:cNvPr id="1053" name="Shape 51"/>
          <p:cNvSpPr/>
          <p:nvPr/>
        </p:nvSpPr>
        <p:spPr>
          <a:xfrm>
            <a:off x="7022592" y="5093208"/>
            <a:ext cx="182880" cy="18288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54" name="Shape 52"/>
          <p:cNvSpPr/>
          <p:nvPr/>
        </p:nvSpPr>
        <p:spPr>
          <a:xfrm>
            <a:off x="6321552" y="5312664"/>
            <a:ext cx="1584960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55" name="Text 53"/>
          <p:cNvSpPr txBox="1"/>
          <p:nvPr/>
        </p:nvSpPr>
        <p:spPr>
          <a:xfrm>
            <a:off x="6321552" y="5312664"/>
            <a:ext cx="158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풀 (GPU)</a:t>
            </a:r>
            <a:endParaRPr lang="en-US" sz="900" dirty="0"/>
          </a:p>
        </p:txBody>
      </p:sp>
      <p:sp>
        <p:nvSpPr>
          <p:cNvPr id="1056" name="Text 54"/>
          <p:cNvSpPr txBox="1"/>
          <p:nvPr/>
        </p:nvSpPr>
        <p:spPr>
          <a:xfrm>
            <a:off x="6321552" y="5733288"/>
            <a:ext cx="158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예약·대기열, GPU-hour 한도 부여</a:t>
            </a:r>
            <a:endParaRPr lang="en-US" sz="780" dirty="0"/>
          </a:p>
        </p:txBody>
      </p:sp>
      <p:sp>
        <p:nvSpPr>
          <p:cNvPr id="1057" name="Text 55"/>
          <p:cNvSpPr txBox="1"/>
          <p:nvPr/>
        </p:nvSpPr>
        <p:spPr>
          <a:xfrm>
            <a:off x="7997952" y="4800600"/>
            <a:ext cx="158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실증 · 서비스 검증</a:t>
            </a:r>
            <a:endParaRPr lang="en-US" sz="830" dirty="0"/>
          </a:p>
        </p:txBody>
      </p:sp>
      <p:sp>
        <p:nvSpPr>
          <p:cNvPr id="1058" name="Shape 56"/>
          <p:cNvSpPr/>
          <p:nvPr/>
        </p:nvSpPr>
        <p:spPr>
          <a:xfrm>
            <a:off x="8698992" y="5093208"/>
            <a:ext cx="182880" cy="18288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59" name="Shape 57"/>
          <p:cNvSpPr/>
          <p:nvPr/>
        </p:nvSpPr>
        <p:spPr>
          <a:xfrm>
            <a:off x="7997952" y="5312664"/>
            <a:ext cx="158496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60" name="Text 58"/>
          <p:cNvSpPr txBox="1"/>
          <p:nvPr/>
        </p:nvSpPr>
        <p:spPr>
          <a:xfrm>
            <a:off x="7997952" y="5312664"/>
            <a:ext cx="158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풀 (GPU 분할 · NPU)</a:t>
            </a:r>
            <a:endParaRPr lang="en-US" sz="900" dirty="0"/>
          </a:p>
        </p:txBody>
      </p:sp>
      <p:sp>
        <p:nvSpPr>
          <p:cNvPr id="1061" name="Text 59"/>
          <p:cNvSpPr txBox="1"/>
          <p:nvPr/>
        </p:nvSpPr>
        <p:spPr>
          <a:xfrm>
            <a:off x="7997952" y="5733288"/>
            <a:ext cx="158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목표 기준 인스턴스 배정</a:t>
            </a:r>
            <a:endParaRPr lang="en-US" sz="780" dirty="0"/>
          </a:p>
        </p:txBody>
      </p:sp>
      <p:sp>
        <p:nvSpPr>
          <p:cNvPr id="1062" name="Text 60"/>
          <p:cNvSpPr txBox="1"/>
          <p:nvPr/>
        </p:nvSpPr>
        <p:spPr>
          <a:xfrm>
            <a:off x="4645152" y="6053328"/>
            <a:ext cx="4937760" cy="237744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대형 GPU가 전처리·소규모 추론에 묶이지 않도록 분리 운영, 동일 계측값을 결과보고·과금·용량 산정에 활용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⑤ GPU 자원 배분·통제 규칙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“공정하고 효율적인 이용 관리”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➔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배분·통제 운영 프로세스(안)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자원 배분·통제 5단계 운영 프로세스</a:t>
            </a:r>
            <a:endParaRPr lang="en-US" sz="1050" dirty="0"/>
          </a:p>
        </p:txBody>
      </p:sp>
      <p:sp>
        <p:nvSpPr>
          <p:cNvPr id="1006" name="Shape 4"/>
          <p:cNvSpPr/>
          <p:nvPr/>
        </p:nvSpPr>
        <p:spPr>
          <a:xfrm>
            <a:off x="329184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07" name="Text 5"/>
          <p:cNvSpPr txBox="1"/>
          <p:nvPr/>
        </p:nvSpPr>
        <p:spPr>
          <a:xfrm>
            <a:off x="393192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750" dirty="0"/>
          </a:p>
        </p:txBody>
      </p:sp>
      <p:sp>
        <p:nvSpPr>
          <p:cNvPr id="1008" name="Text 6"/>
          <p:cNvSpPr txBox="1"/>
          <p:nvPr/>
        </p:nvSpPr>
        <p:spPr>
          <a:xfrm>
            <a:off x="393192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신청·목적 소명</a:t>
            </a:r>
            <a:endParaRPr lang="en-US" sz="900" dirty="0"/>
          </a:p>
        </p:txBody>
      </p:sp>
      <p:sp>
        <p:nvSpPr>
          <p:cNvPr id="1009" name="Text 7"/>
          <p:cNvSpPr txBox="1"/>
          <p:nvPr/>
        </p:nvSpPr>
        <p:spPr>
          <a:xfrm>
            <a:off x="393192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1쪽 소명서(문제·모델·데이터·산출물), 간이심사 상시 운영</a:t>
            </a:r>
            <a:endParaRPr lang="en-US" sz="750" dirty="0"/>
          </a:p>
        </p:txBody>
      </p:sp>
      <p:sp>
        <p:nvSpPr>
          <p:cNvPr id="1010" name="Text 8"/>
          <p:cNvSpPr txBox="1"/>
          <p:nvPr/>
        </p:nvSpPr>
        <p:spPr>
          <a:xfrm>
            <a:off x="2083003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11" name="Shape 9"/>
          <p:cNvSpPr/>
          <p:nvPr/>
        </p:nvSpPr>
        <p:spPr>
          <a:xfrm>
            <a:off x="2201875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2265883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750" dirty="0"/>
          </a:p>
        </p:txBody>
      </p:sp>
      <p:sp>
        <p:nvSpPr>
          <p:cNvPr id="1013" name="Text 11"/>
          <p:cNvSpPr txBox="1"/>
          <p:nvPr/>
        </p:nvSpPr>
        <p:spPr>
          <a:xfrm>
            <a:off x="2265883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심사</a:t>
            </a:r>
            <a:endParaRPr lang="en-US" sz="900" dirty="0"/>
          </a:p>
        </p:txBody>
      </p:sp>
      <p:sp>
        <p:nvSpPr>
          <p:cNvPr id="1014" name="Text 12"/>
          <p:cNvSpPr txBox="1"/>
          <p:nvPr/>
        </p:nvSpPr>
        <p:spPr>
          <a:xfrm>
            <a:off x="2265883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기준표 평가, 요청 자원 적정성 검증</a:t>
            </a:r>
            <a:endParaRPr lang="en-US" sz="750" dirty="0"/>
          </a:p>
        </p:txBody>
      </p:sp>
      <p:sp>
        <p:nvSpPr>
          <p:cNvPr id="1015" name="Text 13"/>
          <p:cNvSpPr txBox="1"/>
          <p:nvPr/>
        </p:nvSpPr>
        <p:spPr>
          <a:xfrm>
            <a:off x="3955694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16" name="Shape 14"/>
          <p:cNvSpPr/>
          <p:nvPr/>
        </p:nvSpPr>
        <p:spPr>
          <a:xfrm>
            <a:off x="4074566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17" name="Text 15"/>
          <p:cNvSpPr txBox="1"/>
          <p:nvPr/>
        </p:nvSpPr>
        <p:spPr>
          <a:xfrm>
            <a:off x="4138574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750" dirty="0"/>
          </a:p>
        </p:txBody>
      </p:sp>
      <p:sp>
        <p:nvSpPr>
          <p:cNvPr id="1018" name="Text 16"/>
          <p:cNvSpPr txBox="1"/>
          <p:nvPr/>
        </p:nvSpPr>
        <p:spPr>
          <a:xfrm>
            <a:off x="4138574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배분</a:t>
            </a:r>
            <a:endParaRPr lang="en-US" sz="900" dirty="0"/>
          </a:p>
        </p:txBody>
      </p:sp>
      <p:sp>
        <p:nvSpPr>
          <p:cNvPr id="1019" name="Text 17"/>
          <p:cNvSpPr txBox="1"/>
          <p:nvPr/>
        </p:nvSpPr>
        <p:spPr>
          <a:xfrm>
            <a:off x="4138574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유형 × 작업 유형에 따라 자원 풀·기간 배정</a:t>
            </a:r>
            <a:endParaRPr lang="en-US" sz="750" dirty="0"/>
          </a:p>
        </p:txBody>
      </p:sp>
      <p:sp>
        <p:nvSpPr>
          <p:cNvPr id="1020" name="Text 18"/>
          <p:cNvSpPr txBox="1"/>
          <p:nvPr/>
        </p:nvSpPr>
        <p:spPr>
          <a:xfrm>
            <a:off x="5828386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21" name="Shape 19"/>
          <p:cNvSpPr/>
          <p:nvPr/>
        </p:nvSpPr>
        <p:spPr>
          <a:xfrm>
            <a:off x="5947258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22" name="Text 20"/>
          <p:cNvSpPr txBox="1"/>
          <p:nvPr/>
        </p:nvSpPr>
        <p:spPr>
          <a:xfrm>
            <a:off x="6011266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750" dirty="0"/>
          </a:p>
        </p:txBody>
      </p:sp>
      <p:sp>
        <p:nvSpPr>
          <p:cNvPr id="1023" name="Text 21"/>
          <p:cNvSpPr txBox="1"/>
          <p:nvPr/>
        </p:nvSpPr>
        <p:spPr>
          <a:xfrm>
            <a:off x="6011266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이용·자동 계측</a:t>
            </a:r>
            <a:endParaRPr lang="en-US" sz="900" dirty="0"/>
          </a:p>
        </p:txBody>
      </p:sp>
      <p:sp>
        <p:nvSpPr>
          <p:cNvPr id="1024" name="Text 22"/>
          <p:cNvSpPr txBox="1"/>
          <p:nvPr/>
        </p:nvSpPr>
        <p:spPr>
          <a:xfrm>
            <a:off x="6011266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사용률·GPU-hour 계측, 중간 점검은 리포트로 대체</a:t>
            </a:r>
            <a:endParaRPr lang="en-US" sz="750" dirty="0"/>
          </a:p>
        </p:txBody>
      </p:sp>
      <p:sp>
        <p:nvSpPr>
          <p:cNvPr id="1025" name="Text 23"/>
          <p:cNvSpPr txBox="1"/>
          <p:nvPr/>
        </p:nvSpPr>
        <p:spPr>
          <a:xfrm>
            <a:off x="7701077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26" name="Shape 24"/>
          <p:cNvSpPr/>
          <p:nvPr/>
        </p:nvSpPr>
        <p:spPr>
          <a:xfrm>
            <a:off x="7819949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27" name="Text 25"/>
          <p:cNvSpPr txBox="1"/>
          <p:nvPr/>
        </p:nvSpPr>
        <p:spPr>
          <a:xfrm>
            <a:off x="7883957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750" dirty="0"/>
          </a:p>
        </p:txBody>
      </p:sp>
      <p:sp>
        <p:nvSpPr>
          <p:cNvPr id="1028" name="Text 26"/>
          <p:cNvSpPr txBox="1"/>
          <p:nvPr/>
        </p:nvSpPr>
        <p:spPr>
          <a:xfrm>
            <a:off x="7883957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종료·전환</a:t>
            </a:r>
            <a:endParaRPr lang="en-US" sz="900" dirty="0"/>
          </a:p>
        </p:txBody>
      </p:sp>
      <p:sp>
        <p:nvSpPr>
          <p:cNvPr id="1029" name="Text 27"/>
          <p:cNvSpPr txBox="1"/>
          <p:nvPr/>
        </p:nvSpPr>
        <p:spPr>
          <a:xfrm>
            <a:off x="7883957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반납·데이터 삭제 확인, 유예 후 유료 전환·이관</a:t>
            </a:r>
            <a:endParaRPr lang="en-US" sz="750" dirty="0"/>
          </a:p>
        </p:txBody>
      </p:sp>
      <p:sp>
        <p:nvSpPr>
          <p:cNvPr id="1030" name="Shape 28"/>
          <p:cNvSpPr/>
          <p:nvPr/>
        </p:nvSpPr>
        <p:spPr>
          <a:xfrm>
            <a:off x="192024" y="297180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31" name="Shape 29"/>
          <p:cNvSpPr/>
          <p:nvPr/>
        </p:nvSpPr>
        <p:spPr>
          <a:xfrm>
            <a:off x="329184" y="309981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2" name="Text 30"/>
          <p:cNvSpPr txBox="1"/>
          <p:nvPr/>
        </p:nvSpPr>
        <p:spPr>
          <a:xfrm>
            <a:off x="438912" y="3054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이용기업 선정 기준(안)</a:t>
            </a:r>
            <a:endParaRPr lang="en-US" sz="1050" dirty="0"/>
          </a:p>
        </p:txBody>
      </p:sp>
      <p:sp>
        <p:nvSpPr>
          <p:cNvPr id="1033" name="Text 31"/>
          <p:cNvSpPr txBox="1"/>
          <p:nvPr/>
        </p:nvSpPr>
        <p:spPr>
          <a:xfrm>
            <a:off x="329184" y="3337560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사업화 가능성</a:t>
            </a:r>
            <a:endParaRPr lang="en-US" sz="830" dirty="0"/>
          </a:p>
        </p:txBody>
      </p:sp>
      <p:sp>
        <p:nvSpPr>
          <p:cNvPr id="1034" name="Shape 32"/>
          <p:cNvSpPr/>
          <p:nvPr/>
        </p:nvSpPr>
        <p:spPr>
          <a:xfrm>
            <a:off x="1453896" y="3401568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35" name="Shape 33"/>
          <p:cNvSpPr/>
          <p:nvPr/>
        </p:nvSpPr>
        <p:spPr>
          <a:xfrm>
            <a:off x="1453896" y="3401568"/>
            <a:ext cx="9144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36" name="Text 34"/>
          <p:cNvSpPr txBox="1"/>
          <p:nvPr/>
        </p:nvSpPr>
        <p:spPr>
          <a:xfrm>
            <a:off x="2386584" y="33375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830" dirty="0"/>
          </a:p>
        </p:txBody>
      </p:sp>
      <p:sp>
        <p:nvSpPr>
          <p:cNvPr id="1037" name="Text 35"/>
          <p:cNvSpPr txBox="1"/>
          <p:nvPr/>
        </p:nvSpPr>
        <p:spPr>
          <a:xfrm>
            <a:off x="2624328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수요처 존재, 매출·현장 도입 연결</a:t>
            </a:r>
            <a:endParaRPr lang="en-US" sz="750" dirty="0"/>
          </a:p>
        </p:txBody>
      </p:sp>
      <p:sp>
        <p:nvSpPr>
          <p:cNvPr id="1038" name="Text 36"/>
          <p:cNvSpPr txBox="1"/>
          <p:nvPr/>
        </p:nvSpPr>
        <p:spPr>
          <a:xfrm>
            <a:off x="329184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 명확성</a:t>
            </a:r>
            <a:endParaRPr lang="en-US" sz="830" dirty="0"/>
          </a:p>
        </p:txBody>
      </p:sp>
      <p:sp>
        <p:nvSpPr>
          <p:cNvPr id="1039" name="Shape 37"/>
          <p:cNvSpPr/>
          <p:nvPr/>
        </p:nvSpPr>
        <p:spPr>
          <a:xfrm>
            <a:off x="1453896" y="3657600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0" name="Shape 38"/>
          <p:cNvSpPr/>
          <p:nvPr/>
        </p:nvSpPr>
        <p:spPr>
          <a:xfrm>
            <a:off x="1453896" y="3657600"/>
            <a:ext cx="7620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41" name="Text 39"/>
          <p:cNvSpPr txBox="1"/>
          <p:nvPr/>
        </p:nvSpPr>
        <p:spPr>
          <a:xfrm>
            <a:off x="2386584" y="3593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830" dirty="0"/>
          </a:p>
        </p:txBody>
      </p:sp>
      <p:sp>
        <p:nvSpPr>
          <p:cNvPr id="1042" name="Text 40"/>
          <p:cNvSpPr txBox="1"/>
          <p:nvPr/>
        </p:nvSpPr>
        <p:spPr>
          <a:xfrm>
            <a:off x="2624328" y="35935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문제·모델·데이터·산출물</a:t>
            </a:r>
            <a:endParaRPr lang="en-US" sz="750" dirty="0"/>
          </a:p>
        </p:txBody>
      </p:sp>
      <p:sp>
        <p:nvSpPr>
          <p:cNvPr id="1043" name="Text 41"/>
          <p:cNvSpPr txBox="1"/>
          <p:nvPr/>
        </p:nvSpPr>
        <p:spPr>
          <a:xfrm>
            <a:off x="329184" y="3849624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준비도</a:t>
            </a:r>
            <a:endParaRPr lang="en-US" sz="830" dirty="0"/>
          </a:p>
        </p:txBody>
      </p:sp>
      <p:sp>
        <p:nvSpPr>
          <p:cNvPr id="1044" name="Shape 42"/>
          <p:cNvSpPr/>
          <p:nvPr/>
        </p:nvSpPr>
        <p:spPr>
          <a:xfrm>
            <a:off x="1453896" y="3913632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5" name="Shape 43"/>
          <p:cNvSpPr/>
          <p:nvPr/>
        </p:nvSpPr>
        <p:spPr>
          <a:xfrm>
            <a:off x="1453896" y="3913632"/>
            <a:ext cx="6096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46" name="Text 44"/>
          <p:cNvSpPr txBox="1"/>
          <p:nvPr/>
        </p:nvSpPr>
        <p:spPr>
          <a:xfrm>
            <a:off x="2386584" y="38496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830" dirty="0"/>
          </a:p>
        </p:txBody>
      </p:sp>
      <p:sp>
        <p:nvSpPr>
          <p:cNvPr id="1047" name="Text 45"/>
          <p:cNvSpPr txBox="1"/>
          <p:nvPr/>
        </p:nvSpPr>
        <p:spPr>
          <a:xfrm>
            <a:off x="2624328" y="38496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보유·반입 데이터 양과 권한</a:t>
            </a:r>
            <a:endParaRPr lang="en-US" sz="750" dirty="0"/>
          </a:p>
        </p:txBody>
      </p:sp>
      <p:sp>
        <p:nvSpPr>
          <p:cNvPr id="1048" name="Text 46"/>
          <p:cNvSpPr txBox="1"/>
          <p:nvPr/>
        </p:nvSpPr>
        <p:spPr>
          <a:xfrm>
            <a:off x="329184" y="4105656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해양·항만 연관성</a:t>
            </a:r>
            <a:endParaRPr lang="en-US" sz="830" dirty="0"/>
          </a:p>
        </p:txBody>
      </p:sp>
      <p:sp>
        <p:nvSpPr>
          <p:cNvPr id="1049" name="Shape 47"/>
          <p:cNvSpPr/>
          <p:nvPr/>
        </p:nvSpPr>
        <p:spPr>
          <a:xfrm>
            <a:off x="1453896" y="4169664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0" name="Shape 48"/>
          <p:cNvSpPr/>
          <p:nvPr/>
        </p:nvSpPr>
        <p:spPr>
          <a:xfrm>
            <a:off x="1453896" y="4169664"/>
            <a:ext cx="4572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51" name="Text 49"/>
          <p:cNvSpPr txBox="1"/>
          <p:nvPr/>
        </p:nvSpPr>
        <p:spPr>
          <a:xfrm>
            <a:off x="2386584" y="410565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830" dirty="0"/>
          </a:p>
        </p:txBody>
      </p:sp>
      <p:sp>
        <p:nvSpPr>
          <p:cNvPr id="1052" name="Text 50"/>
          <p:cNvSpPr txBox="1"/>
          <p:nvPr/>
        </p:nvSpPr>
        <p:spPr>
          <a:xfrm>
            <a:off x="2624328" y="41056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해양·항만·수산 업무 적용</a:t>
            </a:r>
            <a:endParaRPr lang="en-US" sz="750" dirty="0"/>
          </a:p>
        </p:txBody>
      </p:sp>
      <p:sp>
        <p:nvSpPr>
          <p:cNvPr id="1053" name="Text 51"/>
          <p:cNvSpPr txBox="1"/>
          <p:nvPr/>
        </p:nvSpPr>
        <p:spPr>
          <a:xfrm>
            <a:off x="329184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자원 적정성</a:t>
            </a:r>
            <a:endParaRPr lang="en-US" sz="830" dirty="0"/>
          </a:p>
        </p:txBody>
      </p:sp>
      <p:sp>
        <p:nvSpPr>
          <p:cNvPr id="1054" name="Shape 52"/>
          <p:cNvSpPr/>
          <p:nvPr/>
        </p:nvSpPr>
        <p:spPr>
          <a:xfrm>
            <a:off x="1453896" y="4425696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5" name="Shape 53"/>
          <p:cNvSpPr/>
          <p:nvPr/>
        </p:nvSpPr>
        <p:spPr>
          <a:xfrm>
            <a:off x="1453896" y="4425696"/>
            <a:ext cx="3048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56" name="Text 54"/>
          <p:cNvSpPr txBox="1"/>
          <p:nvPr/>
        </p:nvSpPr>
        <p:spPr>
          <a:xfrm>
            <a:off x="2386584" y="4361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30" dirty="0"/>
          </a:p>
        </p:txBody>
      </p:sp>
      <p:sp>
        <p:nvSpPr>
          <p:cNvPr id="1057" name="Text 55"/>
          <p:cNvSpPr txBox="1"/>
          <p:nvPr/>
        </p:nvSpPr>
        <p:spPr>
          <a:xfrm>
            <a:off x="2624328" y="43616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요청량과 작업 규모의 정합성</a:t>
            </a:r>
            <a:endParaRPr lang="en-US" sz="750" dirty="0"/>
          </a:p>
        </p:txBody>
      </p:sp>
      <p:sp>
        <p:nvSpPr>
          <p:cNvPr id="1058" name="Text 56"/>
          <p:cNvSpPr txBox="1"/>
          <p:nvPr/>
        </p:nvSpPr>
        <p:spPr>
          <a:xfrm>
            <a:off x="329184" y="4645152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가점: 결과 환류 동의, 대표과제 참여 / 소규모 탐색형은 상시 간이심사</a:t>
            </a:r>
            <a:endParaRPr lang="en-US" sz="730" dirty="0"/>
          </a:p>
        </p:txBody>
      </p:sp>
      <p:sp>
        <p:nvSpPr>
          <p:cNvPr id="1059" name="Shape 57"/>
          <p:cNvSpPr/>
          <p:nvPr/>
        </p:nvSpPr>
        <p:spPr>
          <a:xfrm>
            <a:off x="3959352" y="2971800"/>
            <a:ext cx="5760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60" name="Shape 58"/>
          <p:cNvSpPr/>
          <p:nvPr/>
        </p:nvSpPr>
        <p:spPr>
          <a:xfrm>
            <a:off x="4096512" y="309981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61" name="Text 59"/>
          <p:cNvSpPr txBox="1"/>
          <p:nvPr/>
        </p:nvSpPr>
        <p:spPr>
          <a:xfrm>
            <a:off x="4206240" y="3054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기업 유형별 배분 방식(안)</a:t>
            </a:r>
            <a:endParaRPr lang="en-US" sz="1050" dirty="0"/>
          </a:p>
        </p:txBody>
      </p:sp>
      <p:graphicFrame>
        <p:nvGraphicFramePr>
          <p:cNvPr id="10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96512" y="3355848"/>
          <a:ext cx="54864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  <a:gridCol w="141732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 기업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 배분 자원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기간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탐색형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보유·AI 경험 적은 기업, DX 초기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CPU + GPU 분할 소량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1~3개월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 개발형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스타트업·중소기업 모델 적용·경량 추가학습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GPU 예약(학습 풀)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3~6개월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 실증형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대표과제, 수요–공급 매칭 과제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전용 노드 + 추론 풀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6~12개월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 서비스 검증형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추론 응답시간(SLO) 검증 필요 기업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추론 풀(GPU 분할·NPU)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~3개월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63" name="Shape 60"/>
          <p:cNvSpPr/>
          <p:nvPr/>
        </p:nvSpPr>
        <p:spPr>
          <a:xfrm>
            <a:off x="192024" y="4937760"/>
            <a:ext cx="9528048" cy="1463040"/>
          </a:xfrm>
          <a:prstGeom prst="roundRect">
            <a:avLst>
              <a:gd name="adj" fmla="val 375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64" name="Shape 61"/>
          <p:cNvSpPr/>
          <p:nvPr/>
        </p:nvSpPr>
        <p:spPr>
          <a:xfrm>
            <a:off x="329184" y="506577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65" name="Text 62"/>
          <p:cNvSpPr txBox="1"/>
          <p:nvPr/>
        </p:nvSpPr>
        <p:spPr>
          <a:xfrm>
            <a:off x="438912" y="5020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이용 감시·오남용 통제 및 상용서비스 전환(안)</a:t>
            </a:r>
            <a:endParaRPr lang="en-US" sz="1050" dirty="0"/>
          </a:p>
        </p:txBody>
      </p:sp>
      <p:sp>
        <p:nvSpPr>
          <p:cNvPr id="1066" name="Shape 63"/>
          <p:cNvSpPr/>
          <p:nvPr/>
        </p:nvSpPr>
        <p:spPr>
          <a:xfrm>
            <a:off x="329184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67" name="Text 64"/>
          <p:cNvSpPr txBox="1"/>
          <p:nvPr/>
        </p:nvSpPr>
        <p:spPr>
          <a:xfrm>
            <a:off x="393192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[자동 계측]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사용률·GPU-hour·프로세스 자동 계측, 장기 유휴 자원 회수 후 대기 기업에 재배정</a:t>
            </a:r>
            <a:endParaRPr lang="en-US" sz="820" dirty="0"/>
          </a:p>
        </p:txBody>
      </p:sp>
      <p:sp>
        <p:nvSpPr>
          <p:cNvPr id="1068" name="Shape 65"/>
          <p:cNvSpPr/>
          <p:nvPr/>
        </p:nvSpPr>
        <p:spPr>
          <a:xfrm>
            <a:off x="2665476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69" name="Text 66"/>
          <p:cNvSpPr txBox="1"/>
          <p:nvPr/>
        </p:nvSpPr>
        <p:spPr>
          <a:xfrm>
            <a:off x="2729484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[접근 통제]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컨테이너 이미지 목록, 외부 접속은 허용목록 프록시 경유, 채굴 등 목적 외 패턴 탐지</a:t>
            </a:r>
            <a:endParaRPr lang="en-US" sz="820" dirty="0"/>
          </a:p>
        </p:txBody>
      </p:sp>
      <p:sp>
        <p:nvSpPr>
          <p:cNvPr id="1070" name="Shape 67"/>
          <p:cNvSpPr/>
          <p:nvPr/>
        </p:nvSpPr>
        <p:spPr>
          <a:xfrm>
            <a:off x="5001768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71" name="Text 68"/>
          <p:cNvSpPr txBox="1"/>
          <p:nvPr/>
        </p:nvSpPr>
        <p:spPr>
          <a:xfrm>
            <a:off x="5065776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[단계별 제재]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→ 일시 중지 → 이용 종료 및 일정 기간 참여 제한</a:t>
            </a:r>
            <a:endParaRPr lang="en-US" sz="820" dirty="0"/>
          </a:p>
        </p:txBody>
      </p:sp>
      <p:sp>
        <p:nvSpPr>
          <p:cNvPr id="1072" name="Shape 69"/>
          <p:cNvSpPr/>
          <p:nvPr/>
        </p:nvSpPr>
        <p:spPr>
          <a:xfrm>
            <a:off x="7338060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73" name="Text 70"/>
          <p:cNvSpPr txBox="1"/>
          <p:nvPr/>
        </p:nvSpPr>
        <p:spPr>
          <a:xfrm>
            <a:off x="7402068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[상용 전환]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유예 후 ① 유료 이용 전환 ② 외부 이관(민간 클라우드·국가 지원사업·인근 NPU 인프라)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⑤ GPU 자원 배분·통제 규칙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자원 배분·통제 추진 프레임워크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GPU 자원 배분·통제 규칙 수립 프레임워크(안) 및 핵심 검토사항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5788152" y="1883664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수요조사(과제 3) · 대표과제 PoC(과제 2) 결과와 연계하여 수치 확정</a:t>
            </a:r>
            <a:endParaRPr lang="en-US" sz="750" dirty="0"/>
          </a:p>
        </p:txBody>
      </p:sp>
      <p:sp>
        <p:nvSpPr>
          <p:cNvPr id="1007" name="Shape 5"/>
          <p:cNvSpPr/>
          <p:nvPr/>
        </p:nvSpPr>
        <p:spPr>
          <a:xfrm>
            <a:off x="329184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8" name="Shape 6"/>
          <p:cNvSpPr/>
          <p:nvPr/>
        </p:nvSpPr>
        <p:spPr>
          <a:xfrm>
            <a:off x="329184" y="2157984"/>
            <a:ext cx="3023616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9" name="Text 7"/>
          <p:cNvSpPr txBox="1"/>
          <p:nvPr/>
        </p:nvSpPr>
        <p:spPr>
          <a:xfrm>
            <a:off x="402336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 : 기준 설계</a:t>
            </a:r>
            <a:endParaRPr lang="en-US" sz="950" dirty="0"/>
          </a:p>
        </p:txBody>
      </p:sp>
      <p:sp>
        <p:nvSpPr>
          <p:cNvPr id="1010" name="Shape 8"/>
          <p:cNvSpPr/>
          <p:nvPr/>
        </p:nvSpPr>
        <p:spPr>
          <a:xfrm>
            <a:off x="402336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402336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 반영 ➔ 기업 유형 분류 ➔ 선정 기준(안)</a:t>
            </a:r>
            <a:endParaRPr lang="en-US" sz="850" dirty="0"/>
          </a:p>
        </p:txBody>
      </p:sp>
      <p:sp>
        <p:nvSpPr>
          <p:cNvPr id="1012" name="Text 10"/>
          <p:cNvSpPr txBox="1"/>
          <p:nvPr/>
        </p:nvSpPr>
        <p:spPr>
          <a:xfrm>
            <a:off x="402336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13" name="Text 11"/>
          <p:cNvSpPr txBox="1"/>
          <p:nvPr/>
        </p:nvSpPr>
        <p:spPr>
          <a:xfrm>
            <a:off x="402336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 실태: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이용 방식·불편·학습/추론 구분 문항 반영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 비교: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GPU 지원사업 선정·운영 규정 비교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기준표 초안: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항목·비중, 유형별 배분표 작성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3444240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15" name="Shape 13"/>
          <p:cNvSpPr/>
          <p:nvPr/>
        </p:nvSpPr>
        <p:spPr>
          <a:xfrm>
            <a:off x="3444240" y="2157984"/>
            <a:ext cx="3023616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16" name="Text 14"/>
          <p:cNvSpPr txBox="1"/>
          <p:nvPr/>
        </p:nvSpPr>
        <p:spPr>
          <a:xfrm>
            <a:off x="3517392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02 : PoC 계측·검증</a:t>
            </a:r>
            <a:endParaRPr lang="en-US" sz="950" dirty="0"/>
          </a:p>
        </p:txBody>
      </p:sp>
      <p:sp>
        <p:nvSpPr>
          <p:cNvPr id="1017" name="Shape 15"/>
          <p:cNvSpPr/>
          <p:nvPr/>
        </p:nvSpPr>
        <p:spPr>
          <a:xfrm>
            <a:off x="3517392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3517392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실행 ➔ CPU·GPU·NPU 계측 ➔ 수치 보정</a:t>
            </a:r>
            <a:endParaRPr lang="en-US" sz="850" dirty="0"/>
          </a:p>
        </p:txBody>
      </p:sp>
      <p:sp>
        <p:nvSpPr>
          <p:cNvPr id="1019" name="Text 17"/>
          <p:cNvSpPr txBox="1"/>
          <p:nvPr/>
        </p:nvSpPr>
        <p:spPr>
          <a:xfrm>
            <a:off x="3517392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0" name="Text 18"/>
          <p:cNvSpPr txBox="1"/>
          <p:nvPr/>
        </p:nvSpPr>
        <p:spPr>
          <a:xfrm>
            <a:off x="3517392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사용량 계측: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대표과제별 GPU-hour·메모리·동시 부하 측정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배분표 보정: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자원량·기간 수치 보정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검증: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계측·이상 탐지·유휴 회수 규칙 시험 적용</a:t>
            </a:r>
            <a:endParaRPr lang="en-US" sz="830" dirty="0"/>
          </a:p>
        </p:txBody>
      </p:sp>
      <p:sp>
        <p:nvSpPr>
          <p:cNvPr id="1021" name="Shape 19"/>
          <p:cNvSpPr/>
          <p:nvPr/>
        </p:nvSpPr>
        <p:spPr>
          <a:xfrm>
            <a:off x="6559296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2" name="Shape 20"/>
          <p:cNvSpPr/>
          <p:nvPr/>
        </p:nvSpPr>
        <p:spPr>
          <a:xfrm>
            <a:off x="6559296" y="2157984"/>
            <a:ext cx="302361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23" name="Text 21"/>
          <p:cNvSpPr txBox="1"/>
          <p:nvPr/>
        </p:nvSpPr>
        <p:spPr>
          <a:xfrm>
            <a:off x="6632448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 : 규정화·용량 산정</a:t>
            </a:r>
            <a:endParaRPr lang="en-US" sz="950" dirty="0"/>
          </a:p>
        </p:txBody>
      </p:sp>
      <p:sp>
        <p:nvSpPr>
          <p:cNvPr id="1024" name="Shape 22"/>
          <p:cNvSpPr/>
          <p:nvPr/>
        </p:nvSpPr>
        <p:spPr>
          <a:xfrm>
            <a:off x="6632448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6632448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규칙 ➔ 감시·통제 방안 ➔ 용량 근거</a:t>
            </a:r>
            <a:endParaRPr lang="en-US" sz="850" dirty="0"/>
          </a:p>
        </p:txBody>
      </p:sp>
      <p:sp>
        <p:nvSpPr>
          <p:cNvPr id="1026" name="Text 24"/>
          <p:cNvSpPr txBox="1"/>
          <p:nvPr/>
        </p:nvSpPr>
        <p:spPr>
          <a:xfrm>
            <a:off x="6632448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7" name="Text 25"/>
          <p:cNvSpPr txBox="1"/>
          <p:nvPr/>
        </p:nvSpPr>
        <p:spPr>
          <a:xfrm>
            <a:off x="6632448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규칙: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기간·연장·회수·제재·종료 규칙 확정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방안: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유예·유료 전환·외부 이관 절차 정리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용량 산정: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CPU·GPU·NPU 구성과 용량 산정 근거 제시</a:t>
            </a:r>
            <a:endParaRPr lang="en-US" sz="830" dirty="0"/>
          </a:p>
        </p:txBody>
      </p:sp>
      <p:sp>
        <p:nvSpPr>
          <p:cNvPr id="1028" name="Shape 26"/>
          <p:cNvSpPr/>
          <p:nvPr/>
        </p:nvSpPr>
        <p:spPr>
          <a:xfrm>
            <a:off x="192024" y="3813048"/>
            <a:ext cx="9528048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3941064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3개월 단계별 추진 일정 계획 (WBS &amp; 마일스톤)</a:t>
            </a:r>
            <a:endParaRPr lang="en-US" sz="1050" dirty="0"/>
          </a:p>
        </p:txBody>
      </p:sp>
      <p:graphicFrame>
        <p:nvGraphicFramePr>
          <p:cNvPr id="10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4187952"/>
          <a:ext cx="9235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49040"/>
                <a:gridCol w="2057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추진 단계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추진 내용 (검토 활동)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단계별 마일스톤 (산출물)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1개월차 (M1)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 설계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수요조사 문항 반영, 국내 GPU 지원사업 운영 규정 비교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선정 기준·유형별 배분표 초안 작성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[M1] 자원 배분 기준(안) 초안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선정 기준표·유형별 배분표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2개월차 (M2)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계측·검증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 PoC에서 CPU·GPU·NPU 사용량 계측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배분 수치 보정, 감시·통제 규칙 시험 적용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[M2] 자원 사용량 분석 결과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계측 리포트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3개월차 (M3)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규정화·산정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이용 기간·연장·회수·제재 규칙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상용 전환 절차, 자원 구성·용량 산정 근거 정리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[M3] 중간보고 결과물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배분 기준안·감시·통제 방안·용량 근거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2" name="Text 29"/>
          <p:cNvSpPr txBox="1"/>
          <p:nvPr/>
        </p:nvSpPr>
        <p:spPr>
          <a:xfrm>
            <a:off x="54041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830" dirty="0"/>
          </a:p>
        </p:txBody>
      </p:sp>
      <p:sp>
        <p:nvSpPr>
          <p:cNvPr id="1033" name="Text 30"/>
          <p:cNvSpPr txBox="1"/>
          <p:nvPr/>
        </p:nvSpPr>
        <p:spPr>
          <a:xfrm>
            <a:off x="60899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</a:t>
            </a:r>
            <a:endParaRPr lang="en-US" sz="830" dirty="0"/>
          </a:p>
        </p:txBody>
      </p:sp>
      <p:sp>
        <p:nvSpPr>
          <p:cNvPr id="1034" name="Text 31"/>
          <p:cNvSpPr txBox="1"/>
          <p:nvPr/>
        </p:nvSpPr>
        <p:spPr>
          <a:xfrm>
            <a:off x="67757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</a:t>
            </a:r>
            <a:endParaRPr lang="en-US" sz="830" dirty="0"/>
          </a:p>
        </p:txBody>
      </p:sp>
      <p:sp>
        <p:nvSpPr>
          <p:cNvPr id="1035" name="Shape 32"/>
          <p:cNvSpPr/>
          <p:nvPr/>
        </p:nvSpPr>
        <p:spPr>
          <a:xfrm>
            <a:off x="5458968" y="4654296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36" name="Text 33"/>
          <p:cNvSpPr txBox="1"/>
          <p:nvPr/>
        </p:nvSpPr>
        <p:spPr>
          <a:xfrm>
            <a:off x="5458968" y="46542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설계</a:t>
            </a:r>
            <a:endParaRPr lang="en-US" sz="700" dirty="0"/>
          </a:p>
        </p:txBody>
      </p:sp>
      <p:sp>
        <p:nvSpPr>
          <p:cNvPr id="1037" name="Shape 34"/>
          <p:cNvSpPr/>
          <p:nvPr/>
        </p:nvSpPr>
        <p:spPr>
          <a:xfrm>
            <a:off x="6144768" y="5276088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6144768" y="5276088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계측</a:t>
            </a:r>
            <a:endParaRPr lang="en-US" sz="700" dirty="0"/>
          </a:p>
        </p:txBody>
      </p:sp>
      <p:sp>
        <p:nvSpPr>
          <p:cNvPr id="1039" name="Shape 36"/>
          <p:cNvSpPr/>
          <p:nvPr/>
        </p:nvSpPr>
        <p:spPr>
          <a:xfrm>
            <a:off x="6830568" y="5897880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6830568" y="58978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중간보고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⑧ 파운데이션 모델 활용 구조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“업무에서 출발, 모델은 레고처럼 교체”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➔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중심 모델 교체형 활용 구조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자문의견별 대응방안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6793992" y="1883664"/>
            <a:ext cx="2788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2026. 9. 18. 착수보고회 자문의견 기준</a:t>
            </a:r>
            <a:endParaRPr lang="en-US" sz="750" dirty="0"/>
          </a:p>
        </p:txBody>
      </p:sp>
      <p:sp>
        <p:nvSpPr>
          <p:cNvPr id="1007" name="Text 5"/>
          <p:cNvSpPr txBox="1"/>
          <p:nvPr/>
        </p:nvSpPr>
        <p:spPr>
          <a:xfrm>
            <a:off x="329184" y="2157984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자문의견</a:t>
            </a:r>
            <a:endParaRPr lang="en-US" sz="850" dirty="0"/>
          </a:p>
        </p:txBody>
      </p:sp>
      <p:sp>
        <p:nvSpPr>
          <p:cNvPr id="1008" name="Text 6"/>
          <p:cNvSpPr txBox="1"/>
          <p:nvPr/>
        </p:nvSpPr>
        <p:spPr>
          <a:xfrm>
            <a:off x="4764024" y="2157984"/>
            <a:ext cx="4818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대응방안</a:t>
            </a:r>
            <a:endParaRPr lang="en-US" sz="850" dirty="0"/>
          </a:p>
        </p:txBody>
      </p:sp>
      <p:sp>
        <p:nvSpPr>
          <p:cNvPr id="1009" name="Shape 7"/>
          <p:cNvSpPr/>
          <p:nvPr/>
        </p:nvSpPr>
        <p:spPr>
          <a:xfrm>
            <a:off x="329184" y="2395728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0" name="Text 8"/>
          <p:cNvSpPr txBox="1"/>
          <p:nvPr/>
        </p:nvSpPr>
        <p:spPr>
          <a:xfrm>
            <a:off x="402336" y="2395728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수집→모델 개발이 아닌, 업무별 필요 모델에서 출발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11" name="Shape 9"/>
          <p:cNvSpPr/>
          <p:nvPr/>
        </p:nvSpPr>
        <p:spPr>
          <a:xfrm>
            <a:off x="4407408" y="2514600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2" name="Shape 10"/>
          <p:cNvSpPr/>
          <p:nvPr/>
        </p:nvSpPr>
        <p:spPr>
          <a:xfrm>
            <a:off x="4764024" y="2395728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3" name="Text 11"/>
          <p:cNvSpPr txBox="1"/>
          <p:nvPr/>
        </p:nvSpPr>
        <p:spPr>
          <a:xfrm>
            <a:off x="4855464" y="2395728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“업무 → 모델 → 서비스” 지도 우선 작성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(해양·항만 업무영역별)</a:t>
            </a:r>
            <a:endParaRPr lang="en-US" sz="900" dirty="0"/>
          </a:p>
        </p:txBody>
      </p:sp>
      <p:sp>
        <p:nvSpPr>
          <p:cNvPr id="1014" name="Shape 12"/>
          <p:cNvSpPr/>
          <p:nvPr/>
        </p:nvSpPr>
        <p:spPr>
          <a:xfrm>
            <a:off x="329184" y="2871216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5" name="Text 13"/>
          <p:cNvSpPr txBox="1"/>
          <p:nvPr/>
        </p:nvSpPr>
        <p:spPr>
          <a:xfrm>
            <a:off x="402336" y="2871216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레고처럼 갈아 끼우는 구조, 센터는 R&amp;D 센터가 아님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16" name="Shape 14"/>
          <p:cNvSpPr/>
          <p:nvPr/>
        </p:nvSpPr>
        <p:spPr>
          <a:xfrm>
            <a:off x="4407408" y="2990088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7" name="Shape 15"/>
          <p:cNvSpPr/>
          <p:nvPr/>
        </p:nvSpPr>
        <p:spPr>
          <a:xfrm>
            <a:off x="4764024" y="2871216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4855464" y="2871216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인터페이스 기반 교체형 구조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신규 모델 개발은 범위에서 제외</a:t>
            </a:r>
            <a:endParaRPr lang="en-US" sz="900" dirty="0"/>
          </a:p>
        </p:txBody>
      </p:sp>
      <p:sp>
        <p:nvSpPr>
          <p:cNvPr id="1019" name="Shape 17"/>
          <p:cNvSpPr/>
          <p:nvPr/>
        </p:nvSpPr>
        <p:spPr>
          <a:xfrm>
            <a:off x="329184" y="3346704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0" name="Text 18"/>
          <p:cNvSpPr txBox="1"/>
          <p:nvPr/>
        </p:nvSpPr>
        <p:spPr>
          <a:xfrm>
            <a:off x="402336" y="3346704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독자 AI 파운데이션 모델(12월 선정)·산업별 경량화 동향 반영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21" name="Shape 19"/>
          <p:cNvSpPr/>
          <p:nvPr/>
        </p:nvSpPr>
        <p:spPr>
          <a:xfrm>
            <a:off x="4407408" y="3465576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2" name="Shape 20"/>
          <p:cNvSpPr/>
          <p:nvPr/>
        </p:nvSpPr>
        <p:spPr>
          <a:xfrm>
            <a:off x="4764024" y="3346704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3" name="Text 21"/>
          <p:cNvSpPr txBox="1"/>
          <p:nvPr/>
        </p:nvSpPr>
        <p:spPr>
          <a:xfrm>
            <a:off x="4855464" y="3346704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모델을 우선 후보로 편입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기관별 수요조사 자료 확보·반영</a:t>
            </a:r>
            <a:endParaRPr lang="en-US" sz="900" dirty="0"/>
          </a:p>
        </p:txBody>
      </p:sp>
      <p:sp>
        <p:nvSpPr>
          <p:cNvPr id="1024" name="Shape 22"/>
          <p:cNvSpPr/>
          <p:nvPr/>
        </p:nvSpPr>
        <p:spPr>
          <a:xfrm>
            <a:off x="329184" y="3822192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402336" y="3822192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 기업은 영상·음성·LLM·VLM 기초 모델이 먼저 필요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26" name="Shape 24"/>
          <p:cNvSpPr/>
          <p:nvPr/>
        </p:nvSpPr>
        <p:spPr>
          <a:xfrm>
            <a:off x="4407408" y="3941064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7" name="Shape 25"/>
          <p:cNvSpPr/>
          <p:nvPr/>
        </p:nvSpPr>
        <p:spPr>
          <a:xfrm>
            <a:off x="4764024" y="3822192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8" name="Text 26"/>
          <p:cNvSpPr txBox="1"/>
          <p:nvPr/>
        </p:nvSpPr>
        <p:spPr>
          <a:xfrm>
            <a:off x="4855464" y="3822192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 기업용 “기초 모델 세트”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사전 탑재</a:t>
            </a:r>
            <a:endParaRPr lang="en-US" sz="900" dirty="0"/>
          </a:p>
        </p:txBody>
      </p:sp>
      <p:sp>
        <p:nvSpPr>
          <p:cNvPr id="1029" name="Shape 27"/>
          <p:cNvSpPr/>
          <p:nvPr/>
        </p:nvSpPr>
        <p:spPr>
          <a:xfrm>
            <a:off x="192024" y="43891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30" name="Shape 28"/>
          <p:cNvSpPr/>
          <p:nvPr/>
        </p:nvSpPr>
        <p:spPr>
          <a:xfrm>
            <a:off x="329184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1" name="Text 29"/>
          <p:cNvSpPr txBox="1"/>
          <p:nvPr/>
        </p:nvSpPr>
        <p:spPr>
          <a:xfrm>
            <a:off x="438912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대응 원칙</a:t>
            </a:r>
            <a:endParaRPr lang="en-US" sz="1050" dirty="0"/>
          </a:p>
        </p:txBody>
      </p:sp>
      <p:sp>
        <p:nvSpPr>
          <p:cNvPr id="1032" name="Shape 30"/>
          <p:cNvSpPr/>
          <p:nvPr/>
        </p:nvSpPr>
        <p:spPr>
          <a:xfrm>
            <a:off x="356616" y="481888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3" name="Text 31"/>
          <p:cNvSpPr txBox="1"/>
          <p:nvPr/>
        </p:nvSpPr>
        <p:spPr>
          <a:xfrm>
            <a:off x="356616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1034" name="Text 32"/>
          <p:cNvSpPr txBox="1"/>
          <p:nvPr/>
        </p:nvSpPr>
        <p:spPr>
          <a:xfrm>
            <a:off x="667512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업무에서 출발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목록이 아니라 업무·해결 문제에서 필요한 모델을 역으로 도출</a:t>
            </a:r>
            <a:endParaRPr lang="en-US" sz="850" dirty="0"/>
          </a:p>
        </p:txBody>
      </p:sp>
      <p:sp>
        <p:nvSpPr>
          <p:cNvPr id="1035" name="Shape 33"/>
          <p:cNvSpPr/>
          <p:nvPr/>
        </p:nvSpPr>
        <p:spPr>
          <a:xfrm>
            <a:off x="356616" y="519607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6" name="Text 34"/>
          <p:cNvSpPr txBox="1"/>
          <p:nvPr/>
        </p:nvSpPr>
        <p:spPr>
          <a:xfrm>
            <a:off x="356616" y="5196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037" name="Text 35"/>
          <p:cNvSpPr txBox="1"/>
          <p:nvPr/>
        </p:nvSpPr>
        <p:spPr>
          <a:xfrm>
            <a:off x="667512" y="515950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개발하지 않고 확보·조합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국가·공개·상용 모델을 카탈로그로 관리, 필요한 만큼만 추가학습</a:t>
            </a:r>
            <a:endParaRPr lang="en-US" sz="850" dirty="0"/>
          </a:p>
        </p:txBody>
      </p:sp>
      <p:sp>
        <p:nvSpPr>
          <p:cNvPr id="1038" name="Shape 36"/>
          <p:cNvSpPr/>
          <p:nvPr/>
        </p:nvSpPr>
        <p:spPr>
          <a:xfrm>
            <a:off x="356616" y="557326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9" name="Text 37"/>
          <p:cNvSpPr txBox="1"/>
          <p:nvPr/>
        </p:nvSpPr>
        <p:spPr>
          <a:xfrm>
            <a:off x="356616" y="55732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1040" name="Text 38"/>
          <p:cNvSpPr txBox="1"/>
          <p:nvPr/>
        </p:nvSpPr>
        <p:spPr>
          <a:xfrm>
            <a:off x="667512" y="553669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갈아 끼우는 구조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바뀌어도 서비스가 바뀌지 않도록 인터페이스·평가 표준화</a:t>
            </a:r>
            <a:endParaRPr lang="en-US" sz="850" dirty="0"/>
          </a:p>
        </p:txBody>
      </p:sp>
      <p:sp>
        <p:nvSpPr>
          <p:cNvPr id="1041" name="Shape 39"/>
          <p:cNvSpPr/>
          <p:nvPr/>
        </p:nvSpPr>
        <p:spPr>
          <a:xfrm>
            <a:off x="356616" y="595045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42" name="Text 40"/>
          <p:cNvSpPr txBox="1"/>
          <p:nvPr/>
        </p:nvSpPr>
        <p:spPr>
          <a:xfrm>
            <a:off x="356616" y="5950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1043" name="Text 41"/>
          <p:cNvSpPr txBox="1"/>
          <p:nvPr/>
        </p:nvSpPr>
        <p:spPr>
          <a:xfrm>
            <a:off x="667512" y="591388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수준별 제공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초기는 기초 모델 세트부터, 역량 기업은 특화·추가학습까지</a:t>
            </a:r>
            <a:endParaRPr lang="en-US" sz="850" dirty="0"/>
          </a:p>
        </p:txBody>
      </p:sp>
      <p:sp>
        <p:nvSpPr>
          <p:cNvPr id="1044" name="Shape 42"/>
          <p:cNvSpPr/>
          <p:nvPr/>
        </p:nvSpPr>
        <p:spPr>
          <a:xfrm>
            <a:off x="4507992" y="43891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5" name="Shape 43"/>
          <p:cNvSpPr/>
          <p:nvPr/>
        </p:nvSpPr>
        <p:spPr>
          <a:xfrm>
            <a:off x="4645152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6" name="Text 44"/>
          <p:cNvSpPr txBox="1"/>
          <p:nvPr/>
        </p:nvSpPr>
        <p:spPr>
          <a:xfrm>
            <a:off x="4754880" y="4480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모델 확보 계층(안)</a:t>
            </a:r>
            <a:endParaRPr lang="en-US" sz="1050" dirty="0"/>
          </a:p>
        </p:txBody>
      </p:sp>
      <p:sp>
        <p:nvSpPr>
          <p:cNvPr id="1047" name="Shape 45"/>
          <p:cNvSpPr/>
          <p:nvPr/>
        </p:nvSpPr>
        <p:spPr>
          <a:xfrm>
            <a:off x="4645152" y="480060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8" name="Text 46"/>
          <p:cNvSpPr txBox="1"/>
          <p:nvPr/>
        </p:nvSpPr>
        <p:spPr>
          <a:xfrm>
            <a:off x="4645152" y="4800600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 기업 과제 적용</a:t>
            </a:r>
            <a:endParaRPr lang="en-US" sz="860" dirty="0"/>
          </a:p>
        </p:txBody>
      </p:sp>
      <p:sp>
        <p:nvSpPr>
          <p:cNvPr id="1049" name="Shape 47"/>
          <p:cNvSpPr/>
          <p:nvPr/>
        </p:nvSpPr>
        <p:spPr>
          <a:xfrm>
            <a:off x="6117336" y="4800600"/>
            <a:ext cx="3465576" cy="329184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50" name="Text 48"/>
          <p:cNvSpPr txBox="1"/>
          <p:nvPr/>
        </p:nvSpPr>
        <p:spPr>
          <a:xfrm>
            <a:off x="6153912" y="4800600"/>
            <a:ext cx="33924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데이터로 추가학습한 어댑터(LoRA 등) · RAG 지식베이스</a:t>
            </a:r>
            <a:endParaRPr lang="en-US" sz="7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기업 소유, 종료 시 반출·삭제</a:t>
            </a:r>
            <a:endParaRPr lang="en-US" sz="780" dirty="0"/>
          </a:p>
        </p:txBody>
      </p:sp>
      <p:sp>
        <p:nvSpPr>
          <p:cNvPr id="1051" name="Shape 49"/>
          <p:cNvSpPr/>
          <p:nvPr/>
        </p:nvSpPr>
        <p:spPr>
          <a:xfrm>
            <a:off x="4645152" y="51846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52" name="Text 50"/>
          <p:cNvSpPr txBox="1"/>
          <p:nvPr/>
        </p:nvSpPr>
        <p:spPr>
          <a:xfrm>
            <a:off x="4645152" y="5184648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해양 도메인 모델</a:t>
            </a:r>
            <a:endParaRPr lang="en-US" sz="860" dirty="0"/>
          </a:p>
        </p:txBody>
      </p:sp>
      <p:sp>
        <p:nvSpPr>
          <p:cNvPr id="1053" name="Shape 51"/>
          <p:cNvSpPr/>
          <p:nvPr/>
        </p:nvSpPr>
        <p:spPr>
          <a:xfrm>
            <a:off x="6117336" y="5184648"/>
            <a:ext cx="3465576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54" name="Text 52"/>
          <p:cNvSpPr txBox="1"/>
          <p:nvPr/>
        </p:nvSpPr>
        <p:spPr>
          <a:xfrm>
            <a:off x="6153912" y="5184648"/>
            <a:ext cx="33924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산업별 경량화 모델 · 해양 특화 공개 모델</a:t>
            </a:r>
            <a:endParaRPr lang="en-US" sz="7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해양 평가 세트로 비교·추천</a:t>
            </a:r>
            <a:endParaRPr lang="en-US" sz="780" dirty="0"/>
          </a:p>
        </p:txBody>
      </p:sp>
      <p:sp>
        <p:nvSpPr>
          <p:cNvPr id="1055" name="Shape 53"/>
          <p:cNvSpPr/>
          <p:nvPr/>
        </p:nvSpPr>
        <p:spPr>
          <a:xfrm>
            <a:off x="4645152" y="5568696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56" name="Text 54"/>
          <p:cNvSpPr txBox="1"/>
          <p:nvPr/>
        </p:nvSpPr>
        <p:spPr>
          <a:xfrm>
            <a:off x="4645152" y="5568696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범용 기반 모델</a:t>
            </a:r>
            <a:endParaRPr lang="en-US" sz="860" dirty="0"/>
          </a:p>
        </p:txBody>
      </p:sp>
      <p:sp>
        <p:nvSpPr>
          <p:cNvPr id="1057" name="Shape 55"/>
          <p:cNvSpPr/>
          <p:nvPr/>
        </p:nvSpPr>
        <p:spPr>
          <a:xfrm>
            <a:off x="6117336" y="5568696"/>
            <a:ext cx="3465576" cy="329184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58" name="Text 56"/>
          <p:cNvSpPr txBox="1"/>
          <p:nvPr/>
        </p:nvSpPr>
        <p:spPr>
          <a:xfrm>
            <a:off x="6153912" y="5568696"/>
            <a:ext cx="33924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독자 AI 파운데이션 모델 · 공개 모델 · 상용 모델</a:t>
            </a:r>
            <a:endParaRPr lang="en-US" sz="7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이용 조건 확인 후 카탈로그 등록</a:t>
            </a:r>
            <a:endParaRPr lang="en-US" sz="780" dirty="0"/>
          </a:p>
        </p:txBody>
      </p:sp>
      <p:sp>
        <p:nvSpPr>
          <p:cNvPr id="1059" name="Text 57"/>
          <p:cNvSpPr txBox="1"/>
          <p:nvPr/>
        </p:nvSpPr>
        <p:spPr>
          <a:xfrm>
            <a:off x="4645152" y="5971032"/>
            <a:ext cx="4937760" cy="338328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교체 원칙: 모델 레지스트리 · 공통 서빙 API · 기반 모델/기업 어댑터 분리 · 과제별 평가 세트로 교체 전후 비교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⑧ 파운데이션 모델 활용 구조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“기업이 바로 가져다 쓰는 모델”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➔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업무–모델–서비스 활용 지도 및 교체형 구조(안)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업무–모델–서비스 활용 지도(예시)</a:t>
            </a:r>
            <a:endParaRPr lang="en-US" sz="1050" dirty="0"/>
          </a:p>
        </p:txBody>
      </p:sp>
      <p:graphicFrame>
        <p:nvGraphicFramePr>
          <p:cNvPr id="10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2167128"/>
          <a:ext cx="52120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63040"/>
                <a:gridCol w="13258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업무영역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업무·데이터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 모델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실증 서비스 예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항만·물류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CCTV, 장비 운영 로그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비전(탐지·추적), VLM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야드 안전 감시, 장비 이상 탐지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해운·선박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운항·기관 센서, 정비 기록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시계열, LLM+RAG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고장 예측, 정비 의사결정 지원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수산·양식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수중 영상, 수온·DO 센서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비전, 시계열 예측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생육·질병 탐지, 급이 최적화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수산유통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품질 영상, 출하 기록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비전 분류, 수요 예측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품질·등급 판별, 출하량 예측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물류 행정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선적·통관 서류, 규정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OCR/VLM, LLM 에이전트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서류 자동 추출·검증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해양안전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VHF 교신 음성, 사고 기록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음성 인식(STT), LLM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교신 기록화, 상황 요약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7" name="Text 4"/>
          <p:cNvSpPr txBox="1"/>
          <p:nvPr/>
        </p:nvSpPr>
        <p:spPr>
          <a:xfrm>
            <a:off x="329184" y="457200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착수보고 8대 업무영역 × AX 가치사슬 기준 확장, 대표과제 확정 후 해당 행 상세화</a:t>
            </a:r>
            <a:endParaRPr lang="en-US" sz="750" dirty="0"/>
          </a:p>
        </p:txBody>
      </p:sp>
      <p:sp>
        <p:nvSpPr>
          <p:cNvPr id="1008" name="Shape 5"/>
          <p:cNvSpPr/>
          <p:nvPr/>
        </p:nvSpPr>
        <p:spPr>
          <a:xfrm>
            <a:off x="5788152" y="1783080"/>
            <a:ext cx="39319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9" name="Shape 6"/>
          <p:cNvSpPr/>
          <p:nvPr/>
        </p:nvSpPr>
        <p:spPr>
          <a:xfrm>
            <a:off x="5925312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10" name="Text 7"/>
          <p:cNvSpPr txBox="1"/>
          <p:nvPr/>
        </p:nvSpPr>
        <p:spPr>
          <a:xfrm>
            <a:off x="6035040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모델 교체형 구조(안)</a:t>
            </a:r>
            <a:endParaRPr lang="en-US" sz="1050" dirty="0"/>
          </a:p>
        </p:txBody>
      </p:sp>
      <p:sp>
        <p:nvSpPr>
          <p:cNvPr id="1011" name="Shape 8"/>
          <p:cNvSpPr/>
          <p:nvPr/>
        </p:nvSpPr>
        <p:spPr>
          <a:xfrm>
            <a:off x="5971032" y="21945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12" name="Text 9"/>
          <p:cNvSpPr txBox="1"/>
          <p:nvPr/>
        </p:nvSpPr>
        <p:spPr>
          <a:xfrm>
            <a:off x="6016752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실증 서비스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앱 · 에이전트</a:t>
            </a:r>
            <a:endParaRPr lang="en-US" sz="880" dirty="0"/>
          </a:p>
        </p:txBody>
      </p:sp>
      <p:sp>
        <p:nvSpPr>
          <p:cNvPr id="1013" name="Shape 10"/>
          <p:cNvSpPr/>
          <p:nvPr/>
        </p:nvSpPr>
        <p:spPr>
          <a:xfrm>
            <a:off x="7662672" y="2587752"/>
            <a:ext cx="182880" cy="164592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14" name="Shape 11"/>
          <p:cNvSpPr/>
          <p:nvPr/>
        </p:nvSpPr>
        <p:spPr>
          <a:xfrm>
            <a:off x="5971032" y="277977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5" name="Text 12"/>
          <p:cNvSpPr txBox="1"/>
          <p:nvPr/>
        </p:nvSpPr>
        <p:spPr>
          <a:xfrm>
            <a:off x="6016752" y="2779776"/>
            <a:ext cx="3474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서빙 API · 라우팅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바뀌어도 호출 방식 동일</a:t>
            </a:r>
            <a:endParaRPr lang="en-US" sz="880" dirty="0"/>
          </a:p>
        </p:txBody>
      </p:sp>
      <p:sp>
        <p:nvSpPr>
          <p:cNvPr id="1016" name="Shape 13"/>
          <p:cNvSpPr/>
          <p:nvPr/>
        </p:nvSpPr>
        <p:spPr>
          <a:xfrm>
            <a:off x="7662672" y="3172968"/>
            <a:ext cx="182880" cy="164592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17" name="Shape 14"/>
          <p:cNvSpPr/>
          <p:nvPr/>
        </p:nvSpPr>
        <p:spPr>
          <a:xfrm>
            <a:off x="5971032" y="336499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8" name="Text 15"/>
          <p:cNvSpPr txBox="1"/>
          <p:nvPr/>
        </p:nvSpPr>
        <p:spPr>
          <a:xfrm>
            <a:off x="6016752" y="3364992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레지스트리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L1·L2 기반 모델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버전·라이선스·자원량</a:t>
            </a:r>
            <a:endParaRPr lang="en-US" sz="880" dirty="0"/>
          </a:p>
        </p:txBody>
      </p:sp>
      <p:sp>
        <p:nvSpPr>
          <p:cNvPr id="1019" name="Shape 16"/>
          <p:cNvSpPr/>
          <p:nvPr/>
        </p:nvSpPr>
        <p:spPr>
          <a:xfrm>
            <a:off x="7799832" y="336499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0" name="Text 17"/>
          <p:cNvSpPr txBox="1"/>
          <p:nvPr/>
        </p:nvSpPr>
        <p:spPr>
          <a:xfrm>
            <a:off x="7845552" y="3364992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어댑터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 추가학습·RAG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소유·분리 관리</a:t>
            </a:r>
            <a:endParaRPr lang="en-US" sz="880" dirty="0"/>
          </a:p>
        </p:txBody>
      </p:sp>
      <p:sp>
        <p:nvSpPr>
          <p:cNvPr id="1021" name="Shape 18"/>
          <p:cNvSpPr/>
          <p:nvPr/>
        </p:nvSpPr>
        <p:spPr>
          <a:xfrm>
            <a:off x="5971032" y="40233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22" name="Text 19"/>
          <p:cNvSpPr txBox="1"/>
          <p:nvPr/>
        </p:nvSpPr>
        <p:spPr>
          <a:xfrm>
            <a:off x="6016752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평가 세트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교체 전후 성능·비용 비교 후 배포</a:t>
            </a:r>
            <a:endParaRPr lang="en-US" sz="880" dirty="0"/>
          </a:p>
        </p:txBody>
      </p:sp>
      <p:sp>
        <p:nvSpPr>
          <p:cNvPr id="1023" name="Shape 20"/>
          <p:cNvSpPr/>
          <p:nvPr/>
        </p:nvSpPr>
        <p:spPr>
          <a:xfrm>
            <a:off x="192024" y="4937760"/>
            <a:ext cx="952804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4" name="Shape 21"/>
          <p:cNvSpPr/>
          <p:nvPr/>
        </p:nvSpPr>
        <p:spPr>
          <a:xfrm>
            <a:off x="329184" y="506577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25" name="Text 22"/>
          <p:cNvSpPr txBox="1"/>
          <p:nvPr/>
        </p:nvSpPr>
        <p:spPr>
          <a:xfrm>
            <a:off x="438912" y="5020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모델 적용 절차 및 후보 모델 비교 기준</a:t>
            </a:r>
            <a:endParaRPr lang="en-US" sz="1050" dirty="0"/>
          </a:p>
        </p:txBody>
      </p:sp>
      <p:sp>
        <p:nvSpPr>
          <p:cNvPr id="1026" name="Shape 23"/>
          <p:cNvSpPr/>
          <p:nvPr/>
        </p:nvSpPr>
        <p:spPr>
          <a:xfrm>
            <a:off x="329184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27" name="Text 24"/>
          <p:cNvSpPr txBox="1"/>
          <p:nvPr/>
        </p:nvSpPr>
        <p:spPr>
          <a:xfrm>
            <a:off x="475488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카탈로그 추천</a:t>
            </a:r>
            <a:endParaRPr lang="en-US" sz="850" dirty="0"/>
          </a:p>
        </p:txBody>
      </p:sp>
      <p:sp>
        <p:nvSpPr>
          <p:cNvPr id="1028" name="Shape 25"/>
          <p:cNvSpPr/>
          <p:nvPr/>
        </p:nvSpPr>
        <p:spPr>
          <a:xfrm>
            <a:off x="1371600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29" name="Text 26"/>
          <p:cNvSpPr txBox="1"/>
          <p:nvPr/>
        </p:nvSpPr>
        <p:spPr>
          <a:xfrm>
            <a:off x="1517904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· RAG</a:t>
            </a:r>
            <a:endParaRPr lang="en-US" sz="850" dirty="0"/>
          </a:p>
        </p:txBody>
      </p:sp>
      <p:sp>
        <p:nvSpPr>
          <p:cNvPr id="1030" name="Shape 27"/>
          <p:cNvSpPr/>
          <p:nvPr/>
        </p:nvSpPr>
        <p:spPr>
          <a:xfrm>
            <a:off x="2414016" y="5349240"/>
            <a:ext cx="1024128" cy="502920"/>
          </a:xfrm>
          <a:prstGeom prst="chevron">
            <a:avLst/>
          </a:prstGeom>
          <a:solidFill>
            <a:srgbClr val="64748B"/>
          </a:solidFill>
          <a:ln/>
        </p:spPr>
      </p:sp>
      <p:sp>
        <p:nvSpPr>
          <p:cNvPr id="1031" name="Text 28"/>
          <p:cNvSpPr txBox="1"/>
          <p:nvPr/>
        </p:nvSpPr>
        <p:spPr>
          <a:xfrm>
            <a:off x="2560320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추가학습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시 경량 학습</a:t>
            </a:r>
            <a:endParaRPr lang="en-US" sz="850" dirty="0"/>
          </a:p>
        </p:txBody>
      </p:sp>
      <p:sp>
        <p:nvSpPr>
          <p:cNvPr id="1032" name="Shape 29"/>
          <p:cNvSpPr/>
          <p:nvPr/>
        </p:nvSpPr>
        <p:spPr>
          <a:xfrm>
            <a:off x="3456432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33" name="Text 30"/>
          <p:cNvSpPr txBox="1"/>
          <p:nvPr/>
        </p:nvSpPr>
        <p:spPr>
          <a:xfrm>
            <a:off x="3602736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평가 세트</a:t>
            </a:r>
            <a:endParaRPr lang="en-US" sz="850" dirty="0"/>
          </a:p>
        </p:txBody>
      </p:sp>
      <p:sp>
        <p:nvSpPr>
          <p:cNvPr id="1034" name="Shape 31"/>
          <p:cNvSpPr/>
          <p:nvPr/>
        </p:nvSpPr>
        <p:spPr>
          <a:xfrm>
            <a:off x="4498848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35" name="Text 32"/>
          <p:cNvSpPr txBox="1"/>
          <p:nvPr/>
        </p:nvSpPr>
        <p:spPr>
          <a:xfrm>
            <a:off x="4645152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배포·교체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API로 전환</a:t>
            </a:r>
            <a:endParaRPr lang="en-US" sz="850" dirty="0"/>
          </a:p>
        </p:txBody>
      </p:sp>
      <p:sp>
        <p:nvSpPr>
          <p:cNvPr id="1036" name="Text 33"/>
          <p:cNvSpPr txBox="1"/>
          <p:nvPr/>
        </p:nvSpPr>
        <p:spPr>
          <a:xfrm>
            <a:off x="329184" y="5943600"/>
            <a:ext cx="5212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대부분의 과제는 추가학습 없이 “선택·적용” 단계에서 검증하는 것을 목표로 함</a:t>
            </a:r>
            <a:endParaRPr lang="en-US" sz="780" dirty="0"/>
          </a:p>
        </p:txBody>
      </p:sp>
      <p:sp>
        <p:nvSpPr>
          <p:cNvPr id="1037" name="Shape 34"/>
          <p:cNvSpPr/>
          <p:nvPr/>
        </p:nvSpPr>
        <p:spPr>
          <a:xfrm>
            <a:off x="5724144" y="532180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5769864" y="532180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세트 정확도·한국어·해양 용어</a:t>
            </a:r>
            <a:endParaRPr lang="en-US" sz="880" dirty="0"/>
          </a:p>
        </p:txBody>
      </p:sp>
      <p:sp>
        <p:nvSpPr>
          <p:cNvPr id="1039" name="Shape 36"/>
          <p:cNvSpPr/>
          <p:nvPr/>
        </p:nvSpPr>
        <p:spPr>
          <a:xfrm>
            <a:off x="7699248" y="532180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7744968" y="532180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라이선스·API·추가학습 GPU-hour</a:t>
            </a:r>
            <a:endParaRPr lang="en-US" sz="880" dirty="0"/>
          </a:p>
        </p:txBody>
      </p:sp>
      <p:sp>
        <p:nvSpPr>
          <p:cNvPr id="1041" name="Shape 38"/>
          <p:cNvSpPr/>
          <p:nvPr/>
        </p:nvSpPr>
        <p:spPr>
          <a:xfrm>
            <a:off x="5724144" y="582472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42" name="Text 39"/>
          <p:cNvSpPr txBox="1"/>
          <p:nvPr/>
        </p:nvSpPr>
        <p:spPr>
          <a:xfrm>
            <a:off x="5769864" y="582472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 조건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 이용·파생 권리·외부 전송</a:t>
            </a:r>
            <a:endParaRPr lang="en-US" sz="880" dirty="0"/>
          </a:p>
        </p:txBody>
      </p:sp>
      <p:sp>
        <p:nvSpPr>
          <p:cNvPr id="1043" name="Shape 40"/>
          <p:cNvSpPr/>
          <p:nvPr/>
        </p:nvSpPr>
        <p:spPr>
          <a:xfrm>
            <a:off x="7699248" y="582472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44" name="Text 41"/>
          <p:cNvSpPr txBox="1"/>
          <p:nvPr/>
        </p:nvSpPr>
        <p:spPr>
          <a:xfrm>
            <a:off x="7744968" y="582472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요구량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메모리·응답시간 → 과제 5 연계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⑧ 파운데이션 모델 활용 구조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파운데이션 모델 활용 추진 프레임워크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파운데이션 모델 활용 구조 설계 프레임워크(안) 및 핵심 검토사항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5788152" y="1883664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정부 독자 AI 파운데이션 모델(12월 선정) 결과는 최종보고에 반영</a:t>
            </a:r>
            <a:endParaRPr lang="en-US" sz="750" dirty="0"/>
          </a:p>
        </p:txBody>
      </p:sp>
      <p:sp>
        <p:nvSpPr>
          <p:cNvPr id="1007" name="Shape 5"/>
          <p:cNvSpPr/>
          <p:nvPr/>
        </p:nvSpPr>
        <p:spPr>
          <a:xfrm>
            <a:off x="329184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8" name="Shape 6"/>
          <p:cNvSpPr/>
          <p:nvPr/>
        </p:nvSpPr>
        <p:spPr>
          <a:xfrm>
            <a:off x="329184" y="2157984"/>
            <a:ext cx="3023616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9" name="Text 7"/>
          <p:cNvSpPr txBox="1"/>
          <p:nvPr/>
        </p:nvSpPr>
        <p:spPr>
          <a:xfrm>
            <a:off x="402336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 : 업무 지도 작성</a:t>
            </a:r>
            <a:endParaRPr lang="en-US" sz="950" dirty="0"/>
          </a:p>
        </p:txBody>
      </p:sp>
      <p:sp>
        <p:nvSpPr>
          <p:cNvPr id="1010" name="Shape 8"/>
          <p:cNvSpPr/>
          <p:nvPr/>
        </p:nvSpPr>
        <p:spPr>
          <a:xfrm>
            <a:off x="402336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402336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업무영역 분석 ➔ 필요 모델 도출 ➔ 활용 지도</a:t>
            </a:r>
            <a:endParaRPr lang="en-US" sz="850" dirty="0"/>
          </a:p>
        </p:txBody>
      </p:sp>
      <p:sp>
        <p:nvSpPr>
          <p:cNvPr id="1012" name="Text 10"/>
          <p:cNvSpPr txBox="1"/>
          <p:nvPr/>
        </p:nvSpPr>
        <p:spPr>
          <a:xfrm>
            <a:off x="402336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13" name="Text 11"/>
          <p:cNvSpPr txBox="1"/>
          <p:nvPr/>
        </p:nvSpPr>
        <p:spPr>
          <a:xfrm>
            <a:off x="402336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분석: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해양·항만 업무영역별 데이터·해결 문제 정리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현황: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국내외 파운데이션·공개·상용 모델 조사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자료: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기관별 AI 수요조사 자료 확보·반영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3444240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15" name="Shape 13"/>
          <p:cNvSpPr/>
          <p:nvPr/>
        </p:nvSpPr>
        <p:spPr>
          <a:xfrm>
            <a:off x="3444240" y="2157984"/>
            <a:ext cx="3023616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16" name="Text 14"/>
          <p:cNvSpPr txBox="1"/>
          <p:nvPr/>
        </p:nvSpPr>
        <p:spPr>
          <a:xfrm>
            <a:off x="3517392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02 : 후보 모델 비교 PoC</a:t>
            </a:r>
            <a:endParaRPr lang="en-US" sz="950" dirty="0"/>
          </a:p>
        </p:txBody>
      </p:sp>
      <p:sp>
        <p:nvSpPr>
          <p:cNvPr id="1017" name="Shape 15"/>
          <p:cNvSpPr/>
          <p:nvPr/>
        </p:nvSpPr>
        <p:spPr>
          <a:xfrm>
            <a:off x="3517392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3517392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선정 ➔ 비교 PoC ➔ 교체 시나리오</a:t>
            </a:r>
            <a:endParaRPr lang="en-US" sz="850" dirty="0"/>
          </a:p>
        </p:txBody>
      </p:sp>
      <p:sp>
        <p:nvSpPr>
          <p:cNvPr id="1019" name="Text 17"/>
          <p:cNvSpPr txBox="1"/>
          <p:nvPr/>
        </p:nvSpPr>
        <p:spPr>
          <a:xfrm>
            <a:off x="3517392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0" name="Text 18"/>
          <p:cNvSpPr txBox="1"/>
          <p:nvPr/>
        </p:nvSpPr>
        <p:spPr>
          <a:xfrm>
            <a:off x="3517392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비교: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대표과제별 후보 모델 2~3개 비교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기준: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성능·비용·이용 조건·자원 요구량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교체 시험: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API 기반 모델 교체 시나리오 시험</a:t>
            </a:r>
            <a:endParaRPr lang="en-US" sz="830" dirty="0"/>
          </a:p>
        </p:txBody>
      </p:sp>
      <p:sp>
        <p:nvSpPr>
          <p:cNvPr id="1021" name="Shape 19"/>
          <p:cNvSpPr/>
          <p:nvPr/>
        </p:nvSpPr>
        <p:spPr>
          <a:xfrm>
            <a:off x="6559296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2" name="Shape 20"/>
          <p:cNvSpPr/>
          <p:nvPr/>
        </p:nvSpPr>
        <p:spPr>
          <a:xfrm>
            <a:off x="6559296" y="2157984"/>
            <a:ext cx="302361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23" name="Text 21"/>
          <p:cNvSpPr txBox="1"/>
          <p:nvPr/>
        </p:nvSpPr>
        <p:spPr>
          <a:xfrm>
            <a:off x="6632448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 : 교체형 구조 확정</a:t>
            </a:r>
            <a:endParaRPr lang="en-US" sz="950" dirty="0"/>
          </a:p>
        </p:txBody>
      </p:sp>
      <p:sp>
        <p:nvSpPr>
          <p:cNvPr id="1024" name="Shape 22"/>
          <p:cNvSpPr/>
          <p:nvPr/>
        </p:nvSpPr>
        <p:spPr>
          <a:xfrm>
            <a:off x="6632448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6632448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카탈로그 ➔ 교체 원칙 ➔ AI 플랫폼 반영</a:t>
            </a:r>
            <a:endParaRPr lang="en-US" sz="850" dirty="0"/>
          </a:p>
        </p:txBody>
      </p:sp>
      <p:sp>
        <p:nvSpPr>
          <p:cNvPr id="1026" name="Text 24"/>
          <p:cNvSpPr txBox="1"/>
          <p:nvPr/>
        </p:nvSpPr>
        <p:spPr>
          <a:xfrm>
            <a:off x="6632448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7" name="Text 25"/>
          <p:cNvSpPr txBox="1"/>
          <p:nvPr/>
        </p:nvSpPr>
        <p:spPr>
          <a:xfrm>
            <a:off x="6632448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카탈로그: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L1·L2·L3 계층별 등록·관리 기준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모델 세트: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 기업용 OCR·영상·음성·LLM 구성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목표모델 반영: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 목표모델에 구조 반영</a:t>
            </a:r>
            <a:endParaRPr lang="en-US" sz="830" dirty="0"/>
          </a:p>
        </p:txBody>
      </p:sp>
      <p:sp>
        <p:nvSpPr>
          <p:cNvPr id="1028" name="Shape 26"/>
          <p:cNvSpPr/>
          <p:nvPr/>
        </p:nvSpPr>
        <p:spPr>
          <a:xfrm>
            <a:off x="192024" y="3813048"/>
            <a:ext cx="9528048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3941064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3개월 단계별 추진 일정 계획 (WBS &amp; 마일스톤)</a:t>
            </a:r>
            <a:endParaRPr lang="en-US" sz="1050" dirty="0"/>
          </a:p>
        </p:txBody>
      </p:sp>
      <p:graphicFrame>
        <p:nvGraphicFramePr>
          <p:cNvPr id="10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4187952"/>
          <a:ext cx="9235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49040"/>
                <a:gridCol w="2057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추진 단계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추진 내용 (검토 활동)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단계별 마일스톤 (산출물)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1개월차 (M1)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 지도 작성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업무–모델–서비스 활용 지도 초안 작성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국내외 모델 현황 조사, 기관별 수요조사 자료 확보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[M1] 업무별 모델 활용 지도(초안)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 → 모델 → 서비스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2개월차 (M2)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후보 비교 PoC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대표과제별 후보 모델 2~3개 비교 PoC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API 기반 모델 교체 시나리오 시험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[M2] 후보 모델 비교표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성능·비용·조건·자원량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3개월차 (M3)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구조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교체형 구조·카탈로그 기준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독자 AI 모델 선정 결과 반영 방안 정리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[M3] 중간보고 결과물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활용 지도·교체형 구조안·비교표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2" name="Text 29"/>
          <p:cNvSpPr txBox="1"/>
          <p:nvPr/>
        </p:nvSpPr>
        <p:spPr>
          <a:xfrm>
            <a:off x="54041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830" dirty="0"/>
          </a:p>
        </p:txBody>
      </p:sp>
      <p:sp>
        <p:nvSpPr>
          <p:cNvPr id="1033" name="Text 30"/>
          <p:cNvSpPr txBox="1"/>
          <p:nvPr/>
        </p:nvSpPr>
        <p:spPr>
          <a:xfrm>
            <a:off x="60899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</a:t>
            </a:r>
            <a:endParaRPr lang="en-US" sz="830" dirty="0"/>
          </a:p>
        </p:txBody>
      </p:sp>
      <p:sp>
        <p:nvSpPr>
          <p:cNvPr id="1034" name="Text 31"/>
          <p:cNvSpPr txBox="1"/>
          <p:nvPr/>
        </p:nvSpPr>
        <p:spPr>
          <a:xfrm>
            <a:off x="67757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</a:t>
            </a:r>
            <a:endParaRPr lang="en-US" sz="830" dirty="0"/>
          </a:p>
        </p:txBody>
      </p:sp>
      <p:sp>
        <p:nvSpPr>
          <p:cNvPr id="1035" name="Shape 32"/>
          <p:cNvSpPr/>
          <p:nvPr/>
        </p:nvSpPr>
        <p:spPr>
          <a:xfrm>
            <a:off x="5458968" y="4654296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36" name="Text 33"/>
          <p:cNvSpPr txBox="1"/>
          <p:nvPr/>
        </p:nvSpPr>
        <p:spPr>
          <a:xfrm>
            <a:off x="5458968" y="46542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지도 작성</a:t>
            </a:r>
            <a:endParaRPr lang="en-US" sz="700" dirty="0"/>
          </a:p>
        </p:txBody>
      </p:sp>
      <p:sp>
        <p:nvSpPr>
          <p:cNvPr id="1037" name="Shape 34"/>
          <p:cNvSpPr/>
          <p:nvPr/>
        </p:nvSpPr>
        <p:spPr>
          <a:xfrm>
            <a:off x="6144768" y="5276088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6144768" y="5276088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PoC</a:t>
            </a:r>
            <a:endParaRPr lang="en-US" sz="700" dirty="0"/>
          </a:p>
        </p:txBody>
      </p:sp>
      <p:sp>
        <p:nvSpPr>
          <p:cNvPr id="1039" name="Shape 36"/>
          <p:cNvSpPr/>
          <p:nvPr/>
        </p:nvSpPr>
        <p:spPr>
          <a:xfrm>
            <a:off x="6830568" y="5897880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6830568" y="58978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중간보고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⑨ AI 개발·실증 도구 구성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“에이전트 도구·사람 검토·피지컬 AI”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➔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기반 단계별 AI 개발·실증 도구 체계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자문의견별 대응방안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6793992" y="1883664"/>
            <a:ext cx="2788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2026. 9. 18. 착수보고회 자문의견 기준</a:t>
            </a:r>
            <a:endParaRPr lang="en-US" sz="750" dirty="0"/>
          </a:p>
        </p:txBody>
      </p:sp>
      <p:sp>
        <p:nvSpPr>
          <p:cNvPr id="1007" name="Text 5"/>
          <p:cNvSpPr txBox="1"/>
          <p:nvPr/>
        </p:nvSpPr>
        <p:spPr>
          <a:xfrm>
            <a:off x="329184" y="2157984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자문의견</a:t>
            </a:r>
            <a:endParaRPr lang="en-US" sz="850" dirty="0"/>
          </a:p>
        </p:txBody>
      </p:sp>
      <p:sp>
        <p:nvSpPr>
          <p:cNvPr id="1008" name="Text 6"/>
          <p:cNvSpPr txBox="1"/>
          <p:nvPr/>
        </p:nvSpPr>
        <p:spPr>
          <a:xfrm>
            <a:off x="4764024" y="2157984"/>
            <a:ext cx="4818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대응방안</a:t>
            </a:r>
            <a:endParaRPr lang="en-US" sz="850" dirty="0"/>
          </a:p>
        </p:txBody>
      </p:sp>
      <p:sp>
        <p:nvSpPr>
          <p:cNvPr id="1009" name="Shape 7"/>
          <p:cNvSpPr/>
          <p:nvPr/>
        </p:nvSpPr>
        <p:spPr>
          <a:xfrm>
            <a:off x="329184" y="2395728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0" name="Text 8"/>
          <p:cNvSpPr txBox="1"/>
          <p:nvPr/>
        </p:nvSpPr>
        <p:spPr>
          <a:xfrm>
            <a:off x="402336" y="2395728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외 에이전트 도구(MCP, 에이전트 스튜디오, 로그·하네스) 제공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11" name="Shape 9"/>
          <p:cNvSpPr/>
          <p:nvPr/>
        </p:nvSpPr>
        <p:spPr>
          <a:xfrm>
            <a:off x="4407408" y="2514600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2" name="Shape 10"/>
          <p:cNvSpPr/>
          <p:nvPr/>
        </p:nvSpPr>
        <p:spPr>
          <a:xfrm>
            <a:off x="4764024" y="2395728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3" name="Text 11"/>
          <p:cNvSpPr txBox="1"/>
          <p:nvPr/>
        </p:nvSpPr>
        <p:spPr>
          <a:xfrm>
            <a:off x="4855464" y="2395728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MLOps와 에이전트 개발·평가 도구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를 한 플랫폼에서 제공</a:t>
            </a:r>
            <a:endParaRPr lang="en-US" sz="900" dirty="0"/>
          </a:p>
        </p:txBody>
      </p:sp>
      <p:sp>
        <p:nvSpPr>
          <p:cNvPr id="1014" name="Shape 12"/>
          <p:cNvSpPr/>
          <p:nvPr/>
        </p:nvSpPr>
        <p:spPr>
          <a:xfrm>
            <a:off x="329184" y="2871216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5" name="Text 13"/>
          <p:cNvSpPr txBox="1"/>
          <p:nvPr/>
        </p:nvSpPr>
        <p:spPr>
          <a:xfrm>
            <a:off x="402336" y="2871216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결과를 검토해 결정하는 구조(Human-in-the-loop)와 담당 조직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16" name="Shape 14"/>
          <p:cNvSpPr/>
          <p:nvPr/>
        </p:nvSpPr>
        <p:spPr>
          <a:xfrm>
            <a:off x="4407408" y="2990088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7" name="Shape 15"/>
          <p:cNvSpPr/>
          <p:nvPr/>
        </p:nvSpPr>
        <p:spPr>
          <a:xfrm>
            <a:off x="4764024" y="2871216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4855464" y="2871216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도구 + 센터 운영 역할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(평가·환류 담당) 함께 설계</a:t>
            </a:r>
            <a:endParaRPr lang="en-US" sz="900" dirty="0"/>
          </a:p>
        </p:txBody>
      </p:sp>
      <p:sp>
        <p:nvSpPr>
          <p:cNvPr id="1019" name="Shape 17"/>
          <p:cNvSpPr/>
          <p:nvPr/>
        </p:nvSpPr>
        <p:spPr>
          <a:xfrm>
            <a:off x="329184" y="3346704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0" name="Text 18"/>
          <p:cNvSpPr txBox="1"/>
          <p:nvPr/>
        </p:nvSpPr>
        <p:spPr>
          <a:xfrm>
            <a:off x="402336" y="3346704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시뮬레이션 환경(Omniverse, Isaac Sim)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21" name="Shape 19"/>
          <p:cNvSpPr/>
          <p:nvPr/>
        </p:nvSpPr>
        <p:spPr>
          <a:xfrm>
            <a:off x="4407408" y="3465576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2" name="Shape 20"/>
          <p:cNvSpPr/>
          <p:nvPr/>
        </p:nvSpPr>
        <p:spPr>
          <a:xfrm>
            <a:off x="4764024" y="3346704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3" name="Text 21"/>
          <p:cNvSpPr txBox="1"/>
          <p:nvPr/>
        </p:nvSpPr>
        <p:spPr>
          <a:xfrm>
            <a:off x="4855464" y="3346704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수요조사로 필요성 확인 후 단계 도입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인근 인프라 연계 우선</a:t>
            </a:r>
            <a:endParaRPr lang="en-US" sz="900" dirty="0"/>
          </a:p>
        </p:txBody>
      </p:sp>
      <p:sp>
        <p:nvSpPr>
          <p:cNvPr id="1024" name="Shape 22"/>
          <p:cNvSpPr/>
          <p:nvPr/>
        </p:nvSpPr>
        <p:spPr>
          <a:xfrm>
            <a:off x="329184" y="3822192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402336" y="3822192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실증용 NPU, 기업 유형별 필요 상이</a:t>
            </a:r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”</a:t>
            </a:r>
            <a:endParaRPr lang="en-US" sz="900" dirty="0"/>
          </a:p>
        </p:txBody>
      </p:sp>
      <p:sp>
        <p:nvSpPr>
          <p:cNvPr id="1026" name="Shape 24"/>
          <p:cNvSpPr/>
          <p:nvPr/>
        </p:nvSpPr>
        <p:spPr>
          <a:xfrm>
            <a:off x="4407408" y="3941064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7" name="Shape 25"/>
          <p:cNvSpPr/>
          <p:nvPr/>
        </p:nvSpPr>
        <p:spPr>
          <a:xfrm>
            <a:off x="4764024" y="3822192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8" name="Text 26"/>
          <p:cNvSpPr txBox="1"/>
          <p:nvPr/>
        </p:nvSpPr>
        <p:spPr>
          <a:xfrm>
            <a:off x="4855464" y="3822192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NPU 추론 툴체인 포함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기업 유형별 도구 묶음 제공</a:t>
            </a:r>
            <a:endParaRPr lang="en-US" sz="900" dirty="0"/>
          </a:p>
        </p:txBody>
      </p:sp>
      <p:sp>
        <p:nvSpPr>
          <p:cNvPr id="1029" name="Shape 27"/>
          <p:cNvSpPr/>
          <p:nvPr/>
        </p:nvSpPr>
        <p:spPr>
          <a:xfrm>
            <a:off x="192024" y="43891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30" name="Shape 28"/>
          <p:cNvSpPr/>
          <p:nvPr/>
        </p:nvSpPr>
        <p:spPr>
          <a:xfrm>
            <a:off x="329184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1" name="Text 29"/>
          <p:cNvSpPr txBox="1"/>
          <p:nvPr/>
        </p:nvSpPr>
        <p:spPr>
          <a:xfrm>
            <a:off x="438912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대응 원칙</a:t>
            </a:r>
            <a:endParaRPr lang="en-US" sz="1050" dirty="0"/>
          </a:p>
        </p:txBody>
      </p:sp>
      <p:sp>
        <p:nvSpPr>
          <p:cNvPr id="1032" name="Shape 30"/>
          <p:cNvSpPr/>
          <p:nvPr/>
        </p:nvSpPr>
        <p:spPr>
          <a:xfrm>
            <a:off x="356616" y="481888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3" name="Text 31"/>
          <p:cNvSpPr txBox="1"/>
          <p:nvPr/>
        </p:nvSpPr>
        <p:spPr>
          <a:xfrm>
            <a:off x="356616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1034" name="Text 32"/>
          <p:cNvSpPr txBox="1"/>
          <p:nvPr/>
        </p:nvSpPr>
        <p:spPr>
          <a:xfrm>
            <a:off x="667512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기반 선정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수요조사·대표과제에서 필요한 기능 기준으로 도구 선정</a:t>
            </a:r>
            <a:endParaRPr lang="en-US" sz="850" dirty="0"/>
          </a:p>
        </p:txBody>
      </p:sp>
      <p:sp>
        <p:nvSpPr>
          <p:cNvPr id="1035" name="Shape 33"/>
          <p:cNvSpPr/>
          <p:nvPr/>
        </p:nvSpPr>
        <p:spPr>
          <a:xfrm>
            <a:off x="356616" y="519607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6" name="Text 34"/>
          <p:cNvSpPr txBox="1"/>
          <p:nvPr/>
        </p:nvSpPr>
        <p:spPr>
          <a:xfrm>
            <a:off x="356616" y="5196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037" name="Text 35"/>
          <p:cNvSpPr txBox="1"/>
          <p:nvPr/>
        </p:nvSpPr>
        <p:spPr>
          <a:xfrm>
            <a:off x="667512" y="515950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쓰일 도구부터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많이 갖추기보다 사용 빈도가 높은 도구부터 도입</a:t>
            </a:r>
            <a:endParaRPr lang="en-US" sz="850" dirty="0"/>
          </a:p>
        </p:txBody>
      </p:sp>
      <p:sp>
        <p:nvSpPr>
          <p:cNvPr id="1038" name="Shape 36"/>
          <p:cNvSpPr/>
          <p:nvPr/>
        </p:nvSpPr>
        <p:spPr>
          <a:xfrm>
            <a:off x="356616" y="557326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9" name="Text 37"/>
          <p:cNvSpPr txBox="1"/>
          <p:nvPr/>
        </p:nvSpPr>
        <p:spPr>
          <a:xfrm>
            <a:off x="356616" y="55732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1040" name="Text 38"/>
          <p:cNvSpPr txBox="1"/>
          <p:nvPr/>
        </p:nvSpPr>
        <p:spPr>
          <a:xfrm>
            <a:off x="667512" y="553669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/ 분야별 선택 구분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인력이 감당할 수 있는 범위로 한정</a:t>
            </a:r>
            <a:endParaRPr lang="en-US" sz="850" dirty="0"/>
          </a:p>
        </p:txBody>
      </p:sp>
      <p:sp>
        <p:nvSpPr>
          <p:cNvPr id="1041" name="Shape 39"/>
          <p:cNvSpPr/>
          <p:nvPr/>
        </p:nvSpPr>
        <p:spPr>
          <a:xfrm>
            <a:off x="356616" y="595045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42" name="Text 40"/>
          <p:cNvSpPr txBox="1"/>
          <p:nvPr/>
        </p:nvSpPr>
        <p:spPr>
          <a:xfrm>
            <a:off x="356616" y="5950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1043" name="Text 41"/>
          <p:cNvSpPr txBox="1"/>
          <p:nvPr/>
        </p:nvSpPr>
        <p:spPr>
          <a:xfrm>
            <a:off x="667512" y="591388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개발→평가→검토→재학습 연결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시대에 맞는 흐름을 도구로 구현</a:t>
            </a:r>
            <a:endParaRPr lang="en-US" sz="850" dirty="0"/>
          </a:p>
        </p:txBody>
      </p:sp>
      <p:sp>
        <p:nvSpPr>
          <p:cNvPr id="1044" name="Shape 42"/>
          <p:cNvSpPr/>
          <p:nvPr/>
        </p:nvSpPr>
        <p:spPr>
          <a:xfrm>
            <a:off x="4507992" y="43891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5" name="Shape 43"/>
          <p:cNvSpPr/>
          <p:nvPr/>
        </p:nvSpPr>
        <p:spPr>
          <a:xfrm>
            <a:off x="4645152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6" name="Text 44"/>
          <p:cNvSpPr txBox="1"/>
          <p:nvPr/>
        </p:nvSpPr>
        <p:spPr>
          <a:xfrm>
            <a:off x="4754880" y="4480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에이전트 개발·검증 순환 구조(안)</a:t>
            </a:r>
            <a:endParaRPr lang="en-US" sz="1050" dirty="0"/>
          </a:p>
        </p:txBody>
      </p:sp>
      <p:sp>
        <p:nvSpPr>
          <p:cNvPr id="1047" name="Shape 45"/>
          <p:cNvSpPr/>
          <p:nvPr/>
        </p:nvSpPr>
        <p:spPr>
          <a:xfrm>
            <a:off x="4681728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48" name="Text 46"/>
          <p:cNvSpPr txBox="1"/>
          <p:nvPr/>
        </p:nvSpPr>
        <p:spPr>
          <a:xfrm>
            <a:off x="4681728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830" dirty="0"/>
          </a:p>
        </p:txBody>
      </p:sp>
      <p:sp>
        <p:nvSpPr>
          <p:cNvPr id="1049" name="Shape 47"/>
          <p:cNvSpPr/>
          <p:nvPr/>
        </p:nvSpPr>
        <p:spPr>
          <a:xfrm>
            <a:off x="5468112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50" name="Shape 48"/>
          <p:cNvSpPr/>
          <p:nvPr/>
        </p:nvSpPr>
        <p:spPr>
          <a:xfrm>
            <a:off x="5705856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51" name="Text 49"/>
          <p:cNvSpPr txBox="1"/>
          <p:nvPr/>
        </p:nvSpPr>
        <p:spPr>
          <a:xfrm>
            <a:off x="5705856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로그</a:t>
            </a:r>
            <a:endParaRPr lang="en-US" sz="830" dirty="0"/>
          </a:p>
        </p:txBody>
      </p:sp>
      <p:sp>
        <p:nvSpPr>
          <p:cNvPr id="1052" name="Shape 50"/>
          <p:cNvSpPr/>
          <p:nvPr/>
        </p:nvSpPr>
        <p:spPr>
          <a:xfrm>
            <a:off x="6492240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53" name="Shape 51"/>
          <p:cNvSpPr/>
          <p:nvPr/>
        </p:nvSpPr>
        <p:spPr>
          <a:xfrm>
            <a:off x="6729984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54" name="Text 52"/>
          <p:cNvSpPr txBox="1"/>
          <p:nvPr/>
        </p:nvSpPr>
        <p:spPr>
          <a:xfrm>
            <a:off x="6729984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(하네스)</a:t>
            </a:r>
            <a:endParaRPr lang="en-US" sz="830" dirty="0"/>
          </a:p>
        </p:txBody>
      </p:sp>
      <p:sp>
        <p:nvSpPr>
          <p:cNvPr id="1055" name="Shape 53"/>
          <p:cNvSpPr/>
          <p:nvPr/>
        </p:nvSpPr>
        <p:spPr>
          <a:xfrm>
            <a:off x="7516368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56" name="Shape 54"/>
          <p:cNvSpPr/>
          <p:nvPr/>
        </p:nvSpPr>
        <p:spPr>
          <a:xfrm>
            <a:off x="7754112" y="4800600"/>
            <a:ext cx="768096" cy="7680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57" name="Text 55"/>
          <p:cNvSpPr txBox="1"/>
          <p:nvPr/>
        </p:nvSpPr>
        <p:spPr>
          <a:xfrm>
            <a:off x="7754112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(HITL)</a:t>
            </a:r>
            <a:endParaRPr lang="en-US" sz="830" dirty="0"/>
          </a:p>
        </p:txBody>
      </p:sp>
      <p:sp>
        <p:nvSpPr>
          <p:cNvPr id="1058" name="Shape 56"/>
          <p:cNvSpPr/>
          <p:nvPr/>
        </p:nvSpPr>
        <p:spPr>
          <a:xfrm>
            <a:off x="8540496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59" name="Shape 57"/>
          <p:cNvSpPr/>
          <p:nvPr/>
        </p:nvSpPr>
        <p:spPr>
          <a:xfrm>
            <a:off x="8778240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60" name="Text 58"/>
          <p:cNvSpPr txBox="1"/>
          <p:nvPr/>
        </p:nvSpPr>
        <p:spPr>
          <a:xfrm>
            <a:off x="8778240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</a:t>
            </a:r>
            <a:endParaRPr lang="en-US" sz="830" dirty="0"/>
          </a:p>
        </p:txBody>
      </p:sp>
      <p:sp>
        <p:nvSpPr>
          <p:cNvPr id="1061" name="Text 59"/>
          <p:cNvSpPr txBox="1"/>
          <p:nvPr/>
        </p:nvSpPr>
        <p:spPr>
          <a:xfrm>
            <a:off x="4645152" y="5623560"/>
            <a:ext cx="4937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↺ 검토 결과를 학습 데이터로 환류 → 재평가</a:t>
            </a:r>
            <a:endParaRPr lang="en-US" sz="800" dirty="0"/>
          </a:p>
        </p:txBody>
      </p:sp>
      <p:sp>
        <p:nvSpPr>
          <p:cNvPr id="1062" name="Shape 60"/>
          <p:cNvSpPr/>
          <p:nvPr/>
        </p:nvSpPr>
        <p:spPr>
          <a:xfrm>
            <a:off x="4645152" y="5879592"/>
            <a:ext cx="1584960" cy="402336"/>
          </a:xfrm>
          <a:prstGeom prst="roundRect">
            <a:avLst>
              <a:gd name="adj" fmla="val 13636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63" name="Text 61"/>
          <p:cNvSpPr txBox="1"/>
          <p:nvPr/>
        </p:nvSpPr>
        <p:spPr>
          <a:xfrm>
            <a:off x="4690872" y="5879592"/>
            <a:ext cx="1493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기업 · 개소 시 도입</a:t>
            </a:r>
            <a:endParaRPr lang="en-US" sz="880" dirty="0"/>
          </a:p>
        </p:txBody>
      </p:sp>
      <p:sp>
        <p:nvSpPr>
          <p:cNvPr id="1064" name="Shape 62"/>
          <p:cNvSpPr/>
          <p:nvPr/>
        </p:nvSpPr>
        <p:spPr>
          <a:xfrm>
            <a:off x="6321552" y="5879592"/>
            <a:ext cx="1584960" cy="402336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65" name="Text 63"/>
          <p:cNvSpPr txBox="1"/>
          <p:nvPr/>
        </p:nvSpPr>
        <p:spPr>
          <a:xfrm>
            <a:off x="6367272" y="5879592"/>
            <a:ext cx="1493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분야별 선택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과제 · 수요 확인 시</a:t>
            </a:r>
            <a:endParaRPr lang="en-US" sz="880" dirty="0"/>
          </a:p>
        </p:txBody>
      </p:sp>
      <p:sp>
        <p:nvSpPr>
          <p:cNvPr id="1066" name="Shape 64"/>
          <p:cNvSpPr/>
          <p:nvPr/>
        </p:nvSpPr>
        <p:spPr>
          <a:xfrm>
            <a:off x="7997952" y="5879592"/>
            <a:ext cx="1584960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67" name="Text 65"/>
          <p:cNvSpPr txBox="1"/>
          <p:nvPr/>
        </p:nvSpPr>
        <p:spPr>
          <a:xfrm>
            <a:off x="8043672" y="5879592"/>
            <a:ext cx="1493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역할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평가·환류 담당 인력 함께 설계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⑨ AI 개발·실증 도구 구성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“수요에 맞는 도구와 검증 환경”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➔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개발·실증 도구 구성(안)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도구 구성(안) — 공통 필수 / 분야별 선택</a:t>
            </a:r>
            <a:endParaRPr lang="en-US" sz="1050" dirty="0"/>
          </a:p>
        </p:txBody>
      </p:sp>
      <p:sp>
        <p:nvSpPr>
          <p:cNvPr id="1006" name="Shape 4"/>
          <p:cNvSpPr/>
          <p:nvPr/>
        </p:nvSpPr>
        <p:spPr>
          <a:xfrm>
            <a:off x="329184" y="2148840"/>
            <a:ext cx="6035040" cy="1847088"/>
          </a:xfrm>
          <a:prstGeom prst="roundRect">
            <a:avLst>
              <a:gd name="adj" fmla="val 2970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07" name="Text 5"/>
          <p:cNvSpPr txBox="1"/>
          <p:nvPr/>
        </p:nvSpPr>
        <p:spPr>
          <a:xfrm>
            <a:off x="420624" y="2176272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(1단계 · 개소 시 도입)</a:t>
            </a:r>
            <a:endParaRPr lang="en-US" sz="880" dirty="0"/>
          </a:p>
        </p:txBody>
      </p:sp>
      <p:sp>
        <p:nvSpPr>
          <p:cNvPr id="1008" name="Shape 6"/>
          <p:cNvSpPr/>
          <p:nvPr/>
        </p:nvSpPr>
        <p:spPr>
          <a:xfrm>
            <a:off x="420624" y="2404872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09" name="Text 7"/>
          <p:cNvSpPr txBox="1"/>
          <p:nvPr/>
        </p:nvSpPr>
        <p:spPr>
          <a:xfrm>
            <a:off x="420624" y="24048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환경</a:t>
            </a:r>
            <a:endParaRPr lang="en-US" sz="830" dirty="0"/>
          </a:p>
        </p:txBody>
      </p:sp>
      <p:sp>
        <p:nvSpPr>
          <p:cNvPr id="1010" name="Text 8"/>
          <p:cNvSpPr txBox="1"/>
          <p:nvPr/>
        </p:nvSpPr>
        <p:spPr>
          <a:xfrm>
            <a:off x="1911096" y="2404872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노트북·IDE, 컨테이너 템플릿, 전처리 파이프라인</a:t>
            </a:r>
            <a:endParaRPr lang="en-US" sz="830" dirty="0"/>
          </a:p>
        </p:txBody>
      </p:sp>
      <p:sp>
        <p:nvSpPr>
          <p:cNvPr id="1011" name="Shape 9"/>
          <p:cNvSpPr/>
          <p:nvPr/>
        </p:nvSpPr>
        <p:spPr>
          <a:xfrm>
            <a:off x="420624" y="2715768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420624" y="2715768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</a:t>
            </a:r>
            <a:endParaRPr lang="en-US" sz="830" dirty="0"/>
          </a:p>
        </p:txBody>
      </p:sp>
      <p:sp>
        <p:nvSpPr>
          <p:cNvPr id="1013" name="Text 11"/>
          <p:cNvSpPr txBox="1"/>
          <p:nvPr/>
        </p:nvSpPr>
        <p:spPr>
          <a:xfrm>
            <a:off x="1911096" y="2715768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관리, 모델 레지스트리, 서빙, 사용량 계측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420624" y="3026664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5" name="Text 13"/>
          <p:cNvSpPr txBox="1"/>
          <p:nvPr/>
        </p:nvSpPr>
        <p:spPr>
          <a:xfrm>
            <a:off x="420624" y="30266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LLM·에이전트 개발</a:t>
            </a:r>
            <a:endParaRPr lang="en-US" sz="830" dirty="0"/>
          </a:p>
        </p:txBody>
      </p:sp>
      <p:sp>
        <p:nvSpPr>
          <p:cNvPr id="1016" name="Text 14"/>
          <p:cNvSpPr txBox="1"/>
          <p:nvPr/>
        </p:nvSpPr>
        <p:spPr>
          <a:xfrm>
            <a:off x="1911096" y="3026664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스튜디오, MCP 도구 연결, RAG, 프롬프트 관리</a:t>
            </a:r>
            <a:endParaRPr lang="en-US" sz="830" dirty="0"/>
          </a:p>
        </p:txBody>
      </p:sp>
      <p:sp>
        <p:nvSpPr>
          <p:cNvPr id="1017" name="Shape 15"/>
          <p:cNvSpPr/>
          <p:nvPr/>
        </p:nvSpPr>
        <p:spPr>
          <a:xfrm>
            <a:off x="420624" y="3337560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420624" y="3337560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평가·관측</a:t>
            </a:r>
            <a:endParaRPr lang="en-US" sz="830" dirty="0"/>
          </a:p>
        </p:txBody>
      </p:sp>
      <p:sp>
        <p:nvSpPr>
          <p:cNvPr id="1019" name="Text 17"/>
          <p:cNvSpPr txBox="1"/>
          <p:nvPr/>
        </p:nvSpPr>
        <p:spPr>
          <a:xfrm>
            <a:off x="1911096" y="3337560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로그·추적, 하네스 자동 평가, 안전성·환각 점검</a:t>
            </a:r>
            <a:endParaRPr lang="en-US" sz="830" dirty="0"/>
          </a:p>
        </p:txBody>
      </p:sp>
      <p:sp>
        <p:nvSpPr>
          <p:cNvPr id="1020" name="Shape 18"/>
          <p:cNvSpPr/>
          <p:nvPr/>
        </p:nvSpPr>
        <p:spPr>
          <a:xfrm>
            <a:off x="420624" y="3648456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21" name="Text 19"/>
          <p:cNvSpPr txBox="1"/>
          <p:nvPr/>
        </p:nvSpPr>
        <p:spPr>
          <a:xfrm>
            <a:off x="420624" y="3648456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검토(HITL)</a:t>
            </a:r>
            <a:endParaRPr lang="en-US" sz="830" dirty="0"/>
          </a:p>
        </p:txBody>
      </p:sp>
      <p:sp>
        <p:nvSpPr>
          <p:cNvPr id="1022" name="Text 20"/>
          <p:cNvSpPr txBox="1"/>
          <p:nvPr/>
        </p:nvSpPr>
        <p:spPr>
          <a:xfrm>
            <a:off x="1911096" y="3648456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검토·수정 화면, 피드백 수집, 재학습 데이터 연계</a:t>
            </a:r>
            <a:endParaRPr lang="en-US" sz="830" dirty="0"/>
          </a:p>
        </p:txBody>
      </p:sp>
      <p:sp>
        <p:nvSpPr>
          <p:cNvPr id="1023" name="Shape 21"/>
          <p:cNvSpPr/>
          <p:nvPr/>
        </p:nvSpPr>
        <p:spPr>
          <a:xfrm>
            <a:off x="6473952" y="2148840"/>
            <a:ext cx="3108960" cy="1847088"/>
          </a:xfrm>
          <a:prstGeom prst="roundRect">
            <a:avLst>
              <a:gd name="adj" fmla="val 297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4" name="Text 22"/>
          <p:cNvSpPr txBox="1"/>
          <p:nvPr/>
        </p:nvSpPr>
        <p:spPr>
          <a:xfrm>
            <a:off x="6565392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분야별 선택 (2·3단계)</a:t>
            </a:r>
            <a:endParaRPr lang="en-US" sz="880" dirty="0"/>
          </a:p>
        </p:txBody>
      </p:sp>
      <p:sp>
        <p:nvSpPr>
          <p:cNvPr id="1025" name="Shape 23"/>
          <p:cNvSpPr/>
          <p:nvPr/>
        </p:nvSpPr>
        <p:spPr>
          <a:xfrm>
            <a:off x="6565392" y="2423160"/>
            <a:ext cx="2926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6" name="Text 24"/>
          <p:cNvSpPr txBox="1"/>
          <p:nvPr/>
        </p:nvSpPr>
        <p:spPr>
          <a:xfrm>
            <a:off x="6620256" y="2441448"/>
            <a:ext cx="2816352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최적화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경량화(양자화), NPU 컴파일·런타임 툴체인, 부하 시험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서비스 검증형(D) 기업</a:t>
            </a:r>
            <a:endParaRPr lang="en-US" sz="820" dirty="0"/>
          </a:p>
        </p:txBody>
      </p:sp>
      <p:sp>
        <p:nvSpPr>
          <p:cNvPr id="1027" name="Shape 25"/>
          <p:cNvSpPr/>
          <p:nvPr/>
        </p:nvSpPr>
        <p:spPr>
          <a:xfrm>
            <a:off x="6565392" y="3209544"/>
            <a:ext cx="2926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8" name="Text 26"/>
          <p:cNvSpPr txBox="1"/>
          <p:nvPr/>
        </p:nvSpPr>
        <p:spPr>
          <a:xfrm>
            <a:off x="6620256" y="3227832"/>
            <a:ext cx="2816352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시뮬레이션·디지털트윈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Omniverse, Isaac Sim, 합성 데이터 생성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피지컬 AI 수요 확인 시</a:t>
            </a:r>
            <a:endParaRPr lang="en-US" sz="820" dirty="0"/>
          </a:p>
        </p:txBody>
      </p:sp>
      <p:sp>
        <p:nvSpPr>
          <p:cNvPr id="1029" name="Shape 27"/>
          <p:cNvSpPr/>
          <p:nvPr/>
        </p:nvSpPr>
        <p:spPr>
          <a:xfrm>
            <a:off x="192024" y="4206240"/>
            <a:ext cx="4709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30" name="Shape 28"/>
          <p:cNvSpPr/>
          <p:nvPr/>
        </p:nvSpPr>
        <p:spPr>
          <a:xfrm>
            <a:off x="329184" y="433425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1" name="Text 29"/>
          <p:cNvSpPr txBox="1"/>
          <p:nvPr/>
        </p:nvSpPr>
        <p:spPr>
          <a:xfrm>
            <a:off x="438912" y="4288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Human-in-the-loop 운영 역할(안)</a:t>
            </a:r>
            <a:endParaRPr lang="en-US" sz="1050" dirty="0"/>
          </a:p>
        </p:txBody>
      </p:sp>
      <p:sp>
        <p:nvSpPr>
          <p:cNvPr id="1032" name="Shape 30"/>
          <p:cNvSpPr/>
          <p:nvPr/>
        </p:nvSpPr>
        <p:spPr>
          <a:xfrm>
            <a:off x="329184" y="45720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33" name="Text 31"/>
          <p:cNvSpPr txBox="1"/>
          <p:nvPr/>
        </p:nvSpPr>
        <p:spPr>
          <a:xfrm>
            <a:off x="384048" y="4590288"/>
            <a:ext cx="1307592" cy="832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검토자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결과를 업무 기준으로 확인·수정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기업·수요기관 담당자</a:t>
            </a:r>
            <a:endParaRPr lang="en-US" sz="800" dirty="0"/>
          </a:p>
        </p:txBody>
      </p:sp>
      <p:sp>
        <p:nvSpPr>
          <p:cNvPr id="1034" name="Shape 32"/>
          <p:cNvSpPr/>
          <p:nvPr/>
        </p:nvSpPr>
        <p:spPr>
          <a:xfrm>
            <a:off x="1837944" y="45720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35" name="Text 33"/>
          <p:cNvSpPr txBox="1"/>
          <p:nvPr/>
        </p:nvSpPr>
        <p:spPr>
          <a:xfrm>
            <a:off x="1892808" y="4590288"/>
            <a:ext cx="1307592" cy="832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평가 담당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기준·검토 절차 설계, 결과 집계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센터 AI 실증 인력</a:t>
            </a:r>
            <a:endParaRPr lang="en-US" sz="800" dirty="0"/>
          </a:p>
        </p:txBody>
      </p:sp>
      <p:sp>
        <p:nvSpPr>
          <p:cNvPr id="1036" name="Shape 34"/>
          <p:cNvSpPr/>
          <p:nvPr/>
        </p:nvSpPr>
        <p:spPr>
          <a:xfrm>
            <a:off x="3346704" y="45720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37" name="Text 35"/>
          <p:cNvSpPr txBox="1"/>
          <p:nvPr/>
        </p:nvSpPr>
        <p:spPr>
          <a:xfrm>
            <a:off x="3401568" y="4590288"/>
            <a:ext cx="1307592" cy="832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환류 담당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결과를 학습 데이터화, 재학습·재평가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센터 기술지원 + 기업</a:t>
            </a:r>
            <a:endParaRPr lang="en-US" sz="800" dirty="0"/>
          </a:p>
        </p:txBody>
      </p:sp>
      <p:sp>
        <p:nvSpPr>
          <p:cNvPr id="1038" name="Shape 36"/>
          <p:cNvSpPr/>
          <p:nvPr/>
        </p:nvSpPr>
        <p:spPr>
          <a:xfrm>
            <a:off x="5010912" y="4206240"/>
            <a:ext cx="4709160" cy="1325880"/>
          </a:xfrm>
          <a:prstGeom prst="roundRect">
            <a:avLst>
              <a:gd name="adj" fmla="val 4138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39" name="Shape 37"/>
          <p:cNvSpPr/>
          <p:nvPr/>
        </p:nvSpPr>
        <p:spPr>
          <a:xfrm>
            <a:off x="5148072" y="433425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0" name="Text 38"/>
          <p:cNvSpPr txBox="1"/>
          <p:nvPr/>
        </p:nvSpPr>
        <p:spPr>
          <a:xfrm>
            <a:off x="5257800" y="4288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피지컬 AI 시뮬레이션 검토 방향</a:t>
            </a:r>
            <a:endParaRPr lang="en-US" sz="1050" dirty="0"/>
          </a:p>
        </p:txBody>
      </p:sp>
      <p:sp>
        <p:nvSpPr>
          <p:cNvPr id="1041" name="Text 39"/>
          <p:cNvSpPr txBox="1"/>
          <p:nvPr/>
        </p:nvSpPr>
        <p:spPr>
          <a:xfrm>
            <a:off x="5148072" y="4572000"/>
            <a:ext cx="4434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확인: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항만 장비(자율하역·무인이송) 수요 예상, 실제 수요는 수요조사로 확인</a:t>
            </a:r>
            <a:endParaRPr lang="en-US" sz="820" dirty="0"/>
          </a:p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구성: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렌더링용 GPU가 별도로 필요 → 과제 5 자원 구성에 반영</a:t>
            </a:r>
            <a:endParaRPr lang="en-US" sz="820" dirty="0"/>
          </a:p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연계 우선: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디지털트윈 인프라와 중복 확인 후 연계 우선</a:t>
            </a:r>
            <a:endParaRPr lang="en-US" sz="820" dirty="0"/>
          </a:p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판단: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대표과제·수요 확인 후 3단계에서 연계 또는 자체 도입 결정</a:t>
            </a:r>
            <a:endParaRPr lang="en-US" sz="820" dirty="0"/>
          </a:p>
        </p:txBody>
      </p:sp>
      <p:sp>
        <p:nvSpPr>
          <p:cNvPr id="1042" name="Shape 40"/>
          <p:cNvSpPr/>
          <p:nvPr/>
        </p:nvSpPr>
        <p:spPr>
          <a:xfrm>
            <a:off x="192024" y="5623560"/>
            <a:ext cx="952804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3" name="Shape 41"/>
          <p:cNvSpPr/>
          <p:nvPr/>
        </p:nvSpPr>
        <p:spPr>
          <a:xfrm>
            <a:off x="329184" y="5948172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4" name="Text 42"/>
          <p:cNvSpPr txBox="1"/>
          <p:nvPr/>
        </p:nvSpPr>
        <p:spPr>
          <a:xfrm>
            <a:off x="438912" y="56235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단계별 도입</a:t>
            </a:r>
            <a:endParaRPr lang="en-US" sz="1050" dirty="0"/>
          </a:p>
        </p:txBody>
      </p:sp>
      <p:sp>
        <p:nvSpPr>
          <p:cNvPr id="1045" name="Shape 43"/>
          <p:cNvSpPr/>
          <p:nvPr/>
        </p:nvSpPr>
        <p:spPr>
          <a:xfrm>
            <a:off x="1517904" y="5733288"/>
            <a:ext cx="2734056" cy="557784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46" name="Text 44"/>
          <p:cNvSpPr txBox="1"/>
          <p:nvPr/>
        </p:nvSpPr>
        <p:spPr>
          <a:xfrm>
            <a:off x="1792224" y="57332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(개소)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도구 5종</a:t>
            </a:r>
            <a:endParaRPr lang="en-US" sz="850" dirty="0"/>
          </a:p>
        </p:txBody>
      </p:sp>
      <p:sp>
        <p:nvSpPr>
          <p:cNvPr id="1047" name="Shape 45"/>
          <p:cNvSpPr/>
          <p:nvPr/>
        </p:nvSpPr>
        <p:spPr>
          <a:xfrm>
            <a:off x="4206240" y="5733288"/>
            <a:ext cx="2734056" cy="557784"/>
          </a:xfrm>
          <a:prstGeom prst="chevron">
            <a:avLst/>
          </a:prstGeom>
          <a:solidFill>
            <a:srgbClr val="15803D"/>
          </a:solidFill>
          <a:ln/>
        </p:spPr>
      </p:sp>
      <p:sp>
        <p:nvSpPr>
          <p:cNvPr id="1048" name="Text 46"/>
          <p:cNvSpPr txBox="1"/>
          <p:nvPr/>
        </p:nvSpPr>
        <p:spPr>
          <a:xfrm>
            <a:off x="4480560" y="57332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최적화 · NPU 툴체인 (서비스 검증 수요 확인 시)</a:t>
            </a:r>
            <a:endParaRPr lang="en-US" sz="850" dirty="0"/>
          </a:p>
        </p:txBody>
      </p:sp>
      <p:sp>
        <p:nvSpPr>
          <p:cNvPr id="1049" name="Shape 47"/>
          <p:cNvSpPr/>
          <p:nvPr/>
        </p:nvSpPr>
        <p:spPr>
          <a:xfrm>
            <a:off x="6894576" y="5733288"/>
            <a:ext cx="2734056" cy="557784"/>
          </a:xfrm>
          <a:prstGeom prst="chevron">
            <a:avLst/>
          </a:prstGeom>
          <a:solidFill>
            <a:srgbClr val="7C3AED"/>
          </a:solidFill>
          <a:ln/>
        </p:spPr>
      </p:sp>
      <p:sp>
        <p:nvSpPr>
          <p:cNvPr id="1050" name="Text 48"/>
          <p:cNvSpPr txBox="1"/>
          <p:nvPr/>
        </p:nvSpPr>
        <p:spPr>
          <a:xfrm>
            <a:off x="7168896" y="57332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· 디지털트윈 (수요 확인 후 도입)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⑨ AI 개발·실증 도구 구성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개발·실증 도구 구성 추진 프레임워크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AI 개발·실증 도구 구성 프레임워크(안) 및 핵심 검토사항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5788152" y="1883664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도입 우선순위 평가 기준: 수요 · 비용 · 운영 난이도 · 차별성</a:t>
            </a:r>
            <a:endParaRPr lang="en-US" sz="750" dirty="0"/>
          </a:p>
        </p:txBody>
      </p:sp>
      <p:sp>
        <p:nvSpPr>
          <p:cNvPr id="1007" name="Shape 5"/>
          <p:cNvSpPr/>
          <p:nvPr/>
        </p:nvSpPr>
        <p:spPr>
          <a:xfrm>
            <a:off x="329184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8" name="Shape 6"/>
          <p:cNvSpPr/>
          <p:nvPr/>
        </p:nvSpPr>
        <p:spPr>
          <a:xfrm>
            <a:off x="329184" y="2157984"/>
            <a:ext cx="3023616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9" name="Text 7"/>
          <p:cNvSpPr txBox="1"/>
          <p:nvPr/>
        </p:nvSpPr>
        <p:spPr>
          <a:xfrm>
            <a:off x="402336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 : 도구 수요 파악</a:t>
            </a:r>
            <a:endParaRPr lang="en-US" sz="950" dirty="0"/>
          </a:p>
        </p:txBody>
      </p:sp>
      <p:sp>
        <p:nvSpPr>
          <p:cNvPr id="1010" name="Shape 8"/>
          <p:cNvSpPr/>
          <p:nvPr/>
        </p:nvSpPr>
        <p:spPr>
          <a:xfrm>
            <a:off x="402336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402336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 반영 ➔ 도구 수요 분석 ➔ 구성 초안</a:t>
            </a:r>
            <a:endParaRPr lang="en-US" sz="850" dirty="0"/>
          </a:p>
        </p:txBody>
      </p:sp>
      <p:sp>
        <p:nvSpPr>
          <p:cNvPr id="1012" name="Text 10"/>
          <p:cNvSpPr txBox="1"/>
          <p:nvPr/>
        </p:nvSpPr>
        <p:spPr>
          <a:xfrm>
            <a:off x="402336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13" name="Text 11"/>
          <p:cNvSpPr txBox="1"/>
          <p:nvPr/>
        </p:nvSpPr>
        <p:spPr>
          <a:xfrm>
            <a:off x="402336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문항: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에이전트·시뮬레이션·NPU 도구 수요 문항 반영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비교: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AI 지원 플랫폼 도구 구성 비교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초안: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/ 분야별 선택 구분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3444240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15" name="Shape 13"/>
          <p:cNvSpPr/>
          <p:nvPr/>
        </p:nvSpPr>
        <p:spPr>
          <a:xfrm>
            <a:off x="3444240" y="2157984"/>
            <a:ext cx="3023616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16" name="Text 14"/>
          <p:cNvSpPr txBox="1"/>
          <p:nvPr/>
        </p:nvSpPr>
        <p:spPr>
          <a:xfrm>
            <a:off x="3517392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02 : PoC 적용·검증</a:t>
            </a:r>
            <a:endParaRPr lang="en-US" sz="950" dirty="0"/>
          </a:p>
        </p:txBody>
      </p:sp>
      <p:sp>
        <p:nvSpPr>
          <p:cNvPr id="1017" name="Shape 15"/>
          <p:cNvSpPr/>
          <p:nvPr/>
        </p:nvSpPr>
        <p:spPr>
          <a:xfrm>
            <a:off x="3517392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3517392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도구 적용 ➔ HITL 시범 ➔ 효과 확인</a:t>
            </a:r>
            <a:endParaRPr lang="en-US" sz="850" dirty="0"/>
          </a:p>
        </p:txBody>
      </p:sp>
      <p:sp>
        <p:nvSpPr>
          <p:cNvPr id="1019" name="Text 17"/>
          <p:cNvSpPr txBox="1"/>
          <p:nvPr/>
        </p:nvSpPr>
        <p:spPr>
          <a:xfrm>
            <a:off x="3517392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0" name="Text 18"/>
          <p:cNvSpPr txBox="1"/>
          <p:nvPr/>
        </p:nvSpPr>
        <p:spPr>
          <a:xfrm>
            <a:off x="3517392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적용: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 PoC에 공통 도구 적용·검증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시범: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검토·환류 절차 시범 적용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필요성 확인: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도구(NPU·시뮬레이션) 필요성 확인</a:t>
            </a:r>
            <a:endParaRPr lang="en-US" sz="830" dirty="0"/>
          </a:p>
        </p:txBody>
      </p:sp>
      <p:sp>
        <p:nvSpPr>
          <p:cNvPr id="1021" name="Shape 19"/>
          <p:cNvSpPr/>
          <p:nvPr/>
        </p:nvSpPr>
        <p:spPr>
          <a:xfrm>
            <a:off x="6559296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2" name="Shape 20"/>
          <p:cNvSpPr/>
          <p:nvPr/>
        </p:nvSpPr>
        <p:spPr>
          <a:xfrm>
            <a:off x="6559296" y="2157984"/>
            <a:ext cx="302361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23" name="Text 21"/>
          <p:cNvSpPr txBox="1"/>
          <p:nvPr/>
        </p:nvSpPr>
        <p:spPr>
          <a:xfrm>
            <a:off x="6632448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 : 도입 계획 확정</a:t>
            </a:r>
            <a:endParaRPr lang="en-US" sz="950" dirty="0"/>
          </a:p>
        </p:txBody>
      </p:sp>
      <p:sp>
        <p:nvSpPr>
          <p:cNvPr id="1024" name="Shape 22"/>
          <p:cNvSpPr/>
          <p:nvPr/>
        </p:nvSpPr>
        <p:spPr>
          <a:xfrm>
            <a:off x="6632448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6632448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평가 ➔ 단계별 도입 ➔ RFP 반영</a:t>
            </a:r>
            <a:endParaRPr lang="en-US" sz="850" dirty="0"/>
          </a:p>
        </p:txBody>
      </p:sp>
      <p:sp>
        <p:nvSpPr>
          <p:cNvPr id="1026" name="Text 24"/>
          <p:cNvSpPr txBox="1"/>
          <p:nvPr/>
        </p:nvSpPr>
        <p:spPr>
          <a:xfrm>
            <a:off x="6632448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7" name="Text 25"/>
          <p:cNvSpPr txBox="1"/>
          <p:nvPr/>
        </p:nvSpPr>
        <p:spPr>
          <a:xfrm>
            <a:off x="6632448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수요·비용·운영 난이도·차별성 평가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역할: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담당 인력을 과제 10 인력 산정에 반영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반영: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로드맵·조달·RFP 요건에 도입 순서 반영</a:t>
            </a:r>
            <a:endParaRPr lang="en-US" sz="830" dirty="0"/>
          </a:p>
        </p:txBody>
      </p:sp>
      <p:sp>
        <p:nvSpPr>
          <p:cNvPr id="1028" name="Shape 26"/>
          <p:cNvSpPr/>
          <p:nvPr/>
        </p:nvSpPr>
        <p:spPr>
          <a:xfrm>
            <a:off x="192024" y="3813048"/>
            <a:ext cx="9528048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3941064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3개월 단계별 추진 일정 계획 (WBS &amp; 마일스톤)</a:t>
            </a:r>
            <a:endParaRPr lang="en-US" sz="1050" dirty="0"/>
          </a:p>
        </p:txBody>
      </p:sp>
      <p:graphicFrame>
        <p:nvGraphicFramePr>
          <p:cNvPr id="10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4187952"/>
          <a:ext cx="9235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49040"/>
                <a:gridCol w="2057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추진 단계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추진 내용 (검토 활동)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단계별 마일스톤 (산출물)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1개월차 (M1)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 수요 파악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수요조사에 도구 수요 문항 반영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AI 지원 플랫폼 도구 구성 비교, 구성안 초안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[M1] 도구 구성(안) 초안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필수 / 분야별 선택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2개월차 (M2)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적용·검증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 PoC에서 공통 도구 적용·검증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HITL 절차 시범 적용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[M2] 도구 적용 검증 결과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적용 리포트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3개월차 (M3)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계획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우선순위 평가, 단계별 도입 계획 수립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HITL 운영 역할·인력 정리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[M3] 중간보고 결과물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 구성안·운영 역할·우선순위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2" name="Text 29"/>
          <p:cNvSpPr txBox="1"/>
          <p:nvPr/>
        </p:nvSpPr>
        <p:spPr>
          <a:xfrm>
            <a:off x="54041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830" dirty="0"/>
          </a:p>
        </p:txBody>
      </p:sp>
      <p:sp>
        <p:nvSpPr>
          <p:cNvPr id="1033" name="Text 30"/>
          <p:cNvSpPr txBox="1"/>
          <p:nvPr/>
        </p:nvSpPr>
        <p:spPr>
          <a:xfrm>
            <a:off x="60899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</a:t>
            </a:r>
            <a:endParaRPr lang="en-US" sz="830" dirty="0"/>
          </a:p>
        </p:txBody>
      </p:sp>
      <p:sp>
        <p:nvSpPr>
          <p:cNvPr id="1034" name="Text 31"/>
          <p:cNvSpPr txBox="1"/>
          <p:nvPr/>
        </p:nvSpPr>
        <p:spPr>
          <a:xfrm>
            <a:off x="67757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</a:t>
            </a:r>
            <a:endParaRPr lang="en-US" sz="830" dirty="0"/>
          </a:p>
        </p:txBody>
      </p:sp>
      <p:sp>
        <p:nvSpPr>
          <p:cNvPr id="1035" name="Shape 32"/>
          <p:cNvSpPr/>
          <p:nvPr/>
        </p:nvSpPr>
        <p:spPr>
          <a:xfrm>
            <a:off x="5458968" y="4654296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36" name="Text 33"/>
          <p:cNvSpPr txBox="1"/>
          <p:nvPr/>
        </p:nvSpPr>
        <p:spPr>
          <a:xfrm>
            <a:off x="5458968" y="46542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파악</a:t>
            </a:r>
            <a:endParaRPr lang="en-US" sz="700" dirty="0"/>
          </a:p>
        </p:txBody>
      </p:sp>
      <p:sp>
        <p:nvSpPr>
          <p:cNvPr id="1037" name="Shape 34"/>
          <p:cNvSpPr/>
          <p:nvPr/>
        </p:nvSpPr>
        <p:spPr>
          <a:xfrm>
            <a:off x="6144768" y="5276088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6144768" y="5276088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적용</a:t>
            </a:r>
            <a:endParaRPr lang="en-US" sz="700" dirty="0"/>
          </a:p>
        </p:txBody>
      </p:sp>
      <p:sp>
        <p:nvSpPr>
          <p:cNvPr id="1039" name="Shape 36"/>
          <p:cNvSpPr/>
          <p:nvPr/>
        </p:nvSpPr>
        <p:spPr>
          <a:xfrm>
            <a:off x="6830568" y="5897880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6830568" y="58978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중간보고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돋움체 Medium">
      <a:majorFont>
        <a:latin typeface="KoPub돋움체 Medium"/>
        <a:ea typeface="KoPub돋움체 Medium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>
              <a:lumMod val="50000"/>
              <a:lumOff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square" lIns="36000" tIns="0" rIns="36000" bIns="0" anchor="ctr">
        <a:spAutoFit/>
      </a:bodyPr>
      <a:lstStyle>
        <a:defPPr marL="0" marR="0" indent="0" defTabSz="1474788" eaLnBrk="1" fontAlgn="auto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>
            <a:srgbClr val="D00F37"/>
          </a:buClr>
          <a:buSzTx/>
          <a:buFont typeface="Wingdings" pitchFamily="2" charset="2"/>
          <a:buNone/>
          <a:tabLst/>
          <a:defRPr kumimoji="0" sz="2000" b="0" i="0" u="none" strike="noStrike" kern="0" cap="none" spc="-50" normalizeH="0" baseline="0" noProof="0" dirty="0" smtClean="0">
            <a:ln>
              <a:solidFill>
                <a:prstClr val="white">
                  <a:lumMod val="85000"/>
                  <a:alpha val="0"/>
                </a:prstClr>
              </a:solidFill>
            </a:ln>
            <a:solidFill>
              <a:prstClr val="white"/>
            </a:solidFill>
            <a:effectLst/>
            <a:uLnTx/>
            <a:uFillTx/>
            <a:latin typeface="KoPub돋움체 Bold" panose="00000800000000000000" pitchFamily="2" charset="-127"/>
            <a:ea typeface="KoPub돋움체 Bold" panose="000008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23418</TotalTime>
  <Words>5252</Words>
  <Application>Microsoft Office PowerPoint</Application>
  <PresentationFormat>A4 용지(210x297mm)</PresentationFormat>
  <Paragraphs>464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5" baseType="lpstr">
      <vt:lpstr>페이퍼로지 6 SemiBold</vt:lpstr>
      <vt:lpstr>Arial</vt:lpstr>
      <vt:lpstr>Wingdings</vt:lpstr>
      <vt:lpstr>페이퍼로지 3 Light</vt:lpstr>
      <vt:lpstr>페이퍼로지 8 ExtraBold</vt:lpstr>
      <vt:lpstr>맑은 고딕</vt:lpstr>
      <vt:lpstr>KoPub바탕체 Medium</vt:lpstr>
      <vt:lpstr>KoPub돋움체 Bold</vt:lpstr>
      <vt:lpstr>Calibri</vt:lpstr>
      <vt:lpstr>Wingdings 2</vt:lpstr>
      <vt:lpstr>High Tower Text</vt:lpstr>
      <vt:lpstr>Noto Sans KR</vt:lpstr>
      <vt:lpstr>페이퍼로지 4 Regular</vt:lpstr>
      <vt:lpstr>페이퍼로지 5 Medium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 kwiok</dc:creator>
  <cp:lastModifiedBy>YeongSeong Yang</cp:lastModifiedBy>
  <cp:revision>2156</cp:revision>
  <cp:lastPrinted>2021-10-11T06:52:00Z</cp:lastPrinted>
  <dcterms:created xsi:type="dcterms:W3CDTF">2021-03-01T02:00:52Z</dcterms:created>
  <dcterms:modified xsi:type="dcterms:W3CDTF">2026-09-30T02:26:45Z</dcterms:modified>
</cp:coreProperties>
</file>