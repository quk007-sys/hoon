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5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0" r:id="rId1"/>
    <p:sldMasterId id="2147483688" r:id="rId2"/>
  </p:sldMasterIdLst>
  <p:notesMasterIdLst>
    <p:notesMasterId r:id="rId30"/>
  </p:notesMasterIdLst>
  <p:handoutMasterIdLst>
    <p:handoutMasterId r:id="rId31"/>
  </p:handoutMasterIdLst>
  <p:sldIdLst>
    <p:sldId id="314" r:id="rId3"/>
    <p:sldId id="257" r:id="rId4"/>
    <p:sldId id="258" r:id="rId5"/>
    <p:sldId id="339" r:id="rId42"/>
    <p:sldId id="340" r:id="rId43"/>
    <p:sldId id="290" r:id="rId10"/>
    <p:sldId id="288" r:id="rId8"/>
    <p:sldId id="338" r:id="rId11"/>
    <p:sldId id="334" r:id="rId14"/>
    <p:sldId id="316" r:id="rId15"/>
    <p:sldId id="319" r:id="rId16"/>
    <p:sldId id="326" r:id="rId24"/>
    <p:sldId id="330" r:id="rId27"/>
    <p:sldId id="293" r:id="rId13"/>
    <p:sldId id="341" r:id="rId44"/>
    <p:sldId id="342" r:id="rId45"/>
    <p:sldId id="343" r:id="rId46"/>
    <p:sldId id="344" r:id="rId47"/>
    <p:sldId id="345" r:id="rId48"/>
    <p:sldId id="346" r:id="rId49"/>
    <p:sldId id="347" r:id="rId50"/>
    <p:sldId id="348" r:id="rId51"/>
    <p:sldId id="337" r:id="rId25"/>
    <p:sldId id="349" r:id="rId52"/>
    <p:sldId id="350" r:id="rId53"/>
    <p:sldId id="351" r:id="rId54"/>
    <p:sldId id="352" r:id="rId55"/>
    <p:sldId id="277" r:id="rId29"/>
  </p:sldIdLst>
  <p:sldSz cx="9906000" cy="6858000" type="A4"/>
  <p:notesSz cx="6858000" cy="12192000"/>
  <p:embeddedFontLst>
    <p:embeddedFont>
      <p:font typeface="나눔스퀘어" panose="020B0600000101010101" pitchFamily="34" charset="-127"/>
      <p:regular r:id="rId32"/>
    </p:embeddedFont>
    <p:embeddedFont>
      <p:font typeface="나눔스퀘어 Bold" panose="020B0600000101010101" pitchFamily="34" charset="-127"/>
      <p:bold r:id="rId33"/>
    </p:embeddedFont>
    <p:embeddedFont>
      <p:font typeface="나눔스퀘어 ExtraBold" panose="020B0600000101010101" pitchFamily="34" charset="-127"/>
      <p:bold r:id="rId34"/>
    </p:embeddedFont>
    <p:embeddedFont>
      <p:font typeface="나눔스퀘어 Light" panose="020B0600000101010101" pitchFamily="34" charset="-127"/>
      <p:regular r:id="rId35"/>
    </p:embeddedFont>
    <p:embeddedFont>
      <p:font typeface="맑은 고딕" panose="020B0503020000020004" pitchFamily="34" charset="-127"/>
      <p:regular r:id="rId36"/>
      <p:bold r:id="rId37"/>
    </p:embeddedFont>
    <p:embeddedFont>
      <p:font typeface="맑은 고딕" panose="020B0503020000020004" pitchFamily="34" charset="-127"/>
      <p:regular r:id="rId36"/>
      <p:bold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8204"/>
    <a:srgbClr val="10111E"/>
    <a:srgbClr val="000E2A"/>
    <a:srgbClr val="505557"/>
    <a:srgbClr val="F7F9FB"/>
    <a:srgbClr val="0D0E0B"/>
    <a:srgbClr val="F1F4F9"/>
    <a:srgbClr val="F5F7F8"/>
    <a:srgbClr val="F7F8FA"/>
    <a:srgbClr val="F4F4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52" autoAdjust="0"/>
    <p:restoredTop sz="94660"/>
  </p:normalViewPr>
  <p:slideViewPr>
    <p:cSldViewPr snapToGrid="0">
      <p:cViewPr varScale="1">
        <p:scale>
          <a:sx n="96" d="100"/>
          <a:sy n="96" d="100"/>
        </p:scale>
        <p:origin x="16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3534" y="10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8" Type="http://schemas.openxmlformats.org/officeDocument/2006/relationships/slide" Target="slides/slide6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7" Type="http://schemas.openxmlformats.org/officeDocument/2006/relationships/slide" Target="slides/slide25.xml"/><Relationship Id="rId29" Type="http://schemas.openxmlformats.org/officeDocument/2006/relationships/slide" Target="slides/slide27.xml"/><Relationship Id="rId30" Type="http://schemas.openxmlformats.org/officeDocument/2006/relationships/notesMaster" Target="notesMasters/notesMaster1.xml"/><Relationship Id="rId31" Type="http://schemas.openxmlformats.org/officeDocument/2006/relationships/handoutMaster" Target="handoutMasters/handoutMaster1.xml"/><Relationship Id="rId32" Type="http://schemas.openxmlformats.org/officeDocument/2006/relationships/font" Target="fonts/font1.fntdata"/><Relationship Id="rId33" Type="http://schemas.openxmlformats.org/officeDocument/2006/relationships/font" Target="fonts/font2.fntdata"/><Relationship Id="rId34" Type="http://schemas.openxmlformats.org/officeDocument/2006/relationships/font" Target="fonts/font3.fntdata"/><Relationship Id="rId35" Type="http://schemas.openxmlformats.org/officeDocument/2006/relationships/font" Target="fonts/font4.fntdata"/><Relationship Id="rId36" Type="http://schemas.openxmlformats.org/officeDocument/2006/relationships/font" Target="fonts/font5.fntdata"/><Relationship Id="rId37" Type="http://schemas.openxmlformats.org/officeDocument/2006/relationships/font" Target="fonts/font6.fntdata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Relationship Id="rId42" Type="http://schemas.openxmlformats.org/officeDocument/2006/relationships/slide" Target="slides/slide28.xml"/><Relationship Id="rId43" Type="http://schemas.openxmlformats.org/officeDocument/2006/relationships/slide" Target="slides/slide29.xml"/><Relationship Id="rId44" Type="http://schemas.openxmlformats.org/officeDocument/2006/relationships/slide" Target="slides/slide30.xml"/><Relationship Id="rId45" Type="http://schemas.openxmlformats.org/officeDocument/2006/relationships/slide" Target="slides/slide31.xml"/><Relationship Id="rId46" Type="http://schemas.openxmlformats.org/officeDocument/2006/relationships/slide" Target="slides/slide32.xml"/><Relationship Id="rId47" Type="http://schemas.openxmlformats.org/officeDocument/2006/relationships/slide" Target="slides/slide33.xml"/><Relationship Id="rId48" Type="http://schemas.openxmlformats.org/officeDocument/2006/relationships/slide" Target="slides/slide34.xml"/><Relationship Id="rId49" Type="http://schemas.openxmlformats.org/officeDocument/2006/relationships/slide" Target="slides/slide35.xml"/><Relationship Id="rId50" Type="http://schemas.openxmlformats.org/officeDocument/2006/relationships/slide" Target="slides/slide36.xml"/><Relationship Id="rId51" Type="http://schemas.openxmlformats.org/officeDocument/2006/relationships/slide" Target="slides/slide37.xml"/><Relationship Id="rId52" Type="http://schemas.openxmlformats.org/officeDocument/2006/relationships/slide" Target="slides/slide38.xml"/><Relationship Id="rId53" Type="http://schemas.openxmlformats.org/officeDocument/2006/relationships/slide" Target="slides/slide39.xml"/><Relationship Id="rId54" Type="http://schemas.openxmlformats.org/officeDocument/2006/relationships/slide" Target="slides/slide40.xml"/><Relationship Id="rId55" Type="http://schemas.openxmlformats.org/officeDocument/2006/relationships/slide" Target="slides/slide4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Agent-X 즉시 활용</c:v>
                </c:pt>
              </c:strCache>
            </c:strRef>
          </c:tx>
          <c:spPr>
            <a:solidFill>
              <a:srgbClr val="E8592A"/>
            </a:solidFill>
          </c:spPr>
          <c:cat>
            <c:strRef>
              <c:f>Sheet1!$A$2:$A$14</c:f>
              <c:strCache>
                <c:ptCount val="13"/>
                <c:pt idx="0">
                  <c:v>통합 검증</c:v>
                </c:pt>
                <c:pt idx="1">
                  <c:v>보안 · 인프라</c:v>
                </c:pt>
                <c:pt idx="2">
                  <c:v>가드레일 · 신뢰도</c:v>
                </c:pt>
                <c:pt idx="3">
                  <c:v>질의응답 포털</c:v>
                </c:pt>
                <c:pt idx="4">
                  <c:v>오케스트레이션</c:v>
                </c:pt>
                <c:pt idx="5">
                  <c:v>비정형 RAG</c:v>
                </c:pt>
                <c:pt idx="6">
                  <c:v>Text-to-SQL</c:v>
                </c:pt>
                <c:pt idx="7">
                  <c:v>AI 인프라 · 서빙</c:v>
                </c:pt>
                <c:pt idx="8">
                  <c:v>파싱 예외 관리</c:v>
                </c:pt>
                <c:pt idx="9">
                  <c:v>정합성 검증</c:v>
                </c:pt>
                <c:pt idx="10">
                  <c:v>파서 · ETL</c:v>
                </c:pt>
                <c:pt idx="11">
                  <c:v>메타DB 설계</c:v>
                </c:pt>
                <c:pt idx="12">
                  <c:v>사업관리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0</c:v>
                </c:pt>
                <c:pt idx="1">
                  <c:v>1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Agent-X 기반 확장</c:v>
                </c:pt>
              </c:strCache>
            </c:strRef>
          </c:tx>
          <c:spPr>
            <a:solidFill>
              <a:srgbClr val="FD8204"/>
            </a:solidFill>
          </c:spPr>
          <c:dLbls>
            <c:numFmt formatCode="0;-0;;@" sourceLinked="0"/>
            <c:txPr>
              <a:bodyPr/>
              <a:lstStyle/>
              <a:p>
                <a:pPr>
                  <a:defRPr sz="900">
                    <a:solidFill>
                      <a:srgbClr val="FFFFFF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Sheet1!$A$2:$A$14</c:f>
              <c:strCache>
                <c:ptCount val="13"/>
                <c:pt idx="0">
                  <c:v>통합 검증</c:v>
                </c:pt>
                <c:pt idx="1">
                  <c:v>보안 · 인프라</c:v>
                </c:pt>
                <c:pt idx="2">
                  <c:v>가드레일 · 신뢰도</c:v>
                </c:pt>
                <c:pt idx="3">
                  <c:v>질의응답 포털</c:v>
                </c:pt>
                <c:pt idx="4">
                  <c:v>오케스트레이션</c:v>
                </c:pt>
                <c:pt idx="5">
                  <c:v>비정형 RAG</c:v>
                </c:pt>
                <c:pt idx="6">
                  <c:v>Text-to-SQL</c:v>
                </c:pt>
                <c:pt idx="7">
                  <c:v>AI 인프라 · 서빙</c:v>
                </c:pt>
                <c:pt idx="8">
                  <c:v>파싱 예외 관리</c:v>
                </c:pt>
                <c:pt idx="9">
                  <c:v>정합성 검증</c:v>
                </c:pt>
                <c:pt idx="10">
                  <c:v>파서 · ETL</c:v>
                </c:pt>
                <c:pt idx="11">
                  <c:v>메타DB 설계</c:v>
                </c:pt>
                <c:pt idx="12">
                  <c:v>사업관리</c:v>
                </c:pt>
              </c:strCache>
            </c: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0</c:v>
                </c:pt>
                <c:pt idx="1">
                  <c:v>4</c:v>
                </c:pt>
                <c:pt idx="2">
                  <c:v>2</c:v>
                </c:pt>
                <c:pt idx="3">
                  <c:v>3</c:v>
                </c:pt>
                <c:pt idx="4">
                  <c:v>2</c:v>
                </c:pt>
                <c:pt idx="5">
                  <c:v>2</c:v>
                </c:pt>
                <c:pt idx="6">
                  <c:v>3</c:v>
                </c:pt>
                <c:pt idx="7">
                  <c:v>5</c:v>
                </c:pt>
                <c:pt idx="8">
                  <c:v>1</c:v>
                </c:pt>
                <c:pt idx="9">
                  <c:v>1</c:v>
                </c:pt>
                <c:pt idx="10">
                  <c:v>4</c:v>
                </c:pt>
                <c:pt idx="11">
                  <c:v>1</c:v>
                </c:pt>
                <c:pt idx="12">
                  <c:v>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맞춤 구축</c:v>
                </c:pt>
              </c:strCache>
            </c:strRef>
          </c:tx>
          <c:spPr>
            <a:solidFill>
              <a:srgbClr val="8A867E"/>
            </a:solidFill>
          </c:spPr>
          <c:cat>
            <c:strRef>
              <c:f>Sheet1!$A$2:$A$14</c:f>
              <c:strCache>
                <c:ptCount val="13"/>
                <c:pt idx="0">
                  <c:v>통합 검증</c:v>
                </c:pt>
                <c:pt idx="1">
                  <c:v>보안 · 인프라</c:v>
                </c:pt>
                <c:pt idx="2">
                  <c:v>가드레일 · 신뢰도</c:v>
                </c:pt>
                <c:pt idx="3">
                  <c:v>질의응답 포털</c:v>
                </c:pt>
                <c:pt idx="4">
                  <c:v>오케스트레이션</c:v>
                </c:pt>
                <c:pt idx="5">
                  <c:v>비정형 RAG</c:v>
                </c:pt>
                <c:pt idx="6">
                  <c:v>Text-to-SQL</c:v>
                </c:pt>
                <c:pt idx="7">
                  <c:v>AI 인프라 · 서빙</c:v>
                </c:pt>
                <c:pt idx="8">
                  <c:v>파싱 예외 관리</c:v>
                </c:pt>
                <c:pt idx="9">
                  <c:v>정합성 검증</c:v>
                </c:pt>
                <c:pt idx="10">
                  <c:v>파서 · ETL</c:v>
                </c:pt>
                <c:pt idx="11">
                  <c:v>메타DB 설계</c:v>
                </c:pt>
                <c:pt idx="12">
                  <c:v>사업관리</c:v>
                </c:pt>
              </c:strCache>
            </c: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2</c:v>
                </c:pt>
                <c:pt idx="1">
                  <c:v>0</c:v>
                </c:pt>
                <c:pt idx="2">
                  <c:v>1</c:v>
                </c:pt>
                <c:pt idx="3">
                  <c:v>1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1</c:v>
                </c:pt>
                <c:pt idx="8">
                  <c:v>2</c:v>
                </c:pt>
                <c:pt idx="9">
                  <c:v>4</c:v>
                </c:pt>
                <c:pt idx="10">
                  <c:v>4</c:v>
                </c:pt>
                <c:pt idx="11">
                  <c:v>3</c:v>
                </c:pt>
                <c:pt idx="12">
                  <c:v>4</c:v>
                </c:pt>
              </c:numCache>
            </c:numRef>
          </c:val>
        </c:ser>
        <c:dLbls>
          <c:numFmt formatCode="0;-0;;@" sourceLinked="0"/>
          <c:txPr>
            <a:bodyPr/>
            <a:lstStyle/>
            <a:p>
              <a:pPr>
                <a:defRPr sz="900">
                  <a:solidFill>
                    <a:srgbClr val="FFFFFF"/>
                  </a:solidFill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7E4DE"/>
            </a:solidFill>
          </a:ln>
        </c:spPr>
        <c:txPr>
          <a:bodyPr/>
          <a:lstStyle/>
          <a:p>
            <a:pPr>
              <a:defRPr sz="950">
                <a:solidFill>
                  <a:srgbClr val="3A362F"/>
                </a:solidFill>
                <a:latin typeface="나눔스퀘어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950">
              <a:solidFill>
                <a:srgbClr val="3A362F"/>
              </a:solidFill>
              <a:latin typeface="나눔스퀘어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CD2FC74E-9B4B-A525-788E-536BFC218B1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399EABF-AC63-049C-772E-5DB6E8C903F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1F2AA4-286E-446A-AF2D-83A50D3954FB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26E3C0D-9B1E-DB87-63B8-CA08DD77D56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D7377B2-F680-5DC1-E343-B24018BEEBC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335A72-E91E-4DD2-AEFF-10E2EB397D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89458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ko-KR" altLang="en-US"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ko-KR" altLang="en-US" dirty="0"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ko-KR" altLang="en-US" dirty="0"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>
              <a:defRPr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algn="r"/>
            <a:fld id="{00000000-1234-1234-1234-123412341234}" type="slidenum">
              <a:rPr lang="en-US" sz="1200" smtClean="0">
                <a:solidFill>
                  <a:schemeClr val="dk1"/>
                </a:solidFill>
                <a:cs typeface="Calibri"/>
                <a:sym typeface="Calibri"/>
              </a:rPr>
              <a:pPr algn="r"/>
              <a:t>‹#›</a:t>
            </a:fld>
            <a:endParaRPr lang="en-US" sz="1200" dirty="0">
              <a:solidFill>
                <a:schemeClr val="dk1"/>
              </a:solidFill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나눔스퀘어" panose="020B0600000101010101" pitchFamily="50" charset="-127"/>
        <a:ea typeface="나눔스퀘어" panose="020B0600000101010101" pitchFamily="50" charset="-127"/>
        <a:cs typeface="Arial"/>
        <a:sym typeface="Arial"/>
      </a:defRPr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>
          <a:extLst>
            <a:ext uri="{FF2B5EF4-FFF2-40B4-BE49-F238E27FC236}">
              <a16:creationId xmlns:a16="http://schemas.microsoft.com/office/drawing/2014/main" id="{027B7AAD-4A95-B57F-FD51-BFECE2F67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>
            <a:extLst>
              <a:ext uri="{FF2B5EF4-FFF2-40B4-BE49-F238E27FC236}">
                <a16:creationId xmlns:a16="http://schemas.microsoft.com/office/drawing/2014/main" id="{E56A7B33-13EE-CCF7-3732-A628031881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Google Shape;13;p1:notes">
            <a:extLst>
              <a:ext uri="{FF2B5EF4-FFF2-40B4-BE49-F238E27FC236}">
                <a16:creationId xmlns:a16="http://schemas.microsoft.com/office/drawing/2014/main" id="{DB385EFE-BDA9-24EE-F74E-4ED0F84228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4" name="Google Shape;14;p1:notes">
            <a:extLst>
              <a:ext uri="{FF2B5EF4-FFF2-40B4-BE49-F238E27FC236}">
                <a16:creationId xmlns:a16="http://schemas.microsoft.com/office/drawing/2014/main" id="{048AFAF9-D23D-4A26-709D-02A3D0579EA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68150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Google Shape;2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3" name="Google Shape;23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Google Shape;4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7" name="Google Shape;47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66EC7873-356D-3205-769C-774357457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:notes">
            <a:extLst>
              <a:ext uri="{FF2B5EF4-FFF2-40B4-BE49-F238E27FC236}">
                <a16:creationId xmlns:a16="http://schemas.microsoft.com/office/drawing/2014/main" id="{0E9D0A42-413B-7086-FFA6-7FD3C800DC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5" name="Google Shape;105;p6:notes">
            <a:extLst>
              <a:ext uri="{FF2B5EF4-FFF2-40B4-BE49-F238E27FC236}">
                <a16:creationId xmlns:a16="http://schemas.microsoft.com/office/drawing/2014/main" id="{E8AA286B-166C-9B4D-4822-BC8A0F45A4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06" name="Google Shape;106;p6:notes">
            <a:extLst>
              <a:ext uri="{FF2B5EF4-FFF2-40B4-BE49-F238E27FC236}">
                <a16:creationId xmlns:a16="http://schemas.microsoft.com/office/drawing/2014/main" id="{24C59E84-B5A7-C1A3-5645-8E405C18F1D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130705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">
          <a:extLst>
            <a:ext uri="{FF2B5EF4-FFF2-40B4-BE49-F238E27FC236}">
              <a16:creationId xmlns:a16="http://schemas.microsoft.com/office/drawing/2014/main" id="{76E730C1-12AB-921D-6C18-401D357F8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:notes">
            <a:extLst>
              <a:ext uri="{FF2B5EF4-FFF2-40B4-BE49-F238E27FC236}">
                <a16:creationId xmlns:a16="http://schemas.microsoft.com/office/drawing/2014/main" id="{E208DFD1-3903-46FD-07CE-664A90E51B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Google Shape;46;p3:notes">
            <a:extLst>
              <a:ext uri="{FF2B5EF4-FFF2-40B4-BE49-F238E27FC236}">
                <a16:creationId xmlns:a16="http://schemas.microsoft.com/office/drawing/2014/main" id="{996B2CBA-4325-7611-BDD1-8309C6B467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7" name="Google Shape;47;p3:notes">
            <a:extLst>
              <a:ext uri="{FF2B5EF4-FFF2-40B4-BE49-F238E27FC236}">
                <a16:creationId xmlns:a16="http://schemas.microsoft.com/office/drawing/2014/main" id="{4637E81F-FC41-5A76-467E-054CDC968B4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475189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>
          <a:extLst>
            <a:ext uri="{FF2B5EF4-FFF2-40B4-BE49-F238E27FC236}">
              <a16:creationId xmlns:a16="http://schemas.microsoft.com/office/drawing/2014/main" id="{8EBE18CD-EED4-F933-2990-120FA10AC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9:notes">
            <a:extLst>
              <a:ext uri="{FF2B5EF4-FFF2-40B4-BE49-F238E27FC236}">
                <a16:creationId xmlns:a16="http://schemas.microsoft.com/office/drawing/2014/main" id="{3F21354D-31D1-1E3C-C1A2-E815196F5C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5" name="Google Shape;175;p9:notes">
            <a:extLst>
              <a:ext uri="{FF2B5EF4-FFF2-40B4-BE49-F238E27FC236}">
                <a16:creationId xmlns:a16="http://schemas.microsoft.com/office/drawing/2014/main" id="{5AF90583-E969-B967-2A94-08CC41E2D9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76" name="Google Shape;176;p9:notes">
            <a:extLst>
              <a:ext uri="{FF2B5EF4-FFF2-40B4-BE49-F238E27FC236}">
                <a16:creationId xmlns:a16="http://schemas.microsoft.com/office/drawing/2014/main" id="{11A75773-02CE-34E9-1886-6380DF7AE67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419696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">
          <a:extLst>
            <a:ext uri="{FF2B5EF4-FFF2-40B4-BE49-F238E27FC236}">
              <a16:creationId xmlns:a16="http://schemas.microsoft.com/office/drawing/2014/main" id="{FAD4BE21-5375-F569-7F07-95B25DB51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:notes">
            <a:extLst>
              <a:ext uri="{FF2B5EF4-FFF2-40B4-BE49-F238E27FC236}">
                <a16:creationId xmlns:a16="http://schemas.microsoft.com/office/drawing/2014/main" id="{F0405791-47FA-9FA5-58C6-80FA5C22A0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Google Shape;46;p3:notes">
            <a:extLst>
              <a:ext uri="{FF2B5EF4-FFF2-40B4-BE49-F238E27FC236}">
                <a16:creationId xmlns:a16="http://schemas.microsoft.com/office/drawing/2014/main" id="{5C235EDD-3643-C078-B711-FCBDE40A96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7" name="Google Shape;47;p3:notes">
            <a:extLst>
              <a:ext uri="{FF2B5EF4-FFF2-40B4-BE49-F238E27FC236}">
                <a16:creationId xmlns:a16="http://schemas.microsoft.com/office/drawing/2014/main" id="{4CC149B9-83E3-DCC0-0EF0-DAC1D27BF81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005750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>
          <a:extLst>
            <a:ext uri="{FF2B5EF4-FFF2-40B4-BE49-F238E27FC236}">
              <a16:creationId xmlns:a16="http://schemas.microsoft.com/office/drawing/2014/main" id="{6CC1C10C-15CF-5EE4-4FE3-654215FC6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1:notes">
            <a:extLst>
              <a:ext uri="{FF2B5EF4-FFF2-40B4-BE49-F238E27FC236}">
                <a16:creationId xmlns:a16="http://schemas.microsoft.com/office/drawing/2014/main" id="{02213091-4D8E-6C6E-02C4-5013241A46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3" name="Google Shape;223;p11:notes">
            <a:extLst>
              <a:ext uri="{FF2B5EF4-FFF2-40B4-BE49-F238E27FC236}">
                <a16:creationId xmlns:a16="http://schemas.microsoft.com/office/drawing/2014/main" id="{26A99846-64F9-03EA-25D5-7E024A2EC2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24" name="Google Shape;224;p11:notes">
            <a:extLst>
              <a:ext uri="{FF2B5EF4-FFF2-40B4-BE49-F238E27FC236}">
                <a16:creationId xmlns:a16="http://schemas.microsoft.com/office/drawing/2014/main" id="{DC21C427-B3C6-4939-7274-AD33CB2943D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743524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>
          <a:extLst>
            <a:ext uri="{FF2B5EF4-FFF2-40B4-BE49-F238E27FC236}">
              <a16:creationId xmlns:a16="http://schemas.microsoft.com/office/drawing/2014/main" id="{40E224C4-F11D-E828-2EE4-2244E0F1C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1:notes">
            <a:extLst>
              <a:ext uri="{FF2B5EF4-FFF2-40B4-BE49-F238E27FC236}">
                <a16:creationId xmlns:a16="http://schemas.microsoft.com/office/drawing/2014/main" id="{CED95B58-15AE-4C21-446D-172A37344D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3" name="Google Shape;223;p11:notes">
            <a:extLst>
              <a:ext uri="{FF2B5EF4-FFF2-40B4-BE49-F238E27FC236}">
                <a16:creationId xmlns:a16="http://schemas.microsoft.com/office/drawing/2014/main" id="{38524AAA-C39E-B056-903D-F52EA3E2DE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24" name="Google Shape;224;p11:notes">
            <a:extLst>
              <a:ext uri="{FF2B5EF4-FFF2-40B4-BE49-F238E27FC236}">
                <a16:creationId xmlns:a16="http://schemas.microsoft.com/office/drawing/2014/main" id="{2128417A-251C-F9A0-6D52-56FCA7E43FC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206164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>
          <a:extLst>
            <a:ext uri="{FF2B5EF4-FFF2-40B4-BE49-F238E27FC236}">
              <a16:creationId xmlns:a16="http://schemas.microsoft.com/office/drawing/2014/main" id="{254CC8D7-B571-DF79-76E2-293E71801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1:notes">
            <a:extLst>
              <a:ext uri="{FF2B5EF4-FFF2-40B4-BE49-F238E27FC236}">
                <a16:creationId xmlns:a16="http://schemas.microsoft.com/office/drawing/2014/main" id="{67B60E27-FFBC-647A-C6CB-BAA21E5761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3" name="Google Shape;223;p11:notes">
            <a:extLst>
              <a:ext uri="{FF2B5EF4-FFF2-40B4-BE49-F238E27FC236}">
                <a16:creationId xmlns:a16="http://schemas.microsoft.com/office/drawing/2014/main" id="{2FC00461-10A8-4335-E169-CC19FAA617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24" name="Google Shape;224;p11:notes">
            <a:extLst>
              <a:ext uri="{FF2B5EF4-FFF2-40B4-BE49-F238E27FC236}">
                <a16:creationId xmlns:a16="http://schemas.microsoft.com/office/drawing/2014/main" id="{8DDE5CCB-33A9-F6EB-C2B4-E91B663026D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9810225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>
          <a:extLst>
            <a:ext uri="{FF2B5EF4-FFF2-40B4-BE49-F238E27FC236}">
              <a16:creationId xmlns:a16="http://schemas.microsoft.com/office/drawing/2014/main" id="{C60EC44B-1F39-42EC-3E1C-F0F13218D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1:notes">
            <a:extLst>
              <a:ext uri="{FF2B5EF4-FFF2-40B4-BE49-F238E27FC236}">
                <a16:creationId xmlns:a16="http://schemas.microsoft.com/office/drawing/2014/main" id="{2EAE9744-C610-4324-3F86-2561A66C00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3" name="Google Shape;223;p11:notes">
            <a:extLst>
              <a:ext uri="{FF2B5EF4-FFF2-40B4-BE49-F238E27FC236}">
                <a16:creationId xmlns:a16="http://schemas.microsoft.com/office/drawing/2014/main" id="{846B065F-0153-551E-DB3A-4EE59CF4F8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24" name="Google Shape;224;p11:notes">
            <a:extLst>
              <a:ext uri="{FF2B5EF4-FFF2-40B4-BE49-F238E27FC236}">
                <a16:creationId xmlns:a16="http://schemas.microsoft.com/office/drawing/2014/main" id="{BD6FF1DA-4666-45E2-1C7B-B38DECDB405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8381586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">
          <a:extLst>
            <a:ext uri="{FF2B5EF4-FFF2-40B4-BE49-F238E27FC236}">
              <a16:creationId xmlns:a16="http://schemas.microsoft.com/office/drawing/2014/main" id="{88940AE0-0581-9537-69F9-A2183DD8A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:notes">
            <a:extLst>
              <a:ext uri="{FF2B5EF4-FFF2-40B4-BE49-F238E27FC236}">
                <a16:creationId xmlns:a16="http://schemas.microsoft.com/office/drawing/2014/main" id="{B6DB3337-4C6B-AF86-F079-D6C90F4D40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Google Shape;46;p3:notes">
            <a:extLst>
              <a:ext uri="{FF2B5EF4-FFF2-40B4-BE49-F238E27FC236}">
                <a16:creationId xmlns:a16="http://schemas.microsoft.com/office/drawing/2014/main" id="{451738BD-98DD-2559-4D3E-D3FCB77A6C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7" name="Google Shape;47;p3:notes">
            <a:extLst>
              <a:ext uri="{FF2B5EF4-FFF2-40B4-BE49-F238E27FC236}">
                <a16:creationId xmlns:a16="http://schemas.microsoft.com/office/drawing/2014/main" id="{4AF14D54-04F4-8D4A-4E48-441370A1A59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2482084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>
          <a:extLst>
            <a:ext uri="{FF2B5EF4-FFF2-40B4-BE49-F238E27FC236}">
              <a16:creationId xmlns:a16="http://schemas.microsoft.com/office/drawing/2014/main" id="{A16F1D6C-BF35-40E3-94D8-ACAA23940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0:notes">
            <a:extLst>
              <a:ext uri="{FF2B5EF4-FFF2-40B4-BE49-F238E27FC236}">
                <a16:creationId xmlns:a16="http://schemas.microsoft.com/office/drawing/2014/main" id="{5F13547B-1704-BC94-4A36-CC74E70FE7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8" name="Google Shape;358;p20:notes">
            <a:extLst>
              <a:ext uri="{FF2B5EF4-FFF2-40B4-BE49-F238E27FC236}">
                <a16:creationId xmlns:a16="http://schemas.microsoft.com/office/drawing/2014/main" id="{AACE7BD3-92DA-44A9-2B32-8286A67F2B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59" name="Google Shape;359;p20:notes">
            <a:extLst>
              <a:ext uri="{FF2B5EF4-FFF2-40B4-BE49-F238E27FC236}">
                <a16:creationId xmlns:a16="http://schemas.microsoft.com/office/drawing/2014/main" id="{777FA07B-8A3E-63B8-CCDA-A2A54F3646F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7345932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0" name="Google Shape;430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31" name="Google Shape;431;p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 dirty="0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microsoft.com/office/2007/relationships/hdphoto" Target="../media/hdphoto3.wdp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microsoft.com/office/2007/relationships/hdphoto" Target="../media/hdphoto4.wdp"/><Relationship Id="rId4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bg>
      <p:bgPr>
        <a:solidFill>
          <a:srgbClr val="F5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A2F905D2-865E-F6C3-D5E9-39E8604EF4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38575" y="6332539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16148F-D84E-47A3-B267-E08DF939B7C4}" type="slidenum">
              <a:rPr lang="ko-KR" altLang="en-US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pPr/>
              <a:t>‹#›</a:t>
            </a:fld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/27</a:t>
            </a:r>
            <a:endParaRPr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" name="텍스트 개체 틀 9">
            <a:extLst>
              <a:ext uri="{FF2B5EF4-FFF2-40B4-BE49-F238E27FC236}">
                <a16:creationId xmlns:a16="http://schemas.microsoft.com/office/drawing/2014/main" id="{278379C3-4342-7BC8-9BA3-8BC467849C9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6844" y="279340"/>
            <a:ext cx="359271" cy="215850"/>
          </a:xfrm>
        </p:spPr>
        <p:txBody>
          <a:bodyPr anchor="ctr"/>
          <a:lstStyle>
            <a:lvl1pPr>
              <a:buNone/>
              <a:defRPr sz="900">
                <a:solidFill>
                  <a:srgbClr val="F3731F"/>
                </a:solidFill>
                <a:latin typeface="나눔스퀘어" panose="020B0600000101010101" pitchFamily="34" charset="-127"/>
                <a:ea typeface="나눔스퀘어" panose="020B0600000101010101" pitchFamily="34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3" name="텍스트 개체 틀 9">
            <a:extLst>
              <a:ext uri="{FF2B5EF4-FFF2-40B4-BE49-F238E27FC236}">
                <a16:creationId xmlns:a16="http://schemas.microsoft.com/office/drawing/2014/main" id="{B39E9CD4-0A13-0490-C0DF-7760635A151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2520" y="279340"/>
            <a:ext cx="1728192" cy="215850"/>
          </a:xfrm>
        </p:spPr>
        <p:txBody>
          <a:bodyPr anchor="ctr"/>
          <a:lstStyle>
            <a:lvl1pPr>
              <a:buNone/>
              <a:defRPr sz="900">
                <a:solidFill>
                  <a:schemeClr val="tx1">
                    <a:lumMod val="65000"/>
                    <a:lumOff val="35000"/>
                  </a:schemeClr>
                </a:solidFill>
                <a:latin typeface="나눔스퀘어" panose="020B0600000101010101" pitchFamily="34" charset="-127"/>
                <a:ea typeface="나눔스퀘어" panose="020B0600000101010101" pitchFamily="34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8" name="Google Shape;42;p4">
            <a:extLst>
              <a:ext uri="{FF2B5EF4-FFF2-40B4-BE49-F238E27FC236}">
                <a16:creationId xmlns:a16="http://schemas.microsoft.com/office/drawing/2014/main" id="{CC8BA41C-A69F-8DAF-9F17-C34F82DE0273}"/>
              </a:ext>
            </a:extLst>
          </p:cNvPr>
          <p:cNvSpPr/>
          <p:nvPr userDrawn="1"/>
        </p:nvSpPr>
        <p:spPr>
          <a:xfrm>
            <a:off x="520065" y="6355081"/>
            <a:ext cx="2615021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67E"/>
              </a:buClr>
              <a:buSzPts val="900"/>
              <a:buFont typeface="Malgun Gothic"/>
              <a:buNone/>
            </a:pPr>
            <a:r>
              <a:rPr lang="en-US" sz="675" b="0" i="0" u="none" strike="noStrike" cap="none" dirty="0">
                <a:solidFill>
                  <a:srgbClr val="8A867E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/>
                <a:sym typeface="Malgun Gothic"/>
              </a:rPr>
              <a:t>Copyright 2026 Konan Technology Inc. All rights reserved.</a:t>
            </a:r>
            <a:endParaRPr sz="675" b="0" i="0" u="none" strike="noStrike" cap="none" dirty="0">
              <a:solidFill>
                <a:schemeClr val="dk1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Calibri"/>
              <a:sym typeface="Calibri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AC62432-653F-84E6-320A-FE7725D9E14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585823" y="6411947"/>
            <a:ext cx="850580" cy="209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6260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 화면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6EC6D792-F0AF-9CFC-EBAD-4931467070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6000"/>
          </a:blip>
          <a:srcRect l="9375" r="9375"/>
          <a:stretch>
            <a:fillRect/>
          </a:stretch>
        </p:blipFill>
        <p:spPr>
          <a:xfrm>
            <a:off x="0" y="0"/>
            <a:ext cx="9906000" cy="6857999"/>
          </a:xfrm>
          <a:prstGeom prst="rect">
            <a:avLst/>
          </a:prstGeom>
        </p:spPr>
      </p:pic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A2F905D2-865E-F6C3-D5E9-39E8604EF4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38575" y="6332539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16148F-D84E-47A3-B267-E08DF939B7C4}" type="slidenum">
              <a:rPr lang="ko-KR" altLang="en-US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pPr/>
              <a:t>‹#›</a:t>
            </a:fld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/27</a:t>
            </a:r>
            <a:endParaRPr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8" name="Google Shape;42;p4">
            <a:extLst>
              <a:ext uri="{FF2B5EF4-FFF2-40B4-BE49-F238E27FC236}">
                <a16:creationId xmlns:a16="http://schemas.microsoft.com/office/drawing/2014/main" id="{CC8BA41C-A69F-8DAF-9F17-C34F82DE0273}"/>
              </a:ext>
            </a:extLst>
          </p:cNvPr>
          <p:cNvSpPr/>
          <p:nvPr userDrawn="1"/>
        </p:nvSpPr>
        <p:spPr>
          <a:xfrm>
            <a:off x="520065" y="6355081"/>
            <a:ext cx="2615021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67E"/>
              </a:buClr>
              <a:buSzPts val="900"/>
              <a:buFont typeface="Malgun Gothic"/>
              <a:buNone/>
            </a:pPr>
            <a:r>
              <a:rPr lang="en-US" sz="675" b="0" i="0" u="none" strike="noStrike" cap="none" dirty="0">
                <a:solidFill>
                  <a:srgbClr val="8A867E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/>
                <a:sym typeface="Malgun Gothic"/>
              </a:rPr>
              <a:t>Copyright 2026 Konan Technology Inc. All rights reserved.</a:t>
            </a:r>
            <a:endParaRPr sz="675" b="0" i="0" u="none" strike="noStrike" cap="none" dirty="0">
              <a:solidFill>
                <a:schemeClr val="dk1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Calibri"/>
              <a:sym typeface="Calibri"/>
            </a:endParaRPr>
          </a:p>
        </p:txBody>
      </p:sp>
      <p:sp>
        <p:nvSpPr>
          <p:cNvPr id="7" name="텍스트 개체 틀 9">
            <a:extLst>
              <a:ext uri="{FF2B5EF4-FFF2-40B4-BE49-F238E27FC236}">
                <a16:creationId xmlns:a16="http://schemas.microsoft.com/office/drawing/2014/main" id="{DAE6FAD9-D92D-AF9C-3E17-8C23553BEF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6844" y="279340"/>
            <a:ext cx="359271" cy="215850"/>
          </a:xfrm>
        </p:spPr>
        <p:txBody>
          <a:bodyPr anchor="ctr"/>
          <a:lstStyle>
            <a:lvl1pPr>
              <a:buNone/>
              <a:defRPr sz="900">
                <a:solidFill>
                  <a:srgbClr val="F3731F"/>
                </a:solidFill>
                <a:latin typeface="나눔스퀘어" panose="020B0600000101010101" pitchFamily="34" charset="-127"/>
                <a:ea typeface="나눔스퀘어" panose="020B0600000101010101" pitchFamily="34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9" name="텍스트 개체 틀 9">
            <a:extLst>
              <a:ext uri="{FF2B5EF4-FFF2-40B4-BE49-F238E27FC236}">
                <a16:creationId xmlns:a16="http://schemas.microsoft.com/office/drawing/2014/main" id="{86D7B8CF-7638-D0C5-FE99-59E69253712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2520" y="279340"/>
            <a:ext cx="1728192" cy="215850"/>
          </a:xfrm>
        </p:spPr>
        <p:txBody>
          <a:bodyPr anchor="ctr"/>
          <a:lstStyle>
            <a:lvl1pPr>
              <a:buNone/>
              <a:defRPr sz="900">
                <a:solidFill>
                  <a:schemeClr val="bg1">
                    <a:lumMod val="85000"/>
                  </a:schemeClr>
                </a:solidFill>
                <a:latin typeface="나눔스퀘어" panose="020B0600000101010101" pitchFamily="34" charset="-127"/>
                <a:ea typeface="나눔스퀘어" panose="020B0600000101010101" pitchFamily="34" charset="-127"/>
              </a:defRPr>
            </a:lvl1pPr>
          </a:lstStyle>
          <a:p>
            <a:pPr lvl="0"/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339FDCC-9976-AE75-3104-8C0F5A0ECEE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605458" y="6416398"/>
            <a:ext cx="830945" cy="204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20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빈 화면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7408716-148D-9DD7-12F2-1E231EF57E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1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34" r="18516"/>
          <a:stretch>
            <a:fillRect/>
          </a:stretch>
        </p:blipFill>
        <p:spPr>
          <a:xfrm>
            <a:off x="0" y="0"/>
            <a:ext cx="9906001" cy="6857999"/>
          </a:xfrm>
          <a:prstGeom prst="rect">
            <a:avLst/>
          </a:prstGeom>
        </p:spPr>
      </p:pic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A2F905D2-865E-F6C3-D5E9-39E8604EF4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38575" y="6332539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16148F-D84E-47A3-B267-E08DF939B7C4}" type="slidenum">
              <a:rPr lang="ko-KR" altLang="en-US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pPr/>
              <a:t>‹#›</a:t>
            </a:fld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/27</a:t>
            </a:r>
            <a:endParaRPr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Google Shape;42;p4">
            <a:extLst>
              <a:ext uri="{FF2B5EF4-FFF2-40B4-BE49-F238E27FC236}">
                <a16:creationId xmlns:a16="http://schemas.microsoft.com/office/drawing/2014/main" id="{E6F77E46-2857-1ECD-3882-2A25979CAC81}"/>
              </a:ext>
            </a:extLst>
          </p:cNvPr>
          <p:cNvSpPr/>
          <p:nvPr userDrawn="1"/>
        </p:nvSpPr>
        <p:spPr>
          <a:xfrm>
            <a:off x="520065" y="6355080"/>
            <a:ext cx="2615021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67E"/>
              </a:buClr>
              <a:buSzPts val="900"/>
              <a:buFont typeface="Malgun Gothic"/>
              <a:buNone/>
            </a:pPr>
            <a:r>
              <a:rPr lang="en-US" sz="675" b="0" i="0" u="none" strike="noStrike" cap="none" dirty="0">
                <a:solidFill>
                  <a:srgbClr val="8A867E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/>
                <a:sym typeface="Malgun Gothic"/>
              </a:rPr>
              <a:t>Copyright 2026 Konan Technology Inc. All rights reserved.</a:t>
            </a:r>
            <a:endParaRPr sz="675" b="0" i="0" u="none" strike="noStrike" cap="none" dirty="0">
              <a:solidFill>
                <a:schemeClr val="dk1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Calibri"/>
              <a:sym typeface="Calibri"/>
            </a:endParaRPr>
          </a:p>
        </p:txBody>
      </p:sp>
      <p:sp>
        <p:nvSpPr>
          <p:cNvPr id="4" name="텍스트 개체 틀 9">
            <a:extLst>
              <a:ext uri="{FF2B5EF4-FFF2-40B4-BE49-F238E27FC236}">
                <a16:creationId xmlns:a16="http://schemas.microsoft.com/office/drawing/2014/main" id="{7155D04A-5B45-5FF2-BD5D-DC3087763A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6844" y="279340"/>
            <a:ext cx="359271" cy="215850"/>
          </a:xfrm>
        </p:spPr>
        <p:txBody>
          <a:bodyPr anchor="ctr"/>
          <a:lstStyle>
            <a:lvl1pPr>
              <a:buNone/>
              <a:defRPr sz="900">
                <a:solidFill>
                  <a:srgbClr val="F3731F"/>
                </a:solidFill>
                <a:latin typeface="나눔스퀘어" panose="020B0600000101010101" pitchFamily="34" charset="-127"/>
                <a:ea typeface="나눔스퀘어" panose="020B0600000101010101" pitchFamily="34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7" name="텍스트 개체 틀 9">
            <a:extLst>
              <a:ext uri="{FF2B5EF4-FFF2-40B4-BE49-F238E27FC236}">
                <a16:creationId xmlns:a16="http://schemas.microsoft.com/office/drawing/2014/main" id="{16DFD273-27F2-E64B-77DA-35FB2D54EAC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2520" y="279340"/>
            <a:ext cx="1728192" cy="215850"/>
          </a:xfrm>
        </p:spPr>
        <p:txBody>
          <a:bodyPr anchor="ctr"/>
          <a:lstStyle>
            <a:lvl1pPr>
              <a:buNone/>
              <a:defRPr sz="900">
                <a:solidFill>
                  <a:schemeClr val="tx1">
                    <a:lumMod val="65000"/>
                    <a:lumOff val="35000"/>
                  </a:schemeClr>
                </a:solidFill>
                <a:latin typeface="나눔스퀘어" panose="020B0600000101010101" pitchFamily="34" charset="-127"/>
                <a:ea typeface="나눔스퀘어" panose="020B0600000101010101" pitchFamily="34" charset="-127"/>
              </a:defRPr>
            </a:lvl1pPr>
          </a:lstStyle>
          <a:p>
            <a:pPr lvl="0"/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EFCC406-DD30-9F40-8F8E-B680910AB55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585823" y="6411947"/>
            <a:ext cx="850580" cy="209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234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빈 화면">
    <p:bg>
      <p:bgPr>
        <a:solidFill>
          <a:srgbClr val="F1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7408716-148D-9DD7-12F2-1E231EF57E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1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34" r="18516"/>
          <a:stretch>
            <a:fillRect/>
          </a:stretch>
        </p:blipFill>
        <p:spPr>
          <a:xfrm>
            <a:off x="0" y="0"/>
            <a:ext cx="9906001" cy="6857999"/>
          </a:xfrm>
          <a:prstGeom prst="rect">
            <a:avLst/>
          </a:prstGeom>
        </p:spPr>
      </p:pic>
      <p:sp>
        <p:nvSpPr>
          <p:cNvPr id="12" name="텍스트 개체 틀 9">
            <a:extLst>
              <a:ext uri="{FF2B5EF4-FFF2-40B4-BE49-F238E27FC236}">
                <a16:creationId xmlns:a16="http://schemas.microsoft.com/office/drawing/2014/main" id="{0434D970-37A0-16A4-67B3-A90D4FD25D6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8736" y="2056812"/>
            <a:ext cx="3618914" cy="365125"/>
          </a:xfrm>
        </p:spPr>
        <p:txBody>
          <a:bodyPr anchor="ctr">
            <a:noAutofit/>
          </a:bodyPr>
          <a:lstStyle>
            <a:lvl1pPr>
              <a:buNone/>
              <a:defRPr sz="1600">
                <a:solidFill>
                  <a:srgbClr val="45413B"/>
                </a:solidFill>
                <a:latin typeface="나눔스퀘어" panose="020B0600000101010101" pitchFamily="34" charset="-127"/>
                <a:ea typeface="나눔스퀘어" panose="020B0600000101010101" pitchFamily="34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11" name="제목 개체 틀 1">
            <a:extLst>
              <a:ext uri="{FF2B5EF4-FFF2-40B4-BE49-F238E27FC236}">
                <a16:creationId xmlns:a16="http://schemas.microsoft.com/office/drawing/2014/main" id="{C173E859-7AC3-74DE-73F9-211E94D3C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736" y="1371600"/>
            <a:ext cx="9028528" cy="74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600" spc="-100" baseline="0">
                <a:solidFill>
                  <a:srgbClr val="000000"/>
                </a:solidFill>
                <a:latin typeface="나눔스퀘어 ExtraBold" panose="020B0600000101010101" pitchFamily="34" charset="-127"/>
                <a:ea typeface="나눔스퀘어 ExtraBold" panose="020B0600000101010101" pitchFamily="34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A2F905D2-865E-F6C3-D5E9-39E8604EF4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38575" y="6332539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16148F-D84E-47A3-B267-E08DF939B7C4}" type="slidenum">
              <a:rPr lang="ko-KR" altLang="en-US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pPr/>
              <a:t>‹#›</a:t>
            </a:fld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/27</a:t>
            </a:r>
            <a:endParaRPr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Google Shape;42;p4">
            <a:extLst>
              <a:ext uri="{FF2B5EF4-FFF2-40B4-BE49-F238E27FC236}">
                <a16:creationId xmlns:a16="http://schemas.microsoft.com/office/drawing/2014/main" id="{E6F77E46-2857-1ECD-3882-2A25979CAC81}"/>
              </a:ext>
            </a:extLst>
          </p:cNvPr>
          <p:cNvSpPr/>
          <p:nvPr userDrawn="1"/>
        </p:nvSpPr>
        <p:spPr>
          <a:xfrm>
            <a:off x="520065" y="6355080"/>
            <a:ext cx="2615021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67E"/>
              </a:buClr>
              <a:buSzPts val="900"/>
              <a:buFont typeface="Malgun Gothic"/>
              <a:buNone/>
            </a:pPr>
            <a:r>
              <a:rPr lang="en-US" sz="675" b="0" i="0" u="none" strike="noStrike" cap="none" dirty="0">
                <a:solidFill>
                  <a:srgbClr val="8A867E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/>
                <a:sym typeface="Malgun Gothic"/>
              </a:rPr>
              <a:t>Copyright 2026 Konan Technology Inc. All rights reserved.</a:t>
            </a:r>
            <a:endParaRPr sz="675" b="0" i="0" u="none" strike="noStrike" cap="none" dirty="0">
              <a:solidFill>
                <a:schemeClr val="dk1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Calibri"/>
              <a:sym typeface="Calibri"/>
            </a:endParaRPr>
          </a:p>
        </p:txBody>
      </p:sp>
      <p:sp>
        <p:nvSpPr>
          <p:cNvPr id="4" name="텍스트 개체 틀 9">
            <a:extLst>
              <a:ext uri="{FF2B5EF4-FFF2-40B4-BE49-F238E27FC236}">
                <a16:creationId xmlns:a16="http://schemas.microsoft.com/office/drawing/2014/main" id="{7155D04A-5B45-5FF2-BD5D-DC3087763A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6844" y="279340"/>
            <a:ext cx="359271" cy="215850"/>
          </a:xfrm>
        </p:spPr>
        <p:txBody>
          <a:bodyPr anchor="ctr"/>
          <a:lstStyle>
            <a:lvl1pPr>
              <a:buNone/>
              <a:defRPr sz="900">
                <a:solidFill>
                  <a:srgbClr val="F3731F"/>
                </a:solidFill>
                <a:latin typeface="나눔스퀘어" panose="020B0600000101010101" pitchFamily="34" charset="-127"/>
                <a:ea typeface="나눔스퀘어" panose="020B0600000101010101" pitchFamily="34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7" name="텍스트 개체 틀 9">
            <a:extLst>
              <a:ext uri="{FF2B5EF4-FFF2-40B4-BE49-F238E27FC236}">
                <a16:creationId xmlns:a16="http://schemas.microsoft.com/office/drawing/2014/main" id="{16DFD273-27F2-E64B-77DA-35FB2D54EAC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2520" y="279340"/>
            <a:ext cx="1728192" cy="215850"/>
          </a:xfrm>
        </p:spPr>
        <p:txBody>
          <a:bodyPr anchor="ctr"/>
          <a:lstStyle>
            <a:lvl1pPr>
              <a:buNone/>
              <a:defRPr sz="900">
                <a:solidFill>
                  <a:schemeClr val="tx1">
                    <a:lumMod val="65000"/>
                    <a:lumOff val="35000"/>
                  </a:schemeClr>
                </a:solidFill>
                <a:latin typeface="나눔스퀘어" panose="020B0600000101010101" pitchFamily="34" charset="-127"/>
                <a:ea typeface="나눔스퀘어" panose="020B0600000101010101" pitchFamily="34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17" name="텍스트 개체 틀 9">
            <a:extLst>
              <a:ext uri="{FF2B5EF4-FFF2-40B4-BE49-F238E27FC236}">
                <a16:creationId xmlns:a16="http://schemas.microsoft.com/office/drawing/2014/main" id="{07887460-8B0A-7B02-C690-2FD37782AEA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8735" y="2664255"/>
            <a:ext cx="9028528" cy="651510"/>
          </a:xfrm>
        </p:spPr>
        <p:txBody>
          <a:bodyPr anchor="t">
            <a:noAutofit/>
          </a:bodyPr>
          <a:lstStyle>
            <a:lvl1pPr marL="0" indent="0">
              <a:lnSpc>
                <a:spcPct val="132000"/>
              </a:lnSpc>
              <a:spcBef>
                <a:spcPts val="0"/>
              </a:spcBef>
              <a:buNone/>
              <a:defRPr sz="1200">
                <a:solidFill>
                  <a:srgbClr val="3A362F"/>
                </a:solidFill>
                <a:latin typeface="나눔스퀘어" panose="020B0600000101010101" pitchFamily="34" charset="-127"/>
                <a:ea typeface="나눔스퀘어" panose="020B0600000101010101" pitchFamily="34" charset="-127"/>
              </a:defRPr>
            </a:lvl1pPr>
          </a:lstStyle>
          <a:p>
            <a:pPr lvl="0"/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88AA36E-A9FB-0BC1-61F6-A881FDE5633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585823" y="6411947"/>
            <a:ext cx="850580" cy="209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517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빈 화면">
    <p:bg>
      <p:bgPr>
        <a:solidFill>
          <a:srgbClr val="F1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>
            <a:extLst>
              <a:ext uri="{FF2B5EF4-FFF2-40B4-BE49-F238E27FC236}">
                <a16:creationId xmlns:a16="http://schemas.microsoft.com/office/drawing/2014/main" id="{4CFB5D29-1147-3B80-704E-73B4C40210B8}"/>
              </a:ext>
            </a:extLst>
          </p:cNvPr>
          <p:cNvGrpSpPr/>
          <p:nvPr userDrawn="1"/>
        </p:nvGrpSpPr>
        <p:grpSpPr>
          <a:xfrm>
            <a:off x="0" y="400349"/>
            <a:ext cx="9906000" cy="6057302"/>
            <a:chOff x="0" y="400349"/>
            <a:chExt cx="9906000" cy="6057302"/>
          </a:xfrm>
        </p:grpSpPr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8A6DEC75-AEA0-7F0F-1E26-F2D0FE0D2971}"/>
                </a:ext>
              </a:extLst>
            </p:cNvPr>
            <p:cNvGrpSpPr/>
            <p:nvPr userDrawn="1"/>
          </p:nvGrpSpPr>
          <p:grpSpPr>
            <a:xfrm>
              <a:off x="0" y="642666"/>
              <a:ext cx="9906000" cy="5814985"/>
              <a:chOff x="0" y="642666"/>
              <a:chExt cx="9906000" cy="5814985"/>
            </a:xfrm>
          </p:grpSpPr>
          <p:pic>
            <p:nvPicPr>
              <p:cNvPr id="3" name="그림 2">
                <a:extLst>
                  <a:ext uri="{FF2B5EF4-FFF2-40B4-BE49-F238E27FC236}">
                    <a16:creationId xmlns:a16="http://schemas.microsoft.com/office/drawing/2014/main" id="{22F087CC-1662-A69A-7DFD-6F8CDB00955C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alphaModFix amt="13000"/>
              </a:blip>
              <a:stretch>
                <a:fillRect/>
              </a:stretch>
            </p:blipFill>
            <p:spPr>
              <a:xfrm>
                <a:off x="0" y="642666"/>
                <a:ext cx="9906000" cy="5572667"/>
              </a:xfrm>
              <a:prstGeom prst="rect">
                <a:avLst/>
              </a:prstGeom>
            </p:spPr>
          </p:pic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BAA8781F-0E55-CA43-73DE-228B298A0193}"/>
                  </a:ext>
                </a:extLst>
              </p:cNvPr>
              <p:cNvSpPr/>
              <p:nvPr userDrawn="1"/>
            </p:nvSpPr>
            <p:spPr>
              <a:xfrm>
                <a:off x="0" y="5486400"/>
                <a:ext cx="9906000" cy="971251"/>
              </a:xfrm>
              <a:prstGeom prst="rect">
                <a:avLst/>
              </a:prstGeom>
              <a:gradFill flip="none" rotWithShape="1">
                <a:gsLst>
                  <a:gs pos="85000">
                    <a:srgbClr val="F1F4F9">
                      <a:alpha val="0"/>
                    </a:srgbClr>
                  </a:gs>
                  <a:gs pos="27000">
                    <a:srgbClr val="F1F4F9"/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0144BDD9-5237-780E-C531-6E45964745DB}"/>
                </a:ext>
              </a:extLst>
            </p:cNvPr>
            <p:cNvSpPr/>
            <p:nvPr userDrawn="1"/>
          </p:nvSpPr>
          <p:spPr>
            <a:xfrm rot="10800000">
              <a:off x="0" y="400349"/>
              <a:ext cx="9906000" cy="971251"/>
            </a:xfrm>
            <a:prstGeom prst="rect">
              <a:avLst/>
            </a:prstGeom>
            <a:gradFill flip="none" rotWithShape="1">
              <a:gsLst>
                <a:gs pos="85000">
                  <a:srgbClr val="F1F4F9">
                    <a:alpha val="0"/>
                  </a:srgbClr>
                </a:gs>
                <a:gs pos="27000">
                  <a:srgbClr val="F1F4F9"/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" name="텍스트 개체 틀 9">
            <a:extLst>
              <a:ext uri="{FF2B5EF4-FFF2-40B4-BE49-F238E27FC236}">
                <a16:creationId xmlns:a16="http://schemas.microsoft.com/office/drawing/2014/main" id="{0434D970-37A0-16A4-67B3-A90D4FD25D6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8736" y="2056812"/>
            <a:ext cx="7973744" cy="365125"/>
          </a:xfrm>
        </p:spPr>
        <p:txBody>
          <a:bodyPr anchor="ctr">
            <a:noAutofit/>
          </a:bodyPr>
          <a:lstStyle>
            <a:lvl1pPr>
              <a:buNone/>
              <a:defRPr sz="1600">
                <a:solidFill>
                  <a:srgbClr val="45413B"/>
                </a:solidFill>
                <a:latin typeface="나눔스퀘어" panose="020B0600000101010101" pitchFamily="34" charset="-127"/>
                <a:ea typeface="나눔스퀘어" panose="020B0600000101010101" pitchFamily="34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11" name="제목 개체 틀 1">
            <a:extLst>
              <a:ext uri="{FF2B5EF4-FFF2-40B4-BE49-F238E27FC236}">
                <a16:creationId xmlns:a16="http://schemas.microsoft.com/office/drawing/2014/main" id="{C173E859-7AC3-74DE-73F9-211E94D3C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736" y="1371600"/>
            <a:ext cx="9028528" cy="74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600" spc="-100" baseline="0">
                <a:solidFill>
                  <a:srgbClr val="000000"/>
                </a:solidFill>
                <a:latin typeface="나눔스퀘어 ExtraBold" panose="020B0600000101010101" pitchFamily="34" charset="-127"/>
                <a:ea typeface="나눔스퀘어 ExtraBold" panose="020B0600000101010101" pitchFamily="34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A2F905D2-865E-F6C3-D5E9-39E8604EF4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38575" y="6332539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16148F-D84E-47A3-B267-E08DF939B7C4}" type="slidenum">
              <a:rPr lang="ko-KR" altLang="en-US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pPr/>
              <a:t>‹#›</a:t>
            </a:fld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/27</a:t>
            </a:r>
            <a:endParaRPr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Google Shape;42;p4">
            <a:extLst>
              <a:ext uri="{FF2B5EF4-FFF2-40B4-BE49-F238E27FC236}">
                <a16:creationId xmlns:a16="http://schemas.microsoft.com/office/drawing/2014/main" id="{E6F77E46-2857-1ECD-3882-2A25979CAC81}"/>
              </a:ext>
            </a:extLst>
          </p:cNvPr>
          <p:cNvSpPr/>
          <p:nvPr userDrawn="1"/>
        </p:nvSpPr>
        <p:spPr>
          <a:xfrm>
            <a:off x="520065" y="6355080"/>
            <a:ext cx="2615021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67E"/>
              </a:buClr>
              <a:buSzPts val="900"/>
              <a:buFont typeface="Malgun Gothic"/>
              <a:buNone/>
            </a:pPr>
            <a:r>
              <a:rPr lang="en-US" sz="675" b="0" i="0" u="none" strike="noStrike" cap="none" dirty="0">
                <a:solidFill>
                  <a:srgbClr val="8A867E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/>
                <a:sym typeface="Malgun Gothic"/>
              </a:rPr>
              <a:t>Copyright 2026 Konan Technology Inc. All rights reserved.</a:t>
            </a:r>
            <a:endParaRPr sz="675" b="0" i="0" u="none" strike="noStrike" cap="none" dirty="0">
              <a:solidFill>
                <a:schemeClr val="dk1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Calibri"/>
              <a:sym typeface="Calibri"/>
            </a:endParaRPr>
          </a:p>
        </p:txBody>
      </p:sp>
      <p:sp>
        <p:nvSpPr>
          <p:cNvPr id="4" name="텍스트 개체 틀 9">
            <a:extLst>
              <a:ext uri="{FF2B5EF4-FFF2-40B4-BE49-F238E27FC236}">
                <a16:creationId xmlns:a16="http://schemas.microsoft.com/office/drawing/2014/main" id="{7155D04A-5B45-5FF2-BD5D-DC3087763A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6844" y="279340"/>
            <a:ext cx="359271" cy="215850"/>
          </a:xfrm>
        </p:spPr>
        <p:txBody>
          <a:bodyPr anchor="ctr"/>
          <a:lstStyle>
            <a:lvl1pPr>
              <a:buNone/>
              <a:defRPr sz="900">
                <a:solidFill>
                  <a:srgbClr val="F3731F"/>
                </a:solidFill>
                <a:latin typeface="나눔스퀘어" panose="020B0600000101010101" pitchFamily="34" charset="-127"/>
                <a:ea typeface="나눔스퀘어" panose="020B0600000101010101" pitchFamily="34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7" name="텍스트 개체 틀 9">
            <a:extLst>
              <a:ext uri="{FF2B5EF4-FFF2-40B4-BE49-F238E27FC236}">
                <a16:creationId xmlns:a16="http://schemas.microsoft.com/office/drawing/2014/main" id="{16DFD273-27F2-E64B-77DA-35FB2D54EAC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2520" y="279340"/>
            <a:ext cx="1728192" cy="215850"/>
          </a:xfrm>
        </p:spPr>
        <p:txBody>
          <a:bodyPr anchor="ctr"/>
          <a:lstStyle>
            <a:lvl1pPr>
              <a:buNone/>
              <a:defRPr sz="900">
                <a:solidFill>
                  <a:schemeClr val="tx1">
                    <a:lumMod val="65000"/>
                    <a:lumOff val="35000"/>
                  </a:schemeClr>
                </a:solidFill>
                <a:latin typeface="나눔스퀘어" panose="020B0600000101010101" pitchFamily="34" charset="-127"/>
                <a:ea typeface="나눔스퀘어" panose="020B0600000101010101" pitchFamily="34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17" name="텍스트 개체 틀 9">
            <a:extLst>
              <a:ext uri="{FF2B5EF4-FFF2-40B4-BE49-F238E27FC236}">
                <a16:creationId xmlns:a16="http://schemas.microsoft.com/office/drawing/2014/main" id="{07887460-8B0A-7B02-C690-2FD37782AEA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8735" y="2664255"/>
            <a:ext cx="9028528" cy="651510"/>
          </a:xfrm>
        </p:spPr>
        <p:txBody>
          <a:bodyPr anchor="t">
            <a:noAutofit/>
          </a:bodyPr>
          <a:lstStyle>
            <a:lvl1pPr marL="0" indent="0">
              <a:lnSpc>
                <a:spcPct val="132000"/>
              </a:lnSpc>
              <a:spcBef>
                <a:spcPts val="0"/>
              </a:spcBef>
              <a:buNone/>
              <a:defRPr sz="1200">
                <a:solidFill>
                  <a:srgbClr val="3A362F"/>
                </a:solidFill>
                <a:latin typeface="나눔스퀘어" panose="020B0600000101010101" pitchFamily="34" charset="-127"/>
                <a:ea typeface="나눔스퀘어" panose="020B0600000101010101" pitchFamily="34" charset="-127"/>
              </a:defRPr>
            </a:lvl1pPr>
          </a:lstStyle>
          <a:p>
            <a:pPr lvl="0"/>
            <a:endParaRPr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C5DB9DAC-89A9-DB0D-143B-33EAEABBC2E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585823" y="6411947"/>
            <a:ext cx="850580" cy="209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093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빈 화면">
    <p:bg>
      <p:bgPr>
        <a:solidFill>
          <a:srgbClr val="10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3C2AF7A5-1E3A-D060-97CD-E34A714D71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6000"/>
          </a:blip>
          <a:srcRect l="9375" r="9375"/>
          <a:stretch>
            <a:fillRect/>
          </a:stretch>
        </p:blipFill>
        <p:spPr>
          <a:xfrm>
            <a:off x="0" y="0"/>
            <a:ext cx="9906000" cy="6857999"/>
          </a:xfrm>
          <a:prstGeom prst="rect">
            <a:avLst/>
          </a:prstGeom>
        </p:spPr>
      </p:pic>
      <p:sp>
        <p:nvSpPr>
          <p:cNvPr id="12" name="텍스트 개체 틀 9">
            <a:extLst>
              <a:ext uri="{FF2B5EF4-FFF2-40B4-BE49-F238E27FC236}">
                <a16:creationId xmlns:a16="http://schemas.microsoft.com/office/drawing/2014/main" id="{0434D970-37A0-16A4-67B3-A90D4FD25D6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8736" y="2056812"/>
            <a:ext cx="7973744" cy="365125"/>
          </a:xfrm>
        </p:spPr>
        <p:txBody>
          <a:bodyPr anchor="ctr">
            <a:noAutofit/>
          </a:bodyPr>
          <a:lstStyle>
            <a:lvl1pPr>
              <a:buNone/>
              <a:defRPr sz="1600">
                <a:solidFill>
                  <a:schemeClr val="bg1">
                    <a:lumMod val="95000"/>
                  </a:schemeClr>
                </a:solidFill>
                <a:latin typeface="나눔스퀘어" panose="020B0600000101010101" pitchFamily="34" charset="-127"/>
                <a:ea typeface="나눔스퀘어" panose="020B0600000101010101" pitchFamily="34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11" name="제목 개체 틀 1">
            <a:extLst>
              <a:ext uri="{FF2B5EF4-FFF2-40B4-BE49-F238E27FC236}">
                <a16:creationId xmlns:a16="http://schemas.microsoft.com/office/drawing/2014/main" id="{C173E859-7AC3-74DE-73F9-211E94D3C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736" y="1371600"/>
            <a:ext cx="9028528" cy="74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600" spc="-100" baseline="0">
                <a:solidFill>
                  <a:schemeClr val="bg1"/>
                </a:solidFill>
                <a:latin typeface="나눔스퀘어 ExtraBold" panose="020B0600000101010101" pitchFamily="34" charset="-127"/>
                <a:ea typeface="나눔스퀘어 ExtraBold" panose="020B0600000101010101" pitchFamily="34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A2F905D2-865E-F6C3-D5E9-39E8604EF4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38575" y="6332539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5316148F-D84E-47A3-B267-E08DF939B7C4}" type="slidenum">
              <a:rPr lang="ko-KR" altLang="en-US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pPr/>
              <a:t>‹#›</a:t>
            </a:fld>
            <a:r>
              <a:rPr lang="en-US" altLang="ko-KR">
                <a:latin typeface="나눔스퀘어" panose="020B0600000101010101" pitchFamily="50" charset="-127"/>
                <a:ea typeface="나눔스퀘어" panose="020B0600000101010101" pitchFamily="50" charset="-127"/>
              </a:rPr>
              <a:t>/27</a:t>
            </a:r>
            <a:endParaRPr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Google Shape;42;p4">
            <a:extLst>
              <a:ext uri="{FF2B5EF4-FFF2-40B4-BE49-F238E27FC236}">
                <a16:creationId xmlns:a16="http://schemas.microsoft.com/office/drawing/2014/main" id="{E6F77E46-2857-1ECD-3882-2A25979CAC81}"/>
              </a:ext>
            </a:extLst>
          </p:cNvPr>
          <p:cNvSpPr/>
          <p:nvPr userDrawn="1"/>
        </p:nvSpPr>
        <p:spPr>
          <a:xfrm>
            <a:off x="520065" y="6355080"/>
            <a:ext cx="2615021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67E"/>
              </a:buClr>
              <a:buSzPts val="900"/>
              <a:buFont typeface="Malgun Gothic"/>
              <a:buNone/>
            </a:pPr>
            <a:r>
              <a:rPr lang="en-US" sz="675" b="0" i="0" u="none" strike="noStrike" cap="none" dirty="0">
                <a:solidFill>
                  <a:srgbClr val="8A867E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/>
                <a:sym typeface="Malgun Gothic"/>
              </a:rPr>
              <a:t>Copyright 2026 Konan Technology Inc. All rights reserved.</a:t>
            </a:r>
            <a:endParaRPr sz="675" b="0" i="0" u="none" strike="noStrike" cap="none" dirty="0">
              <a:solidFill>
                <a:schemeClr val="dk1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Calibri"/>
              <a:sym typeface="Calibri"/>
            </a:endParaRPr>
          </a:p>
        </p:txBody>
      </p:sp>
      <p:sp>
        <p:nvSpPr>
          <p:cNvPr id="4" name="텍스트 개체 틀 9">
            <a:extLst>
              <a:ext uri="{FF2B5EF4-FFF2-40B4-BE49-F238E27FC236}">
                <a16:creationId xmlns:a16="http://schemas.microsoft.com/office/drawing/2014/main" id="{7155D04A-5B45-5FF2-BD5D-DC3087763A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6844" y="279340"/>
            <a:ext cx="359271" cy="215850"/>
          </a:xfrm>
        </p:spPr>
        <p:txBody>
          <a:bodyPr anchor="ctr"/>
          <a:lstStyle>
            <a:lvl1pPr>
              <a:buNone/>
              <a:defRPr sz="900">
                <a:solidFill>
                  <a:srgbClr val="F3731F"/>
                </a:solidFill>
                <a:latin typeface="나눔스퀘어" panose="020B0600000101010101" pitchFamily="34" charset="-127"/>
                <a:ea typeface="나눔스퀘어" panose="020B0600000101010101" pitchFamily="34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7" name="텍스트 개체 틀 9">
            <a:extLst>
              <a:ext uri="{FF2B5EF4-FFF2-40B4-BE49-F238E27FC236}">
                <a16:creationId xmlns:a16="http://schemas.microsoft.com/office/drawing/2014/main" id="{16DFD273-27F2-E64B-77DA-35FB2D54EAC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2520" y="279340"/>
            <a:ext cx="1728192" cy="215850"/>
          </a:xfrm>
        </p:spPr>
        <p:txBody>
          <a:bodyPr anchor="ctr"/>
          <a:lstStyle>
            <a:lvl1pPr>
              <a:buNone/>
              <a:defRPr sz="900">
                <a:solidFill>
                  <a:schemeClr val="bg1">
                    <a:lumMod val="85000"/>
                  </a:schemeClr>
                </a:solidFill>
                <a:latin typeface="나눔스퀘어" panose="020B0600000101010101" pitchFamily="34" charset="-127"/>
                <a:ea typeface="나눔스퀘어" panose="020B0600000101010101" pitchFamily="34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17" name="텍스트 개체 틀 9">
            <a:extLst>
              <a:ext uri="{FF2B5EF4-FFF2-40B4-BE49-F238E27FC236}">
                <a16:creationId xmlns:a16="http://schemas.microsoft.com/office/drawing/2014/main" id="{07887460-8B0A-7B02-C690-2FD37782AEA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8735" y="2664255"/>
            <a:ext cx="9028528" cy="651510"/>
          </a:xfrm>
        </p:spPr>
        <p:txBody>
          <a:bodyPr anchor="t">
            <a:noAutofit/>
          </a:bodyPr>
          <a:lstStyle>
            <a:lvl1pPr marL="0" indent="0">
              <a:lnSpc>
                <a:spcPct val="132000"/>
              </a:lnSpc>
              <a:spcBef>
                <a:spcPts val="0"/>
              </a:spcBef>
              <a:buNone/>
              <a:defRPr sz="1200">
                <a:solidFill>
                  <a:schemeClr val="bg1">
                    <a:lumMod val="85000"/>
                  </a:schemeClr>
                </a:solidFill>
                <a:latin typeface="나눔스퀘어" panose="020B0600000101010101" pitchFamily="34" charset="-127"/>
                <a:ea typeface="나눔스퀘어" panose="020B0600000101010101" pitchFamily="34" charset="-127"/>
              </a:defRPr>
            </a:lvl1pPr>
          </a:lstStyle>
          <a:p>
            <a:pPr lvl="0"/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D2088A1-EBE2-A615-FCE4-A4EF130335F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605458" y="6416398"/>
            <a:ext cx="830945" cy="204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631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bg>
      <p:bgPr>
        <a:solidFill>
          <a:srgbClr val="F8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A2F905D2-865E-F6C3-D5E9-39E8604EF4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38575" y="6332539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16148F-D84E-47A3-B267-E08DF939B7C4}" type="slidenum">
              <a:rPr lang="ko-KR" altLang="en-US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pPr/>
              <a:t>‹#›</a:t>
            </a:fld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/27</a:t>
            </a:r>
            <a:endParaRPr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Google Shape;42;p4">
            <a:extLst>
              <a:ext uri="{FF2B5EF4-FFF2-40B4-BE49-F238E27FC236}">
                <a16:creationId xmlns:a16="http://schemas.microsoft.com/office/drawing/2014/main" id="{D4217518-796D-FDEA-B8CF-9E237BB2E147}"/>
              </a:ext>
            </a:extLst>
          </p:cNvPr>
          <p:cNvSpPr/>
          <p:nvPr userDrawn="1"/>
        </p:nvSpPr>
        <p:spPr>
          <a:xfrm>
            <a:off x="520065" y="6355080"/>
            <a:ext cx="2615021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67E"/>
              </a:buClr>
              <a:buSzPts val="900"/>
              <a:buFont typeface="Malgun Gothic"/>
              <a:buNone/>
            </a:pPr>
            <a:r>
              <a:rPr lang="en-US" sz="675" b="0" i="0" u="none" strike="noStrike" cap="none" dirty="0">
                <a:solidFill>
                  <a:srgbClr val="8A867E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/>
                <a:sym typeface="Malgun Gothic"/>
              </a:rPr>
              <a:t>Copyright 2026 Konan Technology Inc. All rights reserved.</a:t>
            </a:r>
            <a:endParaRPr sz="675" b="0" i="0" u="none" strike="noStrike" cap="none" dirty="0">
              <a:solidFill>
                <a:schemeClr val="dk1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Calibri"/>
              <a:sym typeface="Calibri"/>
            </a:endParaRPr>
          </a:p>
        </p:txBody>
      </p:sp>
      <p:sp>
        <p:nvSpPr>
          <p:cNvPr id="4" name="텍스트 개체 틀 9">
            <a:extLst>
              <a:ext uri="{FF2B5EF4-FFF2-40B4-BE49-F238E27FC236}">
                <a16:creationId xmlns:a16="http://schemas.microsoft.com/office/drawing/2014/main" id="{62CA9EE7-6A44-4CBE-E228-EB404EE38A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6844" y="279340"/>
            <a:ext cx="359271" cy="215850"/>
          </a:xfrm>
        </p:spPr>
        <p:txBody>
          <a:bodyPr anchor="ctr"/>
          <a:lstStyle>
            <a:lvl1pPr>
              <a:buNone/>
              <a:defRPr sz="900">
                <a:solidFill>
                  <a:srgbClr val="F3731F"/>
                </a:solidFill>
                <a:latin typeface="나눔스퀘어" panose="020B0600000101010101" pitchFamily="34" charset="-127"/>
                <a:ea typeface="나눔스퀘어" panose="020B0600000101010101" pitchFamily="34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7" name="텍스트 개체 틀 9">
            <a:extLst>
              <a:ext uri="{FF2B5EF4-FFF2-40B4-BE49-F238E27FC236}">
                <a16:creationId xmlns:a16="http://schemas.microsoft.com/office/drawing/2014/main" id="{71E27957-26FC-ECEE-CE69-9C494CE81AF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2520" y="279340"/>
            <a:ext cx="1728192" cy="215850"/>
          </a:xfrm>
        </p:spPr>
        <p:txBody>
          <a:bodyPr anchor="ctr"/>
          <a:lstStyle>
            <a:lvl1pPr>
              <a:buNone/>
              <a:defRPr sz="900">
                <a:solidFill>
                  <a:schemeClr val="tx1">
                    <a:lumMod val="65000"/>
                    <a:lumOff val="35000"/>
                  </a:schemeClr>
                </a:solidFill>
                <a:latin typeface="나눔스퀘어" panose="020B0600000101010101" pitchFamily="34" charset="-127"/>
                <a:ea typeface="나눔스퀘어" panose="020B0600000101010101" pitchFamily="34" charset="-127"/>
              </a:defRPr>
            </a:lvl1pPr>
          </a:lstStyle>
          <a:p>
            <a:pPr lvl="0"/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8535B1E-97F1-47FE-730B-4F7E5D1D73C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585823" y="6411947"/>
            <a:ext cx="850580" cy="209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667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빈 화면">
    <p:bg>
      <p:bgPr>
        <a:solidFill>
          <a:srgbClr val="0304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>
            <a:extLst>
              <a:ext uri="{FF2B5EF4-FFF2-40B4-BE49-F238E27FC236}">
                <a16:creationId xmlns:a16="http://schemas.microsoft.com/office/drawing/2014/main" id="{217AE46A-AFD7-C472-0070-4DBE8D98E69F}"/>
              </a:ext>
            </a:extLst>
          </p:cNvPr>
          <p:cNvGrpSpPr/>
          <p:nvPr userDrawn="1"/>
        </p:nvGrpSpPr>
        <p:grpSpPr>
          <a:xfrm>
            <a:off x="0" y="0"/>
            <a:ext cx="9906000" cy="6858000"/>
            <a:chOff x="0" y="0"/>
            <a:chExt cx="9906000" cy="6858000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F8B20877-1E9D-9A87-0346-CE11C1288EA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alphaModFix amt="45000"/>
            </a:blip>
            <a:stretch>
              <a:fillRect/>
            </a:stretch>
          </p:blipFill>
          <p:spPr>
            <a:xfrm>
              <a:off x="1511300" y="0"/>
              <a:ext cx="8394700" cy="6858000"/>
            </a:xfrm>
            <a:prstGeom prst="rect">
              <a:avLst/>
            </a:prstGeom>
          </p:spPr>
        </p:pic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9F34FB41-8467-74DB-0C7B-A49747AA0FCB}"/>
                </a:ext>
              </a:extLst>
            </p:cNvPr>
            <p:cNvSpPr/>
            <p:nvPr userDrawn="1"/>
          </p:nvSpPr>
          <p:spPr>
            <a:xfrm>
              <a:off x="0" y="0"/>
              <a:ext cx="8556171" cy="6858000"/>
            </a:xfrm>
            <a:prstGeom prst="rect">
              <a:avLst/>
            </a:prstGeom>
            <a:gradFill flip="none" rotWithShape="1">
              <a:gsLst>
                <a:gs pos="76000">
                  <a:schemeClr val="bg1">
                    <a:alpha val="0"/>
                  </a:schemeClr>
                </a:gs>
                <a:gs pos="34000">
                  <a:srgbClr val="030400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80">
                <a:latin typeface="나눔스퀘어" panose="020B0600000101010101" pitchFamily="34" charset="-127"/>
                <a:ea typeface="나눔스퀘어" panose="020B0600000101010101" pitchFamily="34" charset="-127"/>
              </a:endParaRPr>
            </a:p>
          </p:txBody>
        </p:sp>
      </p:grpSp>
      <p:sp>
        <p:nvSpPr>
          <p:cNvPr id="3" name="Google Shape;42;p4">
            <a:extLst>
              <a:ext uri="{FF2B5EF4-FFF2-40B4-BE49-F238E27FC236}">
                <a16:creationId xmlns:a16="http://schemas.microsoft.com/office/drawing/2014/main" id="{032053A7-B9B7-4901-723E-1A7A2C802C20}"/>
              </a:ext>
            </a:extLst>
          </p:cNvPr>
          <p:cNvSpPr/>
          <p:nvPr userDrawn="1"/>
        </p:nvSpPr>
        <p:spPr>
          <a:xfrm>
            <a:off x="672381" y="6327581"/>
            <a:ext cx="2615021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67E"/>
              </a:buClr>
              <a:buSzPts val="900"/>
              <a:buFont typeface="Malgun Gothic"/>
              <a:buNone/>
            </a:pPr>
            <a:r>
              <a:rPr lang="en-US" sz="675" b="0" i="0" u="none" strike="noStrike" cap="none" dirty="0">
                <a:solidFill>
                  <a:srgbClr val="8A867E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/>
                <a:sym typeface="Malgun Gothic"/>
              </a:rPr>
              <a:t>Copyright 2026 Konan Technology Inc. All rights reserved.</a:t>
            </a:r>
            <a:endParaRPr sz="675" b="0" i="0" u="none" strike="noStrike" cap="none" dirty="0">
              <a:solidFill>
                <a:schemeClr val="dk1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Calibri"/>
              <a:sym typeface="Calibri"/>
            </a:endParaRPr>
          </a:p>
        </p:txBody>
      </p:sp>
      <p:sp>
        <p:nvSpPr>
          <p:cNvPr id="11" name="텍스트 개체 틀 9">
            <a:extLst>
              <a:ext uri="{FF2B5EF4-FFF2-40B4-BE49-F238E27FC236}">
                <a16:creationId xmlns:a16="http://schemas.microsoft.com/office/drawing/2014/main" id="{2ACB2269-7231-9566-5291-C677E3959AF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2381" y="2373280"/>
            <a:ext cx="2029517" cy="166709"/>
          </a:xfrm>
        </p:spPr>
        <p:txBody>
          <a:bodyPr anchor="ctr"/>
          <a:lstStyle>
            <a:lvl1pPr marL="0" marR="0" indent="0" algn="l" defTabSz="685800" rtl="0" eaLnBrk="1" fontAlgn="auto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80">
                <a:solidFill>
                  <a:srgbClr val="F3731F"/>
                </a:solidFill>
                <a:latin typeface="나눔스퀘어" panose="020B0600000101010101" pitchFamily="34" charset="-127"/>
                <a:ea typeface="나눔스퀘어" panose="020B0600000101010101" pitchFamily="34" charset="-127"/>
              </a:defRPr>
            </a:lvl1pPr>
          </a:lstStyle>
          <a:p>
            <a:pPr marL="0" marR="0" lvl="0" indent="0" algn="l" defTabSz="685800" rtl="0" eaLnBrk="1" fontAlgn="auto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ko-KR" dirty="0"/>
              <a:t>CHAPTER 01</a:t>
            </a:r>
            <a:endParaRPr lang="ko-KR" altLang="en-US" dirty="0"/>
          </a:p>
        </p:txBody>
      </p:sp>
      <p:sp>
        <p:nvSpPr>
          <p:cNvPr id="13" name="텍스트 개체 틀 9">
            <a:extLst>
              <a:ext uri="{FF2B5EF4-FFF2-40B4-BE49-F238E27FC236}">
                <a16:creationId xmlns:a16="http://schemas.microsoft.com/office/drawing/2014/main" id="{0BA8AF74-B784-5624-85A1-D1AE82E5876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2381" y="2674620"/>
            <a:ext cx="7333546" cy="75438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5400">
                <a:solidFill>
                  <a:schemeClr val="tx1"/>
                </a:solidFill>
                <a:latin typeface="나눔스퀘어 ExtraBold" panose="020B0600000101010101" pitchFamily="34" charset="-127"/>
                <a:ea typeface="나눔스퀘어 ExtraBold" panose="020B0600000101010101" pitchFamily="34" charset="-127"/>
              </a:defRPr>
            </a:lvl1pPr>
          </a:lstStyle>
          <a:p>
            <a:pPr lvl="0"/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16" name="텍스트 개체 틀 9">
            <a:extLst>
              <a:ext uri="{FF2B5EF4-FFF2-40B4-BE49-F238E27FC236}">
                <a16:creationId xmlns:a16="http://schemas.microsoft.com/office/drawing/2014/main" id="{88BC0032-0275-684F-39DA-FC0AD1097CC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72381" y="3566160"/>
            <a:ext cx="5083650" cy="502920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3200">
                <a:solidFill>
                  <a:schemeClr val="tx1"/>
                </a:solidFill>
                <a:latin typeface="나눔스퀘어 ExtraBold" panose="020B0600000101010101" pitchFamily="34" charset="-127"/>
                <a:ea typeface="나눔스퀘어 ExtraBold" panose="020B0600000101010101" pitchFamily="34" charset="-127"/>
              </a:defRPr>
            </a:lvl1pPr>
          </a:lstStyle>
          <a:p>
            <a:pPr lvl="0"/>
            <a:r>
              <a:rPr lang="ko-KR" altLang="en-US" dirty="0"/>
              <a:t>왜 지금 </a:t>
            </a:r>
            <a:r>
              <a:rPr lang="en-US" altLang="ko-KR" dirty="0"/>
              <a:t>Agent-X</a:t>
            </a:r>
            <a:r>
              <a:rPr lang="ko-KR" altLang="en-US" dirty="0"/>
              <a:t>인가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2BFA6D5-DB7A-C942-534D-BE2A8514DCC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85823" y="6411947"/>
            <a:ext cx="850580" cy="209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0897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964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목차">
    <p:bg>
      <p:bgPr>
        <a:solidFill>
          <a:srgbClr val="F5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1AA1FE9-C021-2380-C048-9E7908C7CCF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</a:extLst>
          </a:blip>
          <a:srcRect l="2328" t="-82" r="7468" b="82"/>
          <a:stretch>
            <a:fillRect/>
          </a:stretch>
        </p:blipFill>
        <p:spPr>
          <a:xfrm flipH="1">
            <a:off x="-1" y="-5604"/>
            <a:ext cx="9906000" cy="6863603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DD5C5C2A-E8DA-B9AA-20F2-7DB2476BD642}"/>
              </a:ext>
            </a:extLst>
          </p:cNvPr>
          <p:cNvSpPr/>
          <p:nvPr userDrawn="1"/>
        </p:nvSpPr>
        <p:spPr>
          <a:xfrm rot="10800000">
            <a:off x="258184" y="-5604"/>
            <a:ext cx="9647816" cy="6863604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F5F6F7"/>
              </a:gs>
              <a:gs pos="79000">
                <a:srgbClr val="F5F6F7">
                  <a:alpha val="0"/>
                </a:srgb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Google Shape;25;p4">
            <a:extLst>
              <a:ext uri="{FF2B5EF4-FFF2-40B4-BE49-F238E27FC236}">
                <a16:creationId xmlns:a16="http://schemas.microsoft.com/office/drawing/2014/main" id="{7A1A0B56-279E-2FA1-A2E6-A0ED7BD72929}"/>
              </a:ext>
            </a:extLst>
          </p:cNvPr>
          <p:cNvSpPr/>
          <p:nvPr userDrawn="1"/>
        </p:nvSpPr>
        <p:spPr>
          <a:xfrm>
            <a:off x="512242" y="354827"/>
            <a:ext cx="6858000" cy="586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E8592A"/>
              </a:buClr>
              <a:buSzPts val="1300"/>
            </a:pPr>
            <a:r>
              <a:rPr lang="en-US" altLang="ko-KR" sz="3200" dirty="0">
                <a:gradFill flip="none" rotWithShape="1">
                  <a:gsLst>
                    <a:gs pos="0">
                      <a:schemeClr val="tx1">
                        <a:lumMod val="35000"/>
                        <a:lumOff val="65000"/>
                      </a:schemeClr>
                    </a:gs>
                    <a:gs pos="42000">
                      <a:schemeClr val="tx1">
                        <a:lumMod val="95000"/>
                        <a:lumOff val="5000"/>
                      </a:schemeClr>
                    </a:gs>
                  </a:gsLst>
                  <a:lin ang="2700000" scaled="1"/>
                  <a:tileRect/>
                </a:gra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lgun Gothic"/>
                <a:sym typeface="Malgun Gothic"/>
              </a:rPr>
              <a:t>CONTENTS</a:t>
            </a:r>
            <a:endParaRPr lang="ko-KR" altLang="en-US" sz="3200" dirty="0">
              <a:gradFill flip="none" rotWithShape="1">
                <a:gsLst>
                  <a:gs pos="0">
                    <a:schemeClr val="tx1">
                      <a:lumMod val="35000"/>
                      <a:lumOff val="65000"/>
                    </a:schemeClr>
                  </a:gs>
                  <a:gs pos="42000">
                    <a:schemeClr val="tx1">
                      <a:lumMod val="95000"/>
                      <a:lumOff val="5000"/>
                    </a:schemeClr>
                  </a:gs>
                </a:gsLst>
                <a:lin ang="2700000" scaled="1"/>
                <a:tileRect/>
              </a:gradFill>
              <a:latin typeface="나눔스퀘어 ExtraBold" panose="020B0600000101010101" pitchFamily="50" charset="-127"/>
              <a:ea typeface="나눔스퀘어 ExtraBold" panose="020B0600000101010101" pitchFamily="50" charset="-127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37289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27F9960-313F-2607-9E4A-E2DEDE94717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8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A2F905D2-865E-F6C3-D5E9-39E8604EF4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38575" y="6332539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16148F-D84E-47A3-B267-E08DF939B7C4}" type="slidenum">
              <a:rPr lang="ko-KR" altLang="en-US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pPr/>
              <a:t>‹#›</a:t>
            </a:fld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/27</a:t>
            </a:r>
            <a:endParaRPr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Google Shape;42;p4">
            <a:extLst>
              <a:ext uri="{FF2B5EF4-FFF2-40B4-BE49-F238E27FC236}">
                <a16:creationId xmlns:a16="http://schemas.microsoft.com/office/drawing/2014/main" id="{3A144EE7-B219-C639-1965-BC354E09811B}"/>
              </a:ext>
            </a:extLst>
          </p:cNvPr>
          <p:cNvSpPr/>
          <p:nvPr userDrawn="1"/>
        </p:nvSpPr>
        <p:spPr>
          <a:xfrm>
            <a:off x="520065" y="6355080"/>
            <a:ext cx="2615021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67E"/>
              </a:buClr>
              <a:buSzPts val="900"/>
              <a:buFont typeface="Malgun Gothic"/>
              <a:buNone/>
            </a:pPr>
            <a:r>
              <a:rPr lang="en-US" sz="675" b="0" i="0" u="none" strike="noStrike" cap="none" dirty="0">
                <a:solidFill>
                  <a:srgbClr val="8A867E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/>
                <a:sym typeface="Malgun Gothic"/>
              </a:rPr>
              <a:t>Copyright 2026 Konan Technology Inc. All rights reserved.</a:t>
            </a:r>
            <a:endParaRPr sz="675" b="0" i="0" u="none" strike="noStrike" cap="none" dirty="0">
              <a:solidFill>
                <a:schemeClr val="dk1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Calibri"/>
              <a:sym typeface="Calibri"/>
            </a:endParaRPr>
          </a:p>
        </p:txBody>
      </p:sp>
      <p:sp>
        <p:nvSpPr>
          <p:cNvPr id="4" name="텍스트 개체 틀 9">
            <a:extLst>
              <a:ext uri="{FF2B5EF4-FFF2-40B4-BE49-F238E27FC236}">
                <a16:creationId xmlns:a16="http://schemas.microsoft.com/office/drawing/2014/main" id="{273688CA-A6DA-C51A-68A3-8FA3A40C79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6844" y="279340"/>
            <a:ext cx="359271" cy="215850"/>
          </a:xfrm>
        </p:spPr>
        <p:txBody>
          <a:bodyPr anchor="ctr"/>
          <a:lstStyle>
            <a:lvl1pPr>
              <a:buNone/>
              <a:defRPr sz="900">
                <a:solidFill>
                  <a:srgbClr val="F3731F"/>
                </a:solidFill>
                <a:latin typeface="나눔스퀘어" panose="020B0600000101010101" pitchFamily="34" charset="-127"/>
                <a:ea typeface="나눔스퀘어" panose="020B0600000101010101" pitchFamily="34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7" name="텍스트 개체 틀 9">
            <a:extLst>
              <a:ext uri="{FF2B5EF4-FFF2-40B4-BE49-F238E27FC236}">
                <a16:creationId xmlns:a16="http://schemas.microsoft.com/office/drawing/2014/main" id="{98944EAF-918B-865F-3138-C6EFBD88B57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2520" y="279340"/>
            <a:ext cx="1728192" cy="215850"/>
          </a:xfrm>
        </p:spPr>
        <p:txBody>
          <a:bodyPr anchor="ctr"/>
          <a:lstStyle>
            <a:lvl1pPr>
              <a:buNone/>
              <a:defRPr sz="9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DA40F2D-E070-A29B-B321-B4E067BCDB7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585823" y="6411947"/>
            <a:ext cx="850580" cy="209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0911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 화면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:a16="http://schemas.microsoft.com/office/drawing/2014/main" id="{F1C2898F-CF34-774E-3E05-2DC89B8C0FE3}"/>
              </a:ext>
            </a:extLst>
          </p:cNvPr>
          <p:cNvGrpSpPr/>
          <p:nvPr userDrawn="1"/>
        </p:nvGrpSpPr>
        <p:grpSpPr>
          <a:xfrm>
            <a:off x="0" y="0"/>
            <a:ext cx="9906000" cy="6858000"/>
            <a:chOff x="0" y="0"/>
            <a:chExt cx="9906000" cy="6858000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690A3E2C-93E2-8B63-B32A-A73422F7E9C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alphaModFix amt="35000"/>
            </a:blip>
            <a:stretch>
              <a:fillRect/>
            </a:stretch>
          </p:blipFill>
          <p:spPr>
            <a:xfrm>
              <a:off x="1511300" y="0"/>
              <a:ext cx="8394700" cy="6858000"/>
            </a:xfrm>
            <a:prstGeom prst="rect">
              <a:avLst/>
            </a:prstGeom>
          </p:spPr>
        </p:pic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FBBCF10C-5080-C333-B50A-609C2B5F2D3E}"/>
                </a:ext>
              </a:extLst>
            </p:cNvPr>
            <p:cNvSpPr/>
            <p:nvPr userDrawn="1"/>
          </p:nvSpPr>
          <p:spPr>
            <a:xfrm>
              <a:off x="0" y="0"/>
              <a:ext cx="8556171" cy="6858000"/>
            </a:xfrm>
            <a:prstGeom prst="rect">
              <a:avLst/>
            </a:prstGeom>
            <a:gradFill flip="none" rotWithShape="1">
              <a:gsLst>
                <a:gs pos="76000">
                  <a:schemeClr val="bg1">
                    <a:alpha val="0"/>
                  </a:schemeClr>
                </a:gs>
                <a:gs pos="34000">
                  <a:srgbClr val="030400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A2F905D2-865E-F6C3-D5E9-39E8604EF4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38575" y="6332539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16148F-D84E-47A3-B267-E08DF939B7C4}" type="slidenum">
              <a:rPr lang="ko-KR" altLang="en-US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pPr/>
              <a:t>‹#›</a:t>
            </a:fld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/27</a:t>
            </a:r>
            <a:endParaRPr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7" name="Google Shape;42;p4">
            <a:extLst>
              <a:ext uri="{FF2B5EF4-FFF2-40B4-BE49-F238E27FC236}">
                <a16:creationId xmlns:a16="http://schemas.microsoft.com/office/drawing/2014/main" id="{64A85C17-36FF-DF42-7077-A49F23B72996}"/>
              </a:ext>
            </a:extLst>
          </p:cNvPr>
          <p:cNvSpPr/>
          <p:nvPr userDrawn="1"/>
        </p:nvSpPr>
        <p:spPr>
          <a:xfrm>
            <a:off x="520065" y="6355080"/>
            <a:ext cx="2615021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67E"/>
              </a:buClr>
              <a:buSzPts val="900"/>
              <a:buFont typeface="Malgun Gothic"/>
              <a:buNone/>
            </a:pPr>
            <a:r>
              <a:rPr lang="en-US" sz="675" b="0" i="0" u="none" strike="noStrike" cap="none" dirty="0">
                <a:solidFill>
                  <a:srgbClr val="8A867E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/>
                <a:sym typeface="Malgun Gothic"/>
              </a:rPr>
              <a:t>Copyright 2026 Konan Technology Inc. All rights reserved.</a:t>
            </a:r>
            <a:endParaRPr sz="675" b="0" i="0" u="none" strike="noStrike" cap="none" dirty="0">
              <a:solidFill>
                <a:schemeClr val="dk1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Calibri"/>
              <a:sym typeface="Calibri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D3F5B95-D44D-D20A-B8B9-0E5AA050C04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85823" y="6411947"/>
            <a:ext cx="850580" cy="209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887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빈 화면">
    <p:bg>
      <p:bgPr>
        <a:solidFill>
          <a:srgbClr val="0304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>
            <a:extLst>
              <a:ext uri="{FF2B5EF4-FFF2-40B4-BE49-F238E27FC236}">
                <a16:creationId xmlns:a16="http://schemas.microsoft.com/office/drawing/2014/main" id="{217AE46A-AFD7-C472-0070-4DBE8D98E69F}"/>
              </a:ext>
            </a:extLst>
          </p:cNvPr>
          <p:cNvGrpSpPr/>
          <p:nvPr userDrawn="1"/>
        </p:nvGrpSpPr>
        <p:grpSpPr>
          <a:xfrm>
            <a:off x="0" y="0"/>
            <a:ext cx="9906000" cy="6858000"/>
            <a:chOff x="0" y="0"/>
            <a:chExt cx="9906000" cy="6858000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F8B20877-1E9D-9A87-0346-CE11C1288EA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alphaModFix amt="35000"/>
            </a:blip>
            <a:stretch>
              <a:fillRect/>
            </a:stretch>
          </p:blipFill>
          <p:spPr>
            <a:xfrm>
              <a:off x="1511300" y="0"/>
              <a:ext cx="8394700" cy="6858000"/>
            </a:xfrm>
            <a:prstGeom prst="rect">
              <a:avLst/>
            </a:prstGeom>
          </p:spPr>
        </p:pic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9F34FB41-8467-74DB-0C7B-A49747AA0FCB}"/>
                </a:ext>
              </a:extLst>
            </p:cNvPr>
            <p:cNvSpPr/>
            <p:nvPr userDrawn="1"/>
          </p:nvSpPr>
          <p:spPr>
            <a:xfrm>
              <a:off x="0" y="0"/>
              <a:ext cx="8556171" cy="6858000"/>
            </a:xfrm>
            <a:prstGeom prst="rect">
              <a:avLst/>
            </a:prstGeom>
            <a:gradFill flip="none" rotWithShape="1">
              <a:gsLst>
                <a:gs pos="76000">
                  <a:schemeClr val="bg1">
                    <a:alpha val="0"/>
                  </a:schemeClr>
                </a:gs>
                <a:gs pos="34000">
                  <a:srgbClr val="030400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80">
                <a:latin typeface="나눔스퀘어" panose="020B0600000101010101" pitchFamily="34" charset="-127"/>
                <a:ea typeface="나눔스퀘어" panose="020B0600000101010101" pitchFamily="34" charset="-127"/>
              </a:endParaRPr>
            </a:p>
          </p:txBody>
        </p:sp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C5387C23-2246-B65D-4BF9-D941A5E54C3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85823" y="6411947"/>
            <a:ext cx="850580" cy="209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3249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slideLayout" Target="../slideLayouts/slideLayout10.xml"/><Relationship Id="rId3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3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8D1473F-7D07-9D4C-4A52-4981A862F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53641E2-591F-3128-ACF2-DDD25B9C62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008396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701" r:id="rId2"/>
    <p:sldLayoutId id="2147483705" r:id="rId3"/>
    <p:sldLayoutId id="2147483696" r:id="rId4"/>
    <p:sldLayoutId id="2147483702" r:id="rId5"/>
    <p:sldLayoutId id="2147483703" r:id="rId6"/>
    <p:sldLayoutId id="2147483695" r:id="rId7"/>
    <p:sldLayoutId id="2147483707" r:id="rId8"/>
  </p:sldLayoutIdLst>
  <p:hf hdr="0" ftr="0" dt="0"/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8D1473F-7D07-9D4C-4A52-4981A862F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53641E2-591F-3128-ACF2-DDD25B9C62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328BDC0-47D2-312F-8CE3-EC2FC7A85E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38575" y="6332539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16148F-D84E-47A3-B267-E08DF939B7C4}" type="slidenum">
              <a:rPr lang="ko-KR" altLang="en-US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pPr/>
              <a:t>‹#›</a:t>
            </a:fld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/27</a:t>
            </a:r>
            <a:endParaRPr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08584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700" r:id="rId3"/>
    <p:sldLayoutId id="2147483699" r:id="rId4"/>
    <p:sldLayoutId id="2147483706" r:id="rId5"/>
  </p:sldLayoutIdLst>
  <p:hf hdr="0" ftr="0" dt="0"/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4.png"/><Relationship Id="rId4" Type="http://schemas.microsoft.com/office/2007/relationships/hdphoto" Target="../media/hdphoto9.wdp"/><Relationship Id="rId5" Type="http://schemas.openxmlformats.org/officeDocument/2006/relationships/image" Target="../media/image45.png"/><Relationship Id="rId6" Type="http://schemas.openxmlformats.org/officeDocument/2006/relationships/image" Target="../media/image2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5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Relationship Id="rId3" Type="http://schemas.openxmlformats.org/officeDocument/2006/relationships/image" Target="../media/image52.png"/><Relationship Id="rId4" Type="http://schemas.openxmlformats.org/officeDocument/2006/relationships/image" Target="../media/image48.png"/><Relationship Id="rId5" Type="http://schemas.openxmlformats.org/officeDocument/2006/relationships/image" Target="../media/image5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Relationship Id="rId3" Type="http://schemas.openxmlformats.org/officeDocument/2006/relationships/image" Target="../media/image56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image" Target="../media/image57.png"/><Relationship Id="rId4" Type="http://schemas.openxmlformats.org/officeDocument/2006/relationships/image" Target="../media/image50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image" Target="../media/image59.png"/><Relationship Id="rId4" Type="http://schemas.openxmlformats.org/officeDocument/2006/relationships/image" Target="../media/image60.png"/><Relationship Id="rId5" Type="http://schemas.openxmlformats.org/officeDocument/2006/relationships/image" Target="../media/image6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Relationship Id="rId3" Type="http://schemas.openxmlformats.org/officeDocument/2006/relationships/image" Target="../media/image57.png"/><Relationship Id="rId4" Type="http://schemas.openxmlformats.org/officeDocument/2006/relationships/image" Target="../media/image6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5">
          <a:extLst>
            <a:ext uri="{FF2B5EF4-FFF2-40B4-BE49-F238E27FC236}">
              <a16:creationId xmlns:a16="http://schemas.microsoft.com/office/drawing/2014/main" id="{CD20363C-CE99-350D-A2DA-1B4D3EDFF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그림 24">
            <a:extLst>
              <a:ext uri="{FF2B5EF4-FFF2-40B4-BE49-F238E27FC236}">
                <a16:creationId xmlns:a16="http://schemas.microsoft.com/office/drawing/2014/main" id="{9AE0A463-2EC1-DBE1-9BC0-4678AABC0B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8179"/>
            <a:ext cx="9905999" cy="6858000"/>
          </a:xfrm>
          <a:prstGeom prst="rect">
            <a:avLst/>
          </a:prstGeom>
        </p:spPr>
      </p:pic>
      <p:sp>
        <p:nvSpPr>
          <p:cNvPr id="16" name="Google Shape;16;p3">
            <a:extLst>
              <a:ext uri="{FF2B5EF4-FFF2-40B4-BE49-F238E27FC236}">
                <a16:creationId xmlns:a16="http://schemas.microsoft.com/office/drawing/2014/main" id="{7B787E3D-00C3-CBFD-AFF1-2DE244EE1163}"/>
              </a:ext>
            </a:extLst>
          </p:cNvPr>
          <p:cNvSpPr/>
          <p:nvPr/>
        </p:nvSpPr>
        <p:spPr>
          <a:xfrm>
            <a:off x="673200" y="1600200"/>
            <a:ext cx="617220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FFFFFF"/>
              </a:buClr>
              <a:buSzPts val="6000"/>
            </a:pPr>
            <a:r>
              <a:rPr lang="en-US" altLang="ko-KR" sz="3800" dirty="0" err="1">
                <a:solidFill>
                  <a:srgbClr val="FFFFF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lgun Gothic"/>
                <a:sym typeface="Malgun Gothic"/>
              </a:rPr>
              <a:t>엔지니어링 메타DB</a:t>
            </a:r>
            <a:endParaRPr lang="ko-KR" altLang="en-US" sz="5400" dirty="0">
              <a:solidFill>
                <a:schemeClr val="dk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cs typeface="Calibri"/>
              <a:sym typeface="Calibri"/>
            </a:endParaRPr>
          </a:p>
          <a:p>
            <a:pPr>
              <a:buClr>
                <a:srgbClr val="FFFFFF"/>
              </a:buClr>
              <a:buSzPts val="6000"/>
            </a:pPr>
            <a:r>
              <a:rPr lang="en-US" altLang="ko-KR" sz="3800" dirty="0" err="1">
                <a:solidFill>
                  <a:srgbClr val="FFFFF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lgun Gothic"/>
                <a:sym typeface="Malgun Gothic"/>
              </a:rPr>
              <a:t>× 하이브리드 RAG</a:t>
            </a:r>
            <a:endParaRPr lang="ko-KR" altLang="en-US" sz="5400" dirty="0">
              <a:solidFill>
                <a:schemeClr val="dk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cs typeface="Calibri"/>
              <a:sym typeface="Calibri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712077B-B420-5678-B956-5865EDAB54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1498" y="376988"/>
            <a:ext cx="1018037" cy="251049"/>
          </a:xfrm>
          <a:prstGeom prst="rect">
            <a:avLst/>
          </a:prstGeom>
        </p:spPr>
      </p:pic>
      <p:sp>
        <p:nvSpPr>
          <p:cNvPr id="14" name="Google Shape;17;p3">
            <a:extLst>
              <a:ext uri="{FF2B5EF4-FFF2-40B4-BE49-F238E27FC236}">
                <a16:creationId xmlns:a16="http://schemas.microsoft.com/office/drawing/2014/main" id="{90B3F0E8-A868-69DC-B027-07189DBCEFF8}"/>
              </a:ext>
            </a:extLst>
          </p:cNvPr>
          <p:cNvSpPr/>
          <p:nvPr/>
        </p:nvSpPr>
        <p:spPr>
          <a:xfrm>
            <a:off x="673200" y="3611880"/>
            <a:ext cx="64008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ts val="2200"/>
              </a:lnSpc>
              <a:buClr>
                <a:srgbClr val="D8D5CE"/>
              </a:buClr>
              <a:buSzPts val="1600"/>
            </a:pPr>
            <a:r>
              <a:rPr lang="ko-KR" altLang="en-US" sz="1500" dirty="0">
                <a:solidFill>
                  <a:schemeClr val="bg1">
                    <a:lumMod val="9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/>
                <a:sym typeface="Malgun Gothic"/>
              </a:rPr>
              <a:t>사내 엔지니어링 메타DB 구축 및</a:t>
            </a:r>
            <a:endParaRPr lang="en-US" altLang="ko-KR" sz="1500" dirty="0">
              <a:solidFill>
                <a:schemeClr val="bg1">
                  <a:lumMod val="9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Malgun Gothic"/>
              <a:sym typeface="Malgun Gothic"/>
            </a:endParaRPr>
          </a:p>
          <a:p>
            <a:pPr>
              <a:lnSpc>
                <a:spcPts val="2200"/>
              </a:lnSpc>
              <a:buClr>
                <a:srgbClr val="D8D5CE"/>
              </a:buClr>
              <a:buSzPts val="1600"/>
            </a:pPr>
            <a:r>
              <a:rPr lang="ko-KR" altLang="en-US" sz="1500" dirty="0">
                <a:solidFill>
                  <a:schemeClr val="bg1">
                    <a:lumMod val="9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Calibri"/>
                <a:sym typeface="Malgun Gothic"/>
              </a:rPr>
              <a:t>오픈소스 AI(SLM/LLM) 기반 온프레미스 RAG 시스템</a:t>
            </a:r>
            <a:endParaRPr lang="ko-KR" altLang="en-US" sz="1500" dirty="0">
              <a:solidFill>
                <a:schemeClr val="bg1">
                  <a:lumMod val="9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Calibri"/>
              <a:sym typeface="Calibri"/>
            </a:endParaRPr>
          </a:p>
          <a:p>
            <a:pPr>
              <a:lnSpc>
                <a:spcPts val="2200"/>
              </a:lnSpc>
              <a:buClr>
                <a:srgbClr val="D8D5CE"/>
              </a:buClr>
              <a:buSzPts val="1600"/>
            </a:pPr>
            <a:r>
              <a:rPr lang="ko-KR" altLang="en-US" sz="1500" dirty="0">
                <a:solidFill>
                  <a:schemeClr val="bg1">
                    <a:lumMod val="9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Calibri"/>
                <a:sym typeface="Malgun Gothic"/>
              </a:rPr>
              <a:t>Agent-X 기반 수행 방안  |  고객 미팅 자료  |  2026.10</a:t>
            </a:r>
            <a:endParaRPr lang="ko-KR" altLang="en-US" sz="1500" dirty="0">
              <a:solidFill>
                <a:schemeClr val="bg1">
                  <a:lumMod val="9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Calibri"/>
              <a:sym typeface="Calibri"/>
            </a:endParaRPr>
          </a:p>
        </p:txBody>
      </p:sp>
      <p:sp>
        <p:nvSpPr>
          <p:cNvPr id="18" name="Google Shape;42;p4">
            <a:extLst>
              <a:ext uri="{FF2B5EF4-FFF2-40B4-BE49-F238E27FC236}">
                <a16:creationId xmlns:a16="http://schemas.microsoft.com/office/drawing/2014/main" id="{30310A3F-4963-7C5B-89F9-25DABC6B5F9F}"/>
              </a:ext>
            </a:extLst>
          </p:cNvPr>
          <p:cNvSpPr/>
          <p:nvPr/>
        </p:nvSpPr>
        <p:spPr>
          <a:xfrm>
            <a:off x="6834514" y="6262900"/>
            <a:ext cx="2615021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A867E"/>
              </a:buClr>
              <a:buSzPts val="900"/>
              <a:buFont typeface="Malgun Gothic"/>
              <a:buNone/>
            </a:pPr>
            <a:r>
              <a:rPr lang="en-US" sz="675" b="0" i="0" u="none" strike="noStrike" cap="none" dirty="0">
                <a:solidFill>
                  <a:srgbClr val="8A867E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/>
                <a:sym typeface="Malgun Gothic"/>
              </a:rPr>
              <a:t>Copyright 2026 Konan Technology Inc. All rights reserved.</a:t>
            </a:r>
            <a:endParaRPr sz="675" b="0" i="0" u="none" strike="noStrike" cap="none" dirty="0">
              <a:solidFill>
                <a:schemeClr val="dk1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276408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7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4190670" y="3429000"/>
            <a:ext cx="7544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E8592A"/>
              </a:buClr>
              <a:buSzPts val="3000"/>
            </a:pPr>
            <a:r>
              <a:rPr lang="en-US" altLang="ko-KR" spc="-40" dirty="0">
                <a:solidFill>
                  <a:srgbClr val="F87D02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gun Gothic"/>
                <a:sym typeface="Malgun Gothic"/>
              </a:rPr>
              <a:t>01</a:t>
            </a:r>
            <a:endParaRPr lang="ko-KR" altLang="en-US" spc="-40" dirty="0">
              <a:solidFill>
                <a:srgbClr val="F87D02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Calibri"/>
              <a:sym typeface="Calibri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4670820" y="3429000"/>
            <a:ext cx="3618413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1A1714"/>
              </a:buClr>
              <a:buSzPts val="2000"/>
            </a:pPr>
            <a:r>
              <a:rPr lang="ko-KR" altLang="en-US" sz="1200" dirty="0">
                <a:solidFill>
                  <a:srgbClr val="1A1714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gun Gothic"/>
                <a:sym typeface="Malgun Gothic"/>
              </a:rPr>
              <a:t>사업 이해 - 목표와 핵심 과제</a:t>
            </a:r>
            <a:endParaRPr lang="ko-KR" altLang="en-US" sz="1200" dirty="0">
              <a:solidFill>
                <a:schemeClr val="dk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8542021" y="3429000"/>
            <a:ext cx="61717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r">
              <a:buClr>
                <a:srgbClr val="8A867E"/>
              </a:buClr>
              <a:buSzPts val="1300"/>
            </a:pPr>
            <a:r>
              <a:rPr lang="en-US" altLang="ko-KR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/>
                <a:sym typeface="Malgun Gothic"/>
              </a:rPr>
              <a:t>03</a:t>
            </a:r>
            <a:endParaRPr lang="ko-KR" altLang="en-US" sz="1050" dirty="0">
              <a:solidFill>
                <a:schemeClr val="tx1">
                  <a:lumMod val="50000"/>
                  <a:lumOff val="50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4190670" y="4142936"/>
            <a:ext cx="7544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E8592A"/>
              </a:buClr>
              <a:buSzPts val="3000"/>
            </a:pPr>
            <a:r>
              <a:rPr lang="en-US" altLang="ko-KR" spc="-40" dirty="0">
                <a:solidFill>
                  <a:srgbClr val="F87D02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gun Gothic"/>
                <a:sym typeface="Malgun Gothic"/>
              </a:rPr>
              <a:t>02</a:t>
            </a:r>
            <a:endParaRPr lang="ko-KR" altLang="en-US" spc="-40" dirty="0">
              <a:solidFill>
                <a:srgbClr val="F87D02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4670820" y="4142936"/>
            <a:ext cx="3618413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1A1714"/>
              </a:buClr>
              <a:buSzPts val="2000"/>
            </a:pPr>
            <a:r>
              <a:rPr lang="en-US" altLang="ko-KR" sz="1200">
                <a:solidFill>
                  <a:srgbClr val="1A1714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gun Gothic"/>
                <a:sym typeface="Malgun Gothic"/>
              </a:rPr>
              <a:t>Agent-X 소개 - 플랫폼과 검증된 기술력</a:t>
            </a:r>
            <a:endParaRPr lang="ko-KR" altLang="en-US" sz="1200" dirty="0">
              <a:solidFill>
                <a:schemeClr val="dk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8542021" y="4142936"/>
            <a:ext cx="61717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r">
              <a:buClr>
                <a:srgbClr val="8A867E"/>
              </a:buClr>
              <a:buSzPts val="1300"/>
            </a:pPr>
            <a:r>
              <a:rPr lang="en-US" altLang="ko-KR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/>
                <a:sym typeface="Malgun Gothic"/>
              </a:rPr>
              <a:t>06</a:t>
            </a:r>
            <a:endParaRPr lang="ko-KR" altLang="en-US" sz="1050" dirty="0">
              <a:solidFill>
                <a:schemeClr val="tx1">
                  <a:lumMod val="50000"/>
                  <a:lumOff val="50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4190670" y="4840238"/>
            <a:ext cx="7544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E8592A"/>
              </a:buClr>
              <a:buSzPts val="3000"/>
            </a:pPr>
            <a:r>
              <a:rPr lang="en-US" altLang="ko-KR" spc="-40" dirty="0">
                <a:solidFill>
                  <a:srgbClr val="F87D02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gun Gothic"/>
                <a:sym typeface="Malgun Gothic"/>
              </a:rPr>
              <a:t>03</a:t>
            </a:r>
            <a:endParaRPr lang="ko-KR" altLang="en-US" spc="-40" dirty="0">
              <a:solidFill>
                <a:srgbClr val="F87D02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4670820" y="4840238"/>
            <a:ext cx="3618413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1A1714"/>
              </a:buClr>
              <a:buSzPts val="2000"/>
            </a:pPr>
            <a:r>
              <a:rPr lang="ko-KR" altLang="en-US" sz="1200" dirty="0">
                <a:solidFill>
                  <a:srgbClr val="1A1714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gun Gothic"/>
                <a:sym typeface="Malgun Gothic"/>
              </a:rPr>
              <a:t>수행 방안 - 아키텍처·메타DB·하이브리드 RAG</a:t>
            </a:r>
            <a:endParaRPr lang="ko-KR" altLang="en-US" sz="1200" dirty="0">
              <a:solidFill>
                <a:schemeClr val="dk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8542021" y="4840238"/>
            <a:ext cx="61717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r">
              <a:buClr>
                <a:srgbClr val="8A867E"/>
              </a:buClr>
              <a:buSzPts val="1300"/>
            </a:pPr>
            <a:r>
              <a:rPr lang="en-US" altLang="ko-KR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/>
                <a:sym typeface="Malgun Gothic"/>
              </a:rPr>
              <a:t>14</a:t>
            </a:r>
            <a:endParaRPr lang="ko-KR" altLang="en-US" sz="1050" dirty="0">
              <a:solidFill>
                <a:schemeClr val="tx1">
                  <a:lumMod val="50000"/>
                  <a:lumOff val="50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Calibri"/>
              <a:sym typeface="Calibri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F87785D8-6913-4F6B-7A3D-B023C55A239C}"/>
              </a:ext>
            </a:extLst>
          </p:cNvPr>
          <p:cNvGrpSpPr/>
          <p:nvPr/>
        </p:nvGrpSpPr>
        <p:grpSpPr>
          <a:xfrm>
            <a:off x="4190670" y="5553734"/>
            <a:ext cx="4968526" cy="685800"/>
            <a:chOff x="4190670" y="4767751"/>
            <a:chExt cx="4968526" cy="685800"/>
          </a:xfrm>
        </p:grpSpPr>
        <p:sp>
          <p:nvSpPr>
            <p:cNvPr id="38" name="Google Shape;38;p4"/>
            <p:cNvSpPr/>
            <p:nvPr/>
          </p:nvSpPr>
          <p:spPr>
            <a:xfrm>
              <a:off x="4190670" y="4767751"/>
              <a:ext cx="754425" cy="68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>
                <a:buClr>
                  <a:srgbClr val="E8592A"/>
                </a:buClr>
                <a:buSzPts val="3000"/>
              </a:pPr>
              <a:r>
                <a:rPr lang="en-US" altLang="ko-KR" spc="-40">
                  <a:solidFill>
                    <a:srgbClr val="F87D02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Malgun Gothic"/>
                  <a:sym typeface="Malgun Gothic"/>
                </a:rPr>
                <a:t>04</a:t>
              </a:r>
              <a:endParaRPr lang="ko-KR" altLang="en-US" spc="-40" dirty="0">
                <a:solidFill>
                  <a:srgbClr val="F87D02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Calibri"/>
                <a:sym typeface="Calibri"/>
              </a:endParaRPr>
            </a:p>
          </p:txBody>
        </p:sp>
        <p:sp>
          <p:nvSpPr>
            <p:cNvPr id="39" name="Google Shape;39;p4"/>
            <p:cNvSpPr/>
            <p:nvPr/>
          </p:nvSpPr>
          <p:spPr>
            <a:xfrm>
              <a:off x="4670820" y="4767751"/>
              <a:ext cx="3618413" cy="68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>
                <a:buClr>
                  <a:srgbClr val="1A1714"/>
                </a:buClr>
                <a:buSzPts val="2000"/>
              </a:pPr>
              <a:r>
                <a:rPr lang="ko-KR" altLang="en-US" sz="1200" dirty="0">
                  <a:solidFill>
                    <a:srgbClr val="1A1714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Calibri"/>
                  <a:sym typeface="Malgun Gothic"/>
                </a:rPr>
                <a:t>추진 계획 - 과업·일정·협업 체계</a:t>
              </a:r>
              <a:endParaRPr lang="ko-KR" altLang="en-US" sz="1200" dirty="0">
                <a:solidFill>
                  <a:schemeClr val="dk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Calibri"/>
                <a:sym typeface="Calibri"/>
              </a:endParaRPr>
            </a:p>
          </p:txBody>
        </p:sp>
        <p:sp>
          <p:nvSpPr>
            <p:cNvPr id="40" name="Google Shape;40;p4"/>
            <p:cNvSpPr/>
            <p:nvPr/>
          </p:nvSpPr>
          <p:spPr>
            <a:xfrm>
              <a:off x="8542021" y="4767751"/>
              <a:ext cx="617175" cy="68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r">
                <a:buClr>
                  <a:srgbClr val="8A867E"/>
                </a:buClr>
                <a:buSzPts val="1300"/>
              </a:pPr>
              <a:r>
                <a:rPr lang="en-US" altLang="ko-KR" sz="105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cs typeface="Malgun Gothic"/>
                  <a:sym typeface="Malgun Gothic"/>
                </a:rPr>
                <a:t>23</a:t>
              </a:r>
              <a:endParaRPr lang="ko-KR" altLang="en-US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Calibri"/>
                <a:sym typeface="Calibri"/>
              </a:endParaRPr>
            </a:p>
          </p:txBody>
        </p:sp>
      </p:grp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E45EA85F-4707-FE73-8019-67C7CF00EBB6}"/>
              </a:ext>
            </a:extLst>
          </p:cNvPr>
          <p:cNvCxnSpPr>
            <a:cxnSpLocks/>
          </p:cNvCxnSpPr>
          <p:nvPr/>
        </p:nvCxnSpPr>
        <p:spPr>
          <a:xfrm>
            <a:off x="4190670" y="4073645"/>
            <a:ext cx="5040879" cy="0"/>
          </a:xfrm>
          <a:prstGeom prst="line">
            <a:avLst/>
          </a:prstGeom>
          <a:ln w="3175">
            <a:gradFill flip="none" rotWithShape="1">
              <a:gsLst>
                <a:gs pos="55000">
                  <a:schemeClr val="bg1">
                    <a:lumMod val="85000"/>
                  </a:schemeClr>
                </a:gs>
                <a:gs pos="100000">
                  <a:srgbClr val="F5F6F7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3954D89D-0671-47C8-12A6-110FA738A3CE}"/>
              </a:ext>
            </a:extLst>
          </p:cNvPr>
          <p:cNvCxnSpPr>
            <a:cxnSpLocks/>
          </p:cNvCxnSpPr>
          <p:nvPr/>
        </p:nvCxnSpPr>
        <p:spPr>
          <a:xfrm>
            <a:off x="4190670" y="4782542"/>
            <a:ext cx="5040879" cy="0"/>
          </a:xfrm>
          <a:prstGeom prst="line">
            <a:avLst/>
          </a:prstGeom>
          <a:ln w="3175">
            <a:gradFill flip="none" rotWithShape="1">
              <a:gsLst>
                <a:gs pos="55000">
                  <a:schemeClr val="bg1">
                    <a:lumMod val="85000"/>
                  </a:schemeClr>
                </a:gs>
                <a:gs pos="100000">
                  <a:srgbClr val="F5F6F7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B5DA568D-411C-E518-AE6D-719D8DCADC18}"/>
              </a:ext>
            </a:extLst>
          </p:cNvPr>
          <p:cNvCxnSpPr>
            <a:cxnSpLocks/>
          </p:cNvCxnSpPr>
          <p:nvPr/>
        </p:nvCxnSpPr>
        <p:spPr>
          <a:xfrm>
            <a:off x="4190670" y="5491439"/>
            <a:ext cx="5040879" cy="0"/>
          </a:xfrm>
          <a:prstGeom prst="line">
            <a:avLst/>
          </a:prstGeom>
          <a:ln w="3175">
            <a:gradFill flip="none" rotWithShape="1">
              <a:gsLst>
                <a:gs pos="55000">
                  <a:schemeClr val="bg1">
                    <a:lumMod val="85000"/>
                  </a:schemeClr>
                </a:gs>
                <a:gs pos="100000">
                  <a:srgbClr val="F5F6F7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DC89B3B5-1AEC-A931-A50F-55150F7E405B}"/>
              </a:ext>
            </a:extLst>
          </p:cNvPr>
          <p:cNvCxnSpPr>
            <a:cxnSpLocks/>
          </p:cNvCxnSpPr>
          <p:nvPr/>
        </p:nvCxnSpPr>
        <p:spPr>
          <a:xfrm>
            <a:off x="4190670" y="6200336"/>
            <a:ext cx="5040879" cy="0"/>
          </a:xfrm>
          <a:prstGeom prst="line">
            <a:avLst/>
          </a:prstGeom>
          <a:ln w="3175">
            <a:gradFill flip="none" rotWithShape="1">
              <a:gsLst>
                <a:gs pos="55000">
                  <a:schemeClr val="bg1">
                    <a:lumMod val="85000"/>
                  </a:schemeClr>
                </a:gs>
                <a:gs pos="100000">
                  <a:srgbClr val="F5F6F7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714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51;p5">
            <a:extLst>
              <a:ext uri="{FF2B5EF4-FFF2-40B4-BE49-F238E27FC236}">
                <a16:creationId xmlns:a16="http://schemas.microsoft.com/office/drawing/2014/main" id="{3EE55B21-16A3-0D86-24A4-7613793C3D03}"/>
              </a:ext>
            </a:extLst>
          </p:cNvPr>
          <p:cNvSpPr/>
          <p:nvPr/>
        </p:nvSpPr>
        <p:spPr>
          <a:xfrm>
            <a:off x="861060" y="3634739"/>
            <a:ext cx="7200900" cy="1175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30000"/>
              </a:lnSpc>
              <a:buClr>
                <a:srgbClr val="FFFFFF"/>
              </a:buClr>
              <a:buSzPts val="3400"/>
            </a:pPr>
            <a:r>
              <a:rPr lang="ko-KR" altLang="en-US" sz="3200" dirty="0">
                <a:solidFill>
                  <a:srgbClr val="FFFFF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lgun Gothic"/>
                <a:sym typeface="Malgun Gothic"/>
              </a:rPr>
              <a:t>사업 이해</a:t>
            </a:r>
          </a:p>
        </p:txBody>
      </p:sp>
      <p:sp>
        <p:nvSpPr>
          <p:cNvPr id="20" name="Google Shape;49;p5">
            <a:extLst>
              <a:ext uri="{FF2B5EF4-FFF2-40B4-BE49-F238E27FC236}">
                <a16:creationId xmlns:a16="http://schemas.microsoft.com/office/drawing/2014/main" id="{1E7D8F93-D3B2-E297-38BB-802C71D420A0}"/>
              </a:ext>
            </a:extLst>
          </p:cNvPr>
          <p:cNvSpPr/>
          <p:nvPr/>
        </p:nvSpPr>
        <p:spPr>
          <a:xfrm>
            <a:off x="861060" y="2263140"/>
            <a:ext cx="1205865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E8592A"/>
              </a:buClr>
              <a:buSzPts val="1300"/>
            </a:pPr>
            <a:r>
              <a:rPr lang="en-US" altLang="ko-KR" sz="975" dirty="0">
                <a:solidFill>
                  <a:srgbClr val="FD8204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/>
                <a:sym typeface="Malgun Gothic"/>
              </a:rPr>
              <a:t>CHAPTER 01</a:t>
            </a:r>
            <a:endParaRPr lang="ko-KR" altLang="en-US" sz="975" dirty="0">
              <a:solidFill>
                <a:srgbClr val="FD8204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Calibri"/>
              <a:sym typeface="Calibri"/>
            </a:endParaRPr>
          </a:p>
        </p:txBody>
      </p:sp>
      <p:sp>
        <p:nvSpPr>
          <p:cNvPr id="22" name="Google Shape;50;p5">
            <a:extLst>
              <a:ext uri="{FF2B5EF4-FFF2-40B4-BE49-F238E27FC236}">
                <a16:creationId xmlns:a16="http://schemas.microsoft.com/office/drawing/2014/main" id="{42AF7ED6-2BAA-391D-6E27-2B463060C210}"/>
              </a:ext>
            </a:extLst>
          </p:cNvPr>
          <p:cNvSpPr/>
          <p:nvPr/>
        </p:nvSpPr>
        <p:spPr>
          <a:xfrm>
            <a:off x="806196" y="2468880"/>
            <a:ext cx="205740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3A362F"/>
              </a:buClr>
              <a:buSzPts val="6800"/>
            </a:pPr>
            <a:r>
              <a:rPr lang="en-US" altLang="ko-KR" sz="5400" spc="-300" dirty="0">
                <a:solidFill>
                  <a:srgbClr val="F7F7F5"/>
                </a:solidFill>
                <a:latin typeface="나눔스퀘어 ExtraBold" panose="020B0600000101010101" pitchFamily="34" charset="-127"/>
                <a:ea typeface="나눔스퀘어 ExtraBold" panose="020B0600000101010101" pitchFamily="34" charset="-127"/>
                <a:cs typeface="Malgun Gothic"/>
                <a:sym typeface="Malgun Gothic"/>
              </a:rPr>
              <a:t>01</a:t>
            </a:r>
            <a:endParaRPr lang="ko-KR" altLang="en-US" sz="5400" spc="-300" dirty="0">
              <a:solidFill>
                <a:srgbClr val="F7F7F5"/>
              </a:solidFill>
              <a:latin typeface="나눔스퀘어 ExtraBold" panose="020B0600000101010101" pitchFamily="34" charset="-127"/>
              <a:ea typeface="나눔스퀘어 ExtraBold" panose="020B0600000101010101" pitchFamily="34" charset="-127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21"/>
        </a:solidFill>
        <a:effectLst/>
      </p:bgPr>
    </p:bg>
    <p:spTree>
      <p:nvGrpSpPr>
        <p:cNvPr id="1" name="Shape 107">
          <a:extLst>
            <a:ext uri="{FF2B5EF4-FFF2-40B4-BE49-F238E27FC236}">
              <a16:creationId xmlns:a16="http://schemas.microsoft.com/office/drawing/2014/main" id="{C861BF7D-E67D-9DCE-37A9-2E268B138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슬라이드 번호 개체 틀 28">
            <a:extLst>
              <a:ext uri="{FF2B5EF4-FFF2-40B4-BE49-F238E27FC236}">
                <a16:creationId xmlns:a16="http://schemas.microsoft.com/office/drawing/2014/main" id="{EC891484-0594-22A2-06B1-1999890D23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316148F-D84E-47A3-B267-E08DF939B7C4}" type="slidenum">
              <a:rPr lang="ko-KR" altLang="en-US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pPr/>
              <a:t>6</a:t>
            </a:fld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/28</a:t>
            </a:r>
            <a:endParaRPr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0987022-A2D1-6B25-4195-8F3E7AAFA9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FD8204"/>
                </a:solidFill>
              </a:rPr>
              <a:t>02</a:t>
            </a:r>
            <a:endParaRPr lang="ko-KR" altLang="en-US" dirty="0">
              <a:solidFill>
                <a:srgbClr val="FD8204"/>
              </a:solidFill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BCA87323-D89F-1CB5-6F68-EDFA5615F3F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AGENT-X</a:t>
            </a:r>
            <a:endParaRPr lang="ko-KR" altLang="en-US" dirty="0"/>
          </a:p>
        </p:txBody>
      </p:sp>
      <p:sp>
        <p:nvSpPr>
          <p:cNvPr id="6" name="Google Shape;60;p6">
            <a:extLst>
              <a:ext uri="{FF2B5EF4-FFF2-40B4-BE49-F238E27FC236}">
                <a16:creationId xmlns:a16="http://schemas.microsoft.com/office/drawing/2014/main" id="{19714F33-C8E0-7D45-23F0-44A7497DD274}"/>
              </a:ext>
            </a:extLst>
          </p:cNvPr>
          <p:cNvSpPr/>
          <p:nvPr/>
        </p:nvSpPr>
        <p:spPr>
          <a:xfrm>
            <a:off x="450628" y="779498"/>
            <a:ext cx="816102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12000"/>
              </a:lnSpc>
              <a:buClr>
                <a:srgbClr val="1A1714"/>
              </a:buClr>
              <a:buSzPts val="3000"/>
            </a:pPr>
            <a:r>
              <a:rPr lang="ko-KR" altLang="en-US" sz="2250" b="1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gun Gothic"/>
                <a:sym typeface="Malgun Gothic"/>
              </a:rPr>
              <a:t>목표를 이해하고</a:t>
            </a:r>
            <a:r>
              <a:rPr lang="ko-KR" altLang="en-US" sz="225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Calibri"/>
                <a:sym typeface="Calibri"/>
              </a:rPr>
              <a:t> </a:t>
            </a:r>
            <a:r>
              <a:rPr lang="ko-KR" altLang="en-US" sz="2250" b="1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gun Gothic"/>
                <a:sym typeface="Malgun Gothic"/>
              </a:rPr>
              <a:t>스스로 실행하는 </a:t>
            </a:r>
            <a:r>
              <a:rPr lang="en-US" altLang="ko-KR" sz="2250" b="1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gun Gothic"/>
                <a:sym typeface="Malgun Gothic"/>
              </a:rPr>
              <a:t>AI Agent, </a:t>
            </a:r>
            <a:r>
              <a:rPr lang="en-US" altLang="ko-KR" sz="2250" b="1" dirty="0">
                <a:solidFill>
                  <a:srgbClr val="FD8204"/>
                </a:solidFill>
                <a:latin typeface="나눔스퀘어 ExtraBold" panose="020B0600000101010101" pitchFamily="34" charset="-127"/>
                <a:ea typeface="나눔스퀘어 ExtraBold" panose="020B0600000101010101" pitchFamily="34" charset="-127"/>
                <a:cs typeface="Malgun Gothic"/>
                <a:sym typeface="Malgun Gothic"/>
              </a:rPr>
              <a:t>Agent-X</a:t>
            </a:r>
            <a:endParaRPr lang="ko-KR" altLang="en-US" sz="2250" dirty="0">
              <a:solidFill>
                <a:srgbClr val="FD8204"/>
              </a:solidFill>
              <a:latin typeface="나눔스퀘어 ExtraBold" panose="020B0600000101010101" pitchFamily="34" charset="-127"/>
              <a:ea typeface="나눔스퀘어 ExtraBold" panose="020B0600000101010101" pitchFamily="34" charset="-127"/>
              <a:cs typeface="Calibri"/>
              <a:sym typeface="Calibri"/>
            </a:endParaRPr>
          </a:p>
        </p:txBody>
      </p:sp>
      <p:sp>
        <p:nvSpPr>
          <p:cNvPr id="8" name="Google Shape;61;p6">
            <a:extLst>
              <a:ext uri="{FF2B5EF4-FFF2-40B4-BE49-F238E27FC236}">
                <a16:creationId xmlns:a16="http://schemas.microsoft.com/office/drawing/2014/main" id="{A25BC196-0731-C514-FB1D-6B0D0E136534}"/>
              </a:ext>
            </a:extLst>
          </p:cNvPr>
          <p:cNvSpPr/>
          <p:nvPr/>
        </p:nvSpPr>
        <p:spPr>
          <a:xfrm>
            <a:off x="450628" y="1308195"/>
            <a:ext cx="8870255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32000"/>
              </a:lnSpc>
              <a:buClr>
                <a:srgbClr val="3A362F"/>
              </a:buClr>
              <a:buSzPts val="1350"/>
            </a:pPr>
            <a:r>
              <a:rPr lang="en-US" altLang="ko-KR" sz="1200" dirty="0">
                <a:solidFill>
                  <a:schemeClr val="bg1">
                    <a:lumMod val="8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/>
                <a:sym typeface="Malgun Gothic"/>
              </a:rPr>
              <a:t>Agent-X</a:t>
            </a:r>
            <a:r>
              <a:rPr lang="ko-KR" altLang="en-US" sz="1200" dirty="0">
                <a:solidFill>
                  <a:schemeClr val="bg1">
                    <a:lumMod val="8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/>
                <a:sym typeface="Malgun Gothic"/>
              </a:rPr>
              <a:t>는 사용자의 목적을 파악하여 최적의 도구를 자율적으로 선택 및 실행하는 엔터프라이즈 </a:t>
            </a:r>
            <a:r>
              <a:rPr lang="en-US" altLang="ko-KR" sz="1200" dirty="0">
                <a:solidFill>
                  <a:schemeClr val="bg1">
                    <a:lumMod val="8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/>
                <a:sym typeface="Malgun Gothic"/>
              </a:rPr>
              <a:t>AI </a:t>
            </a:r>
            <a:r>
              <a:rPr lang="ko-KR" altLang="en-US" sz="1200" dirty="0">
                <a:solidFill>
                  <a:schemeClr val="bg1">
                    <a:lumMod val="8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/>
                <a:sym typeface="Malgun Gothic"/>
              </a:rPr>
              <a:t>에이전트 플랫폼입니다</a:t>
            </a:r>
            <a:r>
              <a:rPr lang="en-US" altLang="ko-KR" sz="1200" dirty="0">
                <a:solidFill>
                  <a:schemeClr val="bg1">
                    <a:lumMod val="8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/>
                <a:sym typeface="Malgun Gothic"/>
              </a:rPr>
              <a:t>. </a:t>
            </a:r>
            <a:r>
              <a:rPr lang="ko-KR" altLang="en-US" sz="1200" dirty="0">
                <a:solidFill>
                  <a:schemeClr val="bg1">
                    <a:lumMod val="8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/>
                <a:sym typeface="Malgun Gothic"/>
              </a:rPr>
              <a:t>업무를 수행하는 </a:t>
            </a:r>
            <a:r>
              <a:rPr lang="en-US" altLang="ko-KR" sz="1200" dirty="0">
                <a:solidFill>
                  <a:schemeClr val="bg1">
                    <a:lumMod val="8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/>
                <a:sym typeface="Malgun Gothic"/>
              </a:rPr>
              <a:t>Agent Kernel</a:t>
            </a:r>
            <a:r>
              <a:rPr lang="ko-KR" altLang="en-US" sz="1200" dirty="0">
                <a:solidFill>
                  <a:schemeClr val="bg1">
                    <a:lumMod val="8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/>
                <a:sym typeface="Malgun Gothic"/>
              </a:rPr>
              <a:t>과 에이전트를 만들고 운영하는 </a:t>
            </a:r>
            <a:r>
              <a:rPr lang="en-US" altLang="ko-KR" sz="1200" dirty="0">
                <a:solidFill>
                  <a:schemeClr val="bg1">
                    <a:lumMod val="8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/>
                <a:sym typeface="Malgun Gothic"/>
              </a:rPr>
              <a:t>Agent OS</a:t>
            </a:r>
            <a:r>
              <a:rPr lang="ko-KR" altLang="en-US" sz="1200" dirty="0">
                <a:solidFill>
                  <a:schemeClr val="bg1">
                    <a:lumMod val="8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/>
                <a:sym typeface="Malgun Gothic"/>
              </a:rPr>
              <a:t>를 단일 아키텍처로 제공합니다</a:t>
            </a:r>
            <a:r>
              <a:rPr lang="en-US" altLang="ko-KR" sz="1200" dirty="0">
                <a:solidFill>
                  <a:schemeClr val="bg1">
                    <a:lumMod val="8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/>
                <a:sym typeface="Malgun Gothic"/>
              </a:rPr>
              <a:t>.</a:t>
            </a: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2AAAC19B-75BB-4583-4B83-78D657EDC605}"/>
              </a:ext>
            </a:extLst>
          </p:cNvPr>
          <p:cNvSpPr/>
          <p:nvPr/>
        </p:nvSpPr>
        <p:spPr>
          <a:xfrm>
            <a:off x="3835548" y="3134115"/>
            <a:ext cx="2221924" cy="1961868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rgbClr val="212121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62BB72DF-E37D-E3B7-9FCC-694DBB780D2A}"/>
              </a:ext>
            </a:extLst>
          </p:cNvPr>
          <p:cNvSpPr/>
          <p:nvPr/>
        </p:nvSpPr>
        <p:spPr>
          <a:xfrm>
            <a:off x="2944617" y="2061736"/>
            <a:ext cx="4016768" cy="4016766"/>
          </a:xfrm>
          <a:prstGeom prst="ellipse">
            <a:avLst/>
          </a:prstGeom>
          <a:solidFill>
            <a:srgbClr val="FD8204">
              <a:alpha val="9000"/>
            </a:srgbClr>
          </a:solidFill>
          <a:ln w="3175">
            <a:noFill/>
          </a:ln>
          <a:effectLst>
            <a:softEdge rad="4826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2FC247AA-EFE1-0634-D477-CFBAA7A6C9F4}"/>
              </a:ext>
            </a:extLst>
          </p:cNvPr>
          <p:cNvSpPr/>
          <p:nvPr/>
        </p:nvSpPr>
        <p:spPr>
          <a:xfrm>
            <a:off x="3692531" y="2809650"/>
            <a:ext cx="2520940" cy="2520938"/>
          </a:xfrm>
          <a:prstGeom prst="ellipse">
            <a:avLst/>
          </a:prstGeom>
          <a:solidFill>
            <a:srgbClr val="FD8204">
              <a:alpha val="9000"/>
            </a:srgb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160318DD-77B8-BCCD-9576-46D6988A57AC}"/>
              </a:ext>
            </a:extLst>
          </p:cNvPr>
          <p:cNvSpPr/>
          <p:nvPr/>
        </p:nvSpPr>
        <p:spPr>
          <a:xfrm>
            <a:off x="3918748" y="3035867"/>
            <a:ext cx="2068505" cy="2068504"/>
          </a:xfrm>
          <a:prstGeom prst="ellipse">
            <a:avLst/>
          </a:prstGeom>
          <a:solidFill>
            <a:srgbClr val="FD8204">
              <a:alpha val="20000"/>
            </a:srgb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3C7460A3-9283-B2C2-7DC0-83610CA0852F}"/>
              </a:ext>
            </a:extLst>
          </p:cNvPr>
          <p:cNvGrpSpPr/>
          <p:nvPr/>
        </p:nvGrpSpPr>
        <p:grpSpPr>
          <a:xfrm>
            <a:off x="4170750" y="3284007"/>
            <a:ext cx="1555951" cy="1555950"/>
            <a:chOff x="4031218" y="4629768"/>
            <a:chExt cx="1523999" cy="1523999"/>
          </a:xfrm>
          <a:effectLst>
            <a:outerShdw blurRad="889000" algn="ctr" rotWithShape="0">
              <a:schemeClr val="bg1">
                <a:alpha val="36000"/>
              </a:schemeClr>
            </a:outerShdw>
          </a:effectLst>
        </p:grpSpPr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DEB6E727-7B61-B8A5-F51E-F63CDA119632}"/>
                </a:ext>
              </a:extLst>
            </p:cNvPr>
            <p:cNvSpPr/>
            <p:nvPr/>
          </p:nvSpPr>
          <p:spPr>
            <a:xfrm>
              <a:off x="4031218" y="4629768"/>
              <a:ext cx="1523999" cy="1523999"/>
            </a:xfrm>
            <a:prstGeom prst="ellipse">
              <a:avLst/>
            </a:prstGeom>
            <a:gradFill>
              <a:gsLst>
                <a:gs pos="84000">
                  <a:srgbClr val="F85C06"/>
                </a:gs>
                <a:gs pos="7000">
                  <a:srgbClr val="F66E08">
                    <a:lumMod val="65000"/>
                    <a:lumOff val="35000"/>
                  </a:srgbClr>
                </a:gs>
              </a:gsLst>
              <a:lin ang="3600000" scaled="0"/>
            </a:gradFill>
            <a:ln>
              <a:noFill/>
            </a:ln>
            <a:effectLst>
              <a:outerShdw blurRad="228600" sx="103000" sy="103000" algn="ctr" rotWithShape="0">
                <a:schemeClr val="tx1">
                  <a:lumMod val="95000"/>
                  <a:lumOff val="5000"/>
                  <a:alpha val="6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43EFEE2-70BA-3B0B-4191-B65E54277758}"/>
                </a:ext>
              </a:extLst>
            </p:cNvPr>
            <p:cNvSpPr txBox="1"/>
            <p:nvPr/>
          </p:nvSpPr>
          <p:spPr>
            <a:xfrm>
              <a:off x="4249812" y="5226283"/>
              <a:ext cx="1086812" cy="361748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altLang="ko-KR" sz="1800" dirty="0">
                  <a:solidFill>
                    <a:schemeClr val="bg1"/>
                  </a:solidFill>
                  <a:latin typeface="나눔스퀘어 ExtraBold" panose="020B0600000101010101" pitchFamily="34" charset="-127"/>
                  <a:ea typeface="나눔스퀘어 ExtraBold" panose="020B0600000101010101" pitchFamily="34" charset="-127"/>
                </a:rPr>
                <a:t>Agent-X</a:t>
              </a:r>
              <a:endParaRPr lang="ko-KR" altLang="en-US" sz="1800" dirty="0">
                <a:solidFill>
                  <a:schemeClr val="bg1"/>
                </a:solidFill>
                <a:latin typeface="나눔스퀘어 ExtraBold" panose="020B0600000101010101" pitchFamily="34" charset="-127"/>
                <a:ea typeface="나눔스퀘어 ExtraBold" panose="020B0600000101010101" pitchFamily="34" charset="-127"/>
              </a:endParaRPr>
            </a:p>
          </p:txBody>
        </p:sp>
      </p:grp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9FFE1303-803B-FE96-50AC-8EE9A060A86E}"/>
              </a:ext>
            </a:extLst>
          </p:cNvPr>
          <p:cNvCxnSpPr>
            <a:cxnSpLocks/>
            <a:stCxn id="16" idx="3"/>
            <a:endCxn id="12" idx="2"/>
          </p:cNvCxnSpPr>
          <p:nvPr/>
        </p:nvCxnSpPr>
        <p:spPr>
          <a:xfrm>
            <a:off x="3456370" y="4070118"/>
            <a:ext cx="236161" cy="1"/>
          </a:xfrm>
          <a:prstGeom prst="line">
            <a:avLst/>
          </a:prstGeom>
          <a:ln>
            <a:solidFill>
              <a:srgbClr val="FD820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713180B1-951E-6AE0-DC39-2AA20F8128E7}"/>
              </a:ext>
            </a:extLst>
          </p:cNvPr>
          <p:cNvCxnSpPr>
            <a:cxnSpLocks/>
            <a:stCxn id="12" idx="6"/>
            <a:endCxn id="37" idx="1"/>
          </p:cNvCxnSpPr>
          <p:nvPr/>
        </p:nvCxnSpPr>
        <p:spPr>
          <a:xfrm flipV="1">
            <a:off x="6213471" y="4070118"/>
            <a:ext cx="236160" cy="1"/>
          </a:xfrm>
          <a:prstGeom prst="line">
            <a:avLst/>
          </a:prstGeom>
          <a:ln>
            <a:solidFill>
              <a:srgbClr val="FD820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514DFC2B-E030-D3E4-3608-B7321BB8588A}"/>
              </a:ext>
            </a:extLst>
          </p:cNvPr>
          <p:cNvGrpSpPr/>
          <p:nvPr/>
        </p:nvGrpSpPr>
        <p:grpSpPr>
          <a:xfrm>
            <a:off x="718084" y="3026167"/>
            <a:ext cx="2738286" cy="2087902"/>
            <a:chOff x="712994" y="2961177"/>
            <a:chExt cx="2738286" cy="2087902"/>
          </a:xfrm>
        </p:grpSpPr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5C0E0376-6C42-579E-C647-929D4FF20AB7}"/>
                </a:ext>
              </a:extLst>
            </p:cNvPr>
            <p:cNvSpPr/>
            <p:nvPr/>
          </p:nvSpPr>
          <p:spPr>
            <a:xfrm>
              <a:off x="712994" y="2961177"/>
              <a:ext cx="2738286" cy="2087902"/>
            </a:xfrm>
            <a:prstGeom prst="roundRect">
              <a:avLst>
                <a:gd name="adj" fmla="val 6007"/>
              </a:avLst>
            </a:prstGeom>
            <a:solidFill>
              <a:srgbClr val="1A1714"/>
            </a:solidFill>
            <a:ln w="6350">
              <a:solidFill>
                <a:srgbClr val="FD8204"/>
              </a:solidFill>
            </a:ln>
            <a:effectLst>
              <a:outerShdw blurRad="368300" dist="25400" algn="ctr" rotWithShape="0">
                <a:prstClr val="black"/>
              </a:outerShdw>
            </a:effectLst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r>
                <a:rPr lang="en-US" altLang="ko-KR" sz="1050" dirty="0">
                  <a:solidFill>
                    <a:srgbClr val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cs typeface="Arial"/>
                </a:rPr>
                <a:t>2</a:t>
              </a:r>
            </a:p>
            <a:p>
              <a:endParaRPr lang="ko-KR" altLang="en-US" sz="1050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CCFA6C8-2541-05A4-D6FB-4BA7AFF7A869}"/>
                </a:ext>
              </a:extLst>
            </p:cNvPr>
            <p:cNvSpPr txBox="1"/>
            <p:nvPr/>
          </p:nvSpPr>
          <p:spPr>
            <a:xfrm>
              <a:off x="872887" y="3131717"/>
              <a:ext cx="140294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spc="-50" dirty="0">
                  <a:solidFill>
                    <a:srgbClr val="FD8204"/>
                  </a:solidFill>
                  <a:latin typeface="나눔스퀘어 ExtraBold" panose="020B0600000101010101" pitchFamily="34" charset="-127"/>
                  <a:ea typeface="나눔스퀘어 ExtraBold" panose="020B0600000101010101" pitchFamily="34" charset="-127"/>
                </a:rPr>
                <a:t>Agent Kernel</a:t>
              </a:r>
              <a:endParaRPr lang="ko-KR" altLang="en-US" sz="1600" spc="-50" dirty="0">
                <a:solidFill>
                  <a:srgbClr val="FD8204"/>
                </a:solidFill>
                <a:latin typeface="나눔스퀘어 ExtraBold" panose="020B0600000101010101" pitchFamily="34" charset="-127"/>
                <a:ea typeface="나눔스퀘어 ExtraBold" panose="020B0600000101010101" pitchFamily="34" charset="-127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41C51DA-AFBA-3E33-5C7B-8A6598B2618D}"/>
                </a:ext>
              </a:extLst>
            </p:cNvPr>
            <p:cNvSpPr txBox="1"/>
            <p:nvPr/>
          </p:nvSpPr>
          <p:spPr>
            <a:xfrm>
              <a:off x="866900" y="3600394"/>
              <a:ext cx="243047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50" dirty="0">
                  <a:solidFill>
                    <a:schemeClr val="bg1"/>
                  </a:solidFill>
                  <a:latin typeface="나눔스퀘어 Bold" panose="020B0600000101010101" pitchFamily="34" charset="-127"/>
                  <a:ea typeface="나눔스퀘어 Bold" panose="020B0600000101010101" pitchFamily="34" charset="-127"/>
                </a:rPr>
                <a:t>개별 업무를 수행하는 특화 에이전트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280C7CA-9B75-6877-9445-19B60C2CBC4F}"/>
                </a:ext>
              </a:extLst>
            </p:cNvPr>
            <p:cNvSpPr txBox="1"/>
            <p:nvPr/>
          </p:nvSpPr>
          <p:spPr>
            <a:xfrm>
              <a:off x="866900" y="4056659"/>
              <a:ext cx="2260555" cy="6001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dirty="0">
                  <a:solidFill>
                    <a:schemeClr val="bg1"/>
                  </a:solidFill>
                  <a:latin typeface="나눔스퀘어" panose="020B0600000101010101" pitchFamily="34" charset="-127"/>
                  <a:ea typeface="나눔스퀘어" panose="020B0600000101010101" pitchFamily="34" charset="-127"/>
                </a:rPr>
                <a:t>RAG · NL2SQL · </a:t>
              </a:r>
              <a:r>
                <a:rPr lang="ko-KR" altLang="en-US" sz="1100" dirty="0">
                  <a:solidFill>
                    <a:schemeClr val="bg1"/>
                  </a:solidFill>
                  <a:latin typeface="나눔스퀘어" panose="020B0600000101010101" pitchFamily="34" charset="-127"/>
                  <a:ea typeface="나눔스퀘어" panose="020B0600000101010101" pitchFamily="34" charset="-127"/>
                </a:rPr>
                <a:t>통번역 </a:t>
              </a:r>
              <a:r>
                <a:rPr lang="en-US" altLang="ko-KR" sz="1100" dirty="0">
                  <a:solidFill>
                    <a:schemeClr val="bg1"/>
                  </a:solidFill>
                  <a:latin typeface="나눔스퀘어" panose="020B0600000101010101" pitchFamily="34" charset="-127"/>
                  <a:ea typeface="나눔스퀘어" panose="020B0600000101010101" pitchFamily="34" charset="-127"/>
                </a:rPr>
                <a:t>· </a:t>
              </a:r>
              <a:r>
                <a:rPr lang="ko-KR" altLang="en-US" sz="1100" dirty="0">
                  <a:solidFill>
                    <a:schemeClr val="bg1"/>
                  </a:solidFill>
                  <a:latin typeface="나눔스퀘어" panose="020B0600000101010101" pitchFamily="34" charset="-127"/>
                  <a:ea typeface="나눔스퀘어" panose="020B0600000101010101" pitchFamily="34" charset="-127"/>
                </a:rPr>
                <a:t>문서요약</a:t>
              </a:r>
            </a:p>
            <a:p>
              <a:r>
                <a:rPr lang="ko-KR" altLang="en-US" sz="1100" dirty="0">
                  <a:solidFill>
                    <a:schemeClr val="bg1"/>
                  </a:solidFill>
                  <a:latin typeface="나눔스퀘어" panose="020B0600000101010101" pitchFamily="34" charset="-127"/>
                  <a:ea typeface="나눔스퀘어" panose="020B0600000101010101" pitchFamily="34" charset="-127"/>
                </a:rPr>
                <a:t>데이터분석 </a:t>
              </a:r>
              <a:r>
                <a:rPr lang="en-US" altLang="ko-KR" sz="1100" dirty="0">
                  <a:solidFill>
                    <a:schemeClr val="bg1"/>
                  </a:solidFill>
                  <a:latin typeface="나눔스퀘어" panose="020B0600000101010101" pitchFamily="34" charset="-127"/>
                  <a:ea typeface="나눔스퀘어" panose="020B0600000101010101" pitchFamily="34" charset="-127"/>
                </a:rPr>
                <a:t>· </a:t>
              </a:r>
              <a:r>
                <a:rPr lang="ko-KR" altLang="en-US" sz="1100" dirty="0">
                  <a:solidFill>
                    <a:schemeClr val="bg1"/>
                  </a:solidFill>
                  <a:latin typeface="나눔스퀘어" panose="020B0600000101010101" pitchFamily="34" charset="-127"/>
                  <a:ea typeface="나눔스퀘어" panose="020B0600000101010101" pitchFamily="34" charset="-127"/>
                </a:rPr>
                <a:t>보고서작성 </a:t>
              </a:r>
              <a:r>
                <a:rPr lang="en-US" altLang="ko-KR" sz="1100" dirty="0">
                  <a:solidFill>
                    <a:schemeClr val="bg1"/>
                  </a:solidFill>
                  <a:latin typeface="나눔스퀘어" panose="020B0600000101010101" pitchFamily="34" charset="-127"/>
                  <a:ea typeface="나눔스퀘어" panose="020B0600000101010101" pitchFamily="34" charset="-127"/>
                </a:rPr>
                <a:t>· </a:t>
              </a:r>
            </a:p>
            <a:p>
              <a:r>
                <a:rPr lang="ko-KR" altLang="en-US" sz="1100" dirty="0">
                  <a:solidFill>
                    <a:schemeClr val="bg1"/>
                  </a:solidFill>
                  <a:latin typeface="나눔스퀘어" panose="020B0600000101010101" pitchFamily="34" charset="-127"/>
                  <a:ea typeface="나눔스퀘어" panose="020B0600000101010101" pitchFamily="34" charset="-127"/>
                </a:rPr>
                <a:t>채팅 </a:t>
              </a:r>
              <a:r>
                <a:rPr lang="en-US" altLang="ko-KR" sz="1100" dirty="0">
                  <a:solidFill>
                    <a:schemeClr val="bg1"/>
                  </a:solidFill>
                  <a:latin typeface="나눔스퀘어" panose="020B0600000101010101" pitchFamily="34" charset="-127"/>
                  <a:ea typeface="나눔스퀘어" panose="020B0600000101010101" pitchFamily="34" charset="-127"/>
                </a:rPr>
                <a:t>· </a:t>
              </a:r>
              <a:r>
                <a:rPr lang="ko-KR" altLang="en-US" sz="1100" dirty="0">
                  <a:solidFill>
                    <a:schemeClr val="bg1"/>
                  </a:solidFill>
                  <a:latin typeface="나눔스퀘어" panose="020B0600000101010101" pitchFamily="34" charset="-127"/>
                  <a:ea typeface="나눔스퀘어" panose="020B0600000101010101" pitchFamily="34" charset="-127"/>
                </a:rPr>
                <a:t>이미지생성</a:t>
              </a: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FE690A1D-1C34-67A4-10A6-D85353F14426}"/>
              </a:ext>
            </a:extLst>
          </p:cNvPr>
          <p:cNvGrpSpPr/>
          <p:nvPr/>
        </p:nvGrpSpPr>
        <p:grpSpPr>
          <a:xfrm>
            <a:off x="6449631" y="3026167"/>
            <a:ext cx="2738286" cy="2087902"/>
            <a:chOff x="712994" y="2961177"/>
            <a:chExt cx="2738286" cy="2087902"/>
          </a:xfrm>
        </p:grpSpPr>
        <p:sp>
          <p:nvSpPr>
            <p:cNvPr id="37" name="사각형: 둥근 모서리 36">
              <a:extLst>
                <a:ext uri="{FF2B5EF4-FFF2-40B4-BE49-F238E27FC236}">
                  <a16:creationId xmlns:a16="http://schemas.microsoft.com/office/drawing/2014/main" id="{C29A6681-D1E4-F838-11F4-A83A12D3628D}"/>
                </a:ext>
              </a:extLst>
            </p:cNvPr>
            <p:cNvSpPr/>
            <p:nvPr/>
          </p:nvSpPr>
          <p:spPr>
            <a:xfrm>
              <a:off x="712994" y="2961177"/>
              <a:ext cx="2738286" cy="2087902"/>
            </a:xfrm>
            <a:prstGeom prst="roundRect">
              <a:avLst>
                <a:gd name="adj" fmla="val 6007"/>
              </a:avLst>
            </a:prstGeom>
            <a:solidFill>
              <a:srgbClr val="1A1714"/>
            </a:solidFill>
            <a:ln w="6350">
              <a:solidFill>
                <a:srgbClr val="FD8204"/>
              </a:solidFill>
            </a:ln>
            <a:effectLst>
              <a:outerShdw blurRad="368300" dist="25400" algn="ctr" rotWithShape="0">
                <a:prstClr val="black"/>
              </a:outerShdw>
            </a:effectLst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lang="ko-KR" altLang="en-US" sz="105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D034E13-231F-2594-9610-F63C676930DE}"/>
                </a:ext>
              </a:extLst>
            </p:cNvPr>
            <p:cNvSpPr txBox="1"/>
            <p:nvPr/>
          </p:nvSpPr>
          <p:spPr>
            <a:xfrm>
              <a:off x="872887" y="3131717"/>
              <a:ext cx="105670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spc="-50" dirty="0">
                  <a:solidFill>
                    <a:srgbClr val="FD8204"/>
                  </a:solidFill>
                  <a:latin typeface="나눔스퀘어 ExtraBold" panose="020B0600000101010101" pitchFamily="34" charset="-127"/>
                  <a:ea typeface="나눔스퀘어 ExtraBold" panose="020B0600000101010101" pitchFamily="34" charset="-127"/>
                </a:rPr>
                <a:t>Agent OS</a:t>
              </a:r>
              <a:endParaRPr lang="ko-KR" altLang="en-US" sz="1600" spc="-50" dirty="0">
                <a:solidFill>
                  <a:srgbClr val="FD8204"/>
                </a:solidFill>
                <a:latin typeface="나눔스퀘어 ExtraBold" panose="020B0600000101010101" pitchFamily="34" charset="-127"/>
                <a:ea typeface="나눔스퀘어 ExtraBold" panose="020B0600000101010101" pitchFamily="34" charset="-127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D942E91-705F-28A4-008D-233AFE2BDF6A}"/>
                </a:ext>
              </a:extLst>
            </p:cNvPr>
            <p:cNvSpPr txBox="1"/>
            <p:nvPr/>
          </p:nvSpPr>
          <p:spPr>
            <a:xfrm>
              <a:off x="866900" y="3600394"/>
              <a:ext cx="1669047" cy="2693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50" dirty="0">
                  <a:solidFill>
                    <a:schemeClr val="bg1"/>
                  </a:solidFill>
                  <a:latin typeface="나눔스퀘어 Bold" panose="020B0600000101010101" pitchFamily="34" charset="-127"/>
                  <a:ea typeface="나눔스퀘어 Bold" panose="020B0600000101010101" pitchFamily="34" charset="-127"/>
                </a:rPr>
                <a:t>에이전트 구축</a:t>
              </a:r>
              <a:r>
                <a:rPr lang="en-US" altLang="ko-KR" sz="1150" dirty="0">
                  <a:solidFill>
                    <a:schemeClr val="bg1"/>
                  </a:solidFill>
                  <a:latin typeface="나눔스퀘어 Bold" panose="020B0600000101010101" pitchFamily="34" charset="-127"/>
                  <a:ea typeface="나눔스퀘어 Bold" panose="020B0600000101010101" pitchFamily="34" charset="-127"/>
                </a:rPr>
                <a:t>/</a:t>
              </a:r>
              <a:r>
                <a:rPr lang="ko-KR" altLang="en-US" sz="1150" dirty="0">
                  <a:solidFill>
                    <a:schemeClr val="bg1"/>
                  </a:solidFill>
                  <a:latin typeface="나눔스퀘어 Bold" panose="020B0600000101010101" pitchFamily="34" charset="-127"/>
                  <a:ea typeface="나눔스퀘어 Bold" panose="020B0600000101010101" pitchFamily="34" charset="-127"/>
                </a:rPr>
                <a:t>운영 체계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54EC5686-B974-3812-3AAE-63F7EB0E5414}"/>
                </a:ext>
              </a:extLst>
            </p:cNvPr>
            <p:cNvSpPr txBox="1"/>
            <p:nvPr/>
          </p:nvSpPr>
          <p:spPr>
            <a:xfrm>
              <a:off x="866900" y="4056659"/>
              <a:ext cx="1760418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dirty="0">
                  <a:solidFill>
                    <a:schemeClr val="bg1"/>
                  </a:solidFill>
                  <a:latin typeface="나눔스퀘어" panose="020B0600000101010101" pitchFamily="34" charset="-127"/>
                  <a:ea typeface="나눔스퀘어" panose="020B0600000101010101" pitchFamily="34" charset="-127"/>
                </a:rPr>
                <a:t>Agent Builder </a:t>
              </a:r>
            </a:p>
            <a:p>
              <a:r>
                <a:rPr lang="ko-KR" altLang="en-US" sz="1100" dirty="0" err="1">
                  <a:solidFill>
                    <a:schemeClr val="bg1"/>
                  </a:solidFill>
                  <a:latin typeface="나눔스퀘어" panose="020B0600000101010101" pitchFamily="34" charset="-127"/>
                  <a:ea typeface="나눔스퀘어" panose="020B0600000101010101" pitchFamily="34" charset="-127"/>
                </a:rPr>
                <a:t>노코드</a:t>
              </a:r>
              <a:r>
                <a:rPr lang="ko-KR" altLang="en-US" sz="1100" dirty="0">
                  <a:solidFill>
                    <a:schemeClr val="bg1"/>
                  </a:solidFill>
                  <a:latin typeface="나눔스퀘어" panose="020B0600000101010101" pitchFamily="34" charset="-127"/>
                  <a:ea typeface="나눔스퀘어" panose="020B0600000101010101" pitchFamily="34" charset="-127"/>
                </a:rPr>
                <a:t> 설계와</a:t>
              </a:r>
              <a:r>
                <a:rPr lang="en-US" altLang="ko-KR" sz="1100" dirty="0">
                  <a:solidFill>
                    <a:schemeClr val="bg1"/>
                  </a:solidFill>
                  <a:latin typeface="나눔스퀘어" panose="020B0600000101010101" pitchFamily="34" charset="-127"/>
                  <a:ea typeface="나눔스퀘어" panose="020B0600000101010101" pitchFamily="34" charset="-127"/>
                </a:rPr>
                <a:t> </a:t>
              </a:r>
              <a:r>
                <a:rPr lang="ko-KR" altLang="en-US" sz="1100" dirty="0" err="1">
                  <a:solidFill>
                    <a:schemeClr val="bg1"/>
                  </a:solidFill>
                  <a:latin typeface="나눔스퀘어" panose="020B0600000101010101" pitchFamily="34" charset="-127"/>
                  <a:ea typeface="나눔스퀘어" panose="020B0600000101010101" pitchFamily="34" charset="-127"/>
                </a:rPr>
                <a:t>원클릭</a:t>
              </a:r>
              <a:r>
                <a:rPr lang="ko-KR" altLang="en-US" sz="1100" dirty="0">
                  <a:solidFill>
                    <a:schemeClr val="bg1"/>
                  </a:solidFill>
                  <a:latin typeface="나눔스퀘어" panose="020B0600000101010101" pitchFamily="34" charset="-127"/>
                  <a:ea typeface="나눔스퀘어" panose="020B0600000101010101" pitchFamily="34" charset="-127"/>
                </a:rPr>
                <a:t> 배포</a:t>
              </a:r>
            </a:p>
            <a:p>
              <a:r>
                <a:rPr lang="en-US" altLang="ko-KR" sz="1100" dirty="0" err="1">
                  <a:solidFill>
                    <a:schemeClr val="bg1"/>
                  </a:solidFill>
                  <a:latin typeface="나눔스퀘어" panose="020B0600000101010101" pitchFamily="34" charset="-127"/>
                  <a:ea typeface="나눔스퀘어" panose="020B0600000101010101" pitchFamily="34" charset="-127"/>
                </a:rPr>
                <a:t>AgentOps</a:t>
              </a:r>
              <a:endParaRPr lang="en-US" altLang="ko-KR" sz="1100" dirty="0">
                <a:solidFill>
                  <a:schemeClr val="bg1"/>
                </a:solidFill>
                <a:latin typeface="나눔스퀘어" panose="020B0600000101010101" pitchFamily="34" charset="-127"/>
                <a:ea typeface="나눔스퀘어" panose="020B0600000101010101" pitchFamily="34" charset="-127"/>
              </a:endParaRPr>
            </a:p>
            <a:p>
              <a:r>
                <a:rPr lang="ko-KR" altLang="en-US" sz="1100" dirty="0">
                  <a:solidFill>
                    <a:schemeClr val="bg1"/>
                  </a:solidFill>
                  <a:latin typeface="나눔스퀘어" panose="020B0600000101010101" pitchFamily="34" charset="-127"/>
                  <a:ea typeface="나눔스퀘어" panose="020B0600000101010101" pitchFamily="34" charset="-127"/>
                </a:rPr>
                <a:t>전 주기 통합 운영</a:t>
              </a:r>
              <a:r>
                <a:rPr lang="en-US" altLang="ko-KR" sz="1100" dirty="0">
                  <a:solidFill>
                    <a:schemeClr val="bg1"/>
                  </a:solidFill>
                  <a:latin typeface="나눔스퀘어" panose="020B0600000101010101" pitchFamily="34" charset="-127"/>
                  <a:ea typeface="나눔스퀘어" panose="020B0600000101010101" pitchFamily="34" charset="-127"/>
                </a:rPr>
                <a:t>·</a:t>
              </a:r>
              <a:r>
                <a:rPr lang="ko-KR" altLang="en-US" sz="1100" dirty="0">
                  <a:solidFill>
                    <a:schemeClr val="bg1"/>
                  </a:solidFill>
                  <a:latin typeface="나눔스퀘어" panose="020B0600000101010101" pitchFamily="34" charset="-127"/>
                  <a:ea typeface="나눔스퀘어" panose="020B0600000101010101" pitchFamily="34" charset="-127"/>
                </a:rPr>
                <a:t>모니터링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406077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614"/>
        </a:solidFill>
        <a:effectLst/>
      </p:bgPr>
    </p:bg>
    <p:spTree>
      <p:nvGrpSpPr>
        <p:cNvPr id="1" name="Shape 48">
          <a:extLst>
            <a:ext uri="{FF2B5EF4-FFF2-40B4-BE49-F238E27FC236}">
              <a16:creationId xmlns:a16="http://schemas.microsoft.com/office/drawing/2014/main" id="{27CB11CD-3307-8A3B-FCF3-70DC83DA6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">
            <a:extLst>
              <a:ext uri="{FF2B5EF4-FFF2-40B4-BE49-F238E27FC236}">
                <a16:creationId xmlns:a16="http://schemas.microsoft.com/office/drawing/2014/main" id="{3E36DBC5-1E3C-9438-4ECE-829CA7F873B2}"/>
              </a:ext>
            </a:extLst>
          </p:cNvPr>
          <p:cNvSpPr/>
          <p:nvPr/>
        </p:nvSpPr>
        <p:spPr>
          <a:xfrm>
            <a:off x="861060" y="3634739"/>
            <a:ext cx="7200900" cy="1175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30000"/>
              </a:lnSpc>
              <a:buClr>
                <a:srgbClr val="FFFFFF"/>
              </a:buClr>
              <a:buSzPts val="3400"/>
            </a:pPr>
            <a:r>
              <a:rPr lang="en-US" altLang="ko-KR" sz="3200" dirty="0">
                <a:solidFill>
                  <a:srgbClr val="FFFFF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lgun Gothic"/>
                <a:sym typeface="Malgun Gothic"/>
              </a:rPr>
              <a:t>Agent-X 소개</a:t>
            </a:r>
            <a:endParaRPr lang="en-US" altLang="ko-KR" sz="3200" dirty="0">
              <a:solidFill>
                <a:srgbClr val="FFFFFF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cs typeface="Malgun Gothic"/>
              <a:sym typeface="Malgun Gothic"/>
            </a:endParaRPr>
          </a:p>
          <a:p>
            <a:pPr>
              <a:lnSpc>
                <a:spcPct val="130000"/>
              </a:lnSpc>
              <a:buClr>
                <a:srgbClr val="FFFFFF"/>
              </a:buClr>
              <a:buSzPts val="3400"/>
            </a:pPr>
            <a:r>
              <a:rPr lang="ko-KR" altLang="en-US" sz="2400" dirty="0" err="1">
                <a:solidFill>
                  <a:srgbClr val="FFFFFF"/>
                </a:solidFill>
                <a:latin typeface="나눔스퀘어" panose="020B0600000101010101" pitchFamily="34" charset="-127"/>
                <a:ea typeface="나눔스퀘어" panose="020B0600000101010101" pitchFamily="34" charset="-127"/>
                <a:cs typeface="Malgun Gothic"/>
                <a:sym typeface="Malgun Gothic"/>
              </a:rPr>
              <a:t>플랫폼과 검증된 기술력</a:t>
            </a:r>
          </a:p>
        </p:txBody>
      </p:sp>
      <p:sp>
        <p:nvSpPr>
          <p:cNvPr id="49" name="Google Shape;49;p5">
            <a:extLst>
              <a:ext uri="{FF2B5EF4-FFF2-40B4-BE49-F238E27FC236}">
                <a16:creationId xmlns:a16="http://schemas.microsoft.com/office/drawing/2014/main" id="{5F3DB447-C171-F7D3-B89A-E1C88D329CB0}"/>
              </a:ext>
            </a:extLst>
          </p:cNvPr>
          <p:cNvSpPr/>
          <p:nvPr/>
        </p:nvSpPr>
        <p:spPr>
          <a:xfrm>
            <a:off x="861060" y="2263140"/>
            <a:ext cx="1205865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E8592A"/>
              </a:buClr>
              <a:buSzPts val="1300"/>
            </a:pPr>
            <a:r>
              <a:rPr lang="en-US" altLang="ko-KR" sz="975" dirty="0">
                <a:solidFill>
                  <a:srgbClr val="FD8204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/>
                <a:sym typeface="Malgun Gothic"/>
              </a:rPr>
              <a:t>CHAPTER 02</a:t>
            </a:r>
            <a:endParaRPr lang="ko-KR" altLang="en-US" sz="975" dirty="0">
              <a:solidFill>
                <a:srgbClr val="FD8204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Calibri"/>
              <a:sym typeface="Calibri"/>
            </a:endParaRPr>
          </a:p>
        </p:txBody>
      </p:sp>
      <p:sp>
        <p:nvSpPr>
          <p:cNvPr id="50" name="Google Shape;50;p5">
            <a:extLst>
              <a:ext uri="{FF2B5EF4-FFF2-40B4-BE49-F238E27FC236}">
                <a16:creationId xmlns:a16="http://schemas.microsoft.com/office/drawing/2014/main" id="{C4C85D7A-5D37-4B91-F70A-47B0A7CBC0D0}"/>
              </a:ext>
            </a:extLst>
          </p:cNvPr>
          <p:cNvSpPr/>
          <p:nvPr/>
        </p:nvSpPr>
        <p:spPr>
          <a:xfrm>
            <a:off x="806196" y="2468880"/>
            <a:ext cx="205740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3A362F"/>
              </a:buClr>
              <a:buSzPts val="6800"/>
            </a:pPr>
            <a:r>
              <a:rPr lang="en-US" altLang="ko-KR" sz="5400" spc="-300" dirty="0">
                <a:solidFill>
                  <a:srgbClr val="F7F7F5"/>
                </a:solidFill>
                <a:latin typeface="나눔스퀘어 ExtraBold" panose="020B0600000101010101" pitchFamily="34" charset="-127"/>
                <a:ea typeface="나눔스퀘어 ExtraBold" panose="020B0600000101010101" pitchFamily="34" charset="-127"/>
                <a:cs typeface="Malgun Gothic"/>
                <a:sym typeface="Malgun Gothic"/>
              </a:rPr>
              <a:t>02</a:t>
            </a:r>
            <a:endParaRPr lang="ko-KR" altLang="en-US" sz="5400" spc="-300" dirty="0">
              <a:solidFill>
                <a:srgbClr val="F7F7F5"/>
              </a:solidFill>
              <a:latin typeface="나눔스퀘어 ExtraBold" panose="020B0600000101010101" pitchFamily="34" charset="-127"/>
              <a:ea typeface="나눔스퀘어 ExtraBold" panose="020B0600000101010101" pitchFamily="34" charset="-127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258401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>
          <a:extLst>
            <a:ext uri="{FF2B5EF4-FFF2-40B4-BE49-F238E27FC236}">
              <a16:creationId xmlns:a16="http://schemas.microsoft.com/office/drawing/2014/main" id="{5EAB6955-67A9-5A58-0FEE-C7F5A52B4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그룹 162">
            <a:extLst>
              <a:ext uri="{FF2B5EF4-FFF2-40B4-BE49-F238E27FC236}">
                <a16:creationId xmlns:a16="http://schemas.microsoft.com/office/drawing/2014/main" id="{19B7AB0E-A72B-1FB9-F3B5-B2DCA36F7045}"/>
              </a:ext>
            </a:extLst>
          </p:cNvPr>
          <p:cNvGrpSpPr/>
          <p:nvPr/>
        </p:nvGrpSpPr>
        <p:grpSpPr>
          <a:xfrm>
            <a:off x="3754592" y="3429000"/>
            <a:ext cx="5460311" cy="1216523"/>
            <a:chOff x="3365570" y="2046170"/>
            <a:chExt cx="5460311" cy="1216523"/>
          </a:xfrm>
        </p:grpSpPr>
        <p:sp>
          <p:nvSpPr>
            <p:cNvPr id="164" name="사각형: 둥근 모서리 163">
              <a:extLst>
                <a:ext uri="{FF2B5EF4-FFF2-40B4-BE49-F238E27FC236}">
                  <a16:creationId xmlns:a16="http://schemas.microsoft.com/office/drawing/2014/main" id="{4D820441-ABD3-0C12-06D8-25468751A67E}"/>
                </a:ext>
              </a:extLst>
            </p:cNvPr>
            <p:cNvSpPr/>
            <p:nvPr/>
          </p:nvSpPr>
          <p:spPr>
            <a:xfrm>
              <a:off x="3365570" y="2046170"/>
              <a:ext cx="5460311" cy="1216523"/>
            </a:xfrm>
            <a:prstGeom prst="roundRect">
              <a:avLst>
                <a:gd name="adj" fmla="val 10713"/>
              </a:avLst>
            </a:prstGeom>
            <a:gradFill>
              <a:gsLst>
                <a:gs pos="0">
                  <a:srgbClr val="505557"/>
                </a:gs>
                <a:gs pos="87000">
                  <a:srgbClr val="0D0E0B"/>
                </a:gs>
              </a:gsLst>
              <a:lin ang="2700000" scaled="1"/>
            </a:gradFill>
            <a:ln w="6350">
              <a:solidFill>
                <a:srgbClr val="FD8204"/>
              </a:solidFill>
            </a:ln>
            <a:effectLst>
              <a:outerShdw blurRad="165100" dist="12700" algn="ctr" rotWithShape="0">
                <a:prstClr val="black">
                  <a:alpha val="15000"/>
                </a:prstClr>
              </a:outerShdw>
            </a:effectLst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algn="ctr"/>
              <a:endParaRPr lang="ko-KR" altLang="en-US" sz="105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grpSp>
          <p:nvGrpSpPr>
            <p:cNvPr id="165" name="그룹 164">
              <a:extLst>
                <a:ext uri="{FF2B5EF4-FFF2-40B4-BE49-F238E27FC236}">
                  <a16:creationId xmlns:a16="http://schemas.microsoft.com/office/drawing/2014/main" id="{A04D5D4F-3681-D382-5BF6-E8885694FFFA}"/>
                </a:ext>
              </a:extLst>
            </p:cNvPr>
            <p:cNvGrpSpPr/>
            <p:nvPr/>
          </p:nvGrpSpPr>
          <p:grpSpPr>
            <a:xfrm>
              <a:off x="3709407" y="2363490"/>
              <a:ext cx="4805943" cy="611493"/>
              <a:chOff x="3709407" y="2363490"/>
              <a:chExt cx="4805943" cy="611493"/>
            </a:xfrm>
          </p:grpSpPr>
          <p:sp>
            <p:nvSpPr>
              <p:cNvPr id="166" name="Google Shape;182;p11">
                <a:extLst>
                  <a:ext uri="{FF2B5EF4-FFF2-40B4-BE49-F238E27FC236}">
                    <a16:creationId xmlns:a16="http://schemas.microsoft.com/office/drawing/2014/main" id="{F0100369-D470-E347-3159-F17A6D2A71F2}"/>
                  </a:ext>
                </a:extLst>
              </p:cNvPr>
              <p:cNvSpPr/>
              <p:nvPr/>
            </p:nvSpPr>
            <p:spPr>
              <a:xfrm>
                <a:off x="3709407" y="2429206"/>
                <a:ext cx="1079926" cy="4800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>
                  <a:buClr>
                    <a:srgbClr val="E8592A"/>
                  </a:buClr>
                  <a:buSzPts val="3800"/>
                </a:pPr>
                <a:r>
                  <a:rPr lang="en-US" altLang="ko-KR" sz="3600" dirty="0">
                    <a:solidFill>
                      <a:srgbClr val="FD8204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  <a:cs typeface="Malgun Gothic"/>
                    <a:sym typeface="Malgun Gothic"/>
                  </a:rPr>
                  <a:t>8</a:t>
                </a:r>
                <a:r>
                  <a:rPr lang="ko-KR" altLang="en-US" sz="3600" dirty="0">
                    <a:solidFill>
                      <a:srgbClr val="FD8204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  <a:cs typeface="Malgun Gothic"/>
                    <a:sym typeface="Malgun Gothic"/>
                  </a:rPr>
                  <a:t>대</a:t>
                </a:r>
              </a:p>
            </p:txBody>
          </p:sp>
          <p:grpSp>
            <p:nvGrpSpPr>
              <p:cNvPr id="167" name="그룹 166">
                <a:extLst>
                  <a:ext uri="{FF2B5EF4-FFF2-40B4-BE49-F238E27FC236}">
                    <a16:creationId xmlns:a16="http://schemas.microsoft.com/office/drawing/2014/main" id="{013A4C1B-98F2-C30F-0D49-A416B0B73EE9}"/>
                  </a:ext>
                </a:extLst>
              </p:cNvPr>
              <p:cNvGrpSpPr/>
              <p:nvPr/>
            </p:nvGrpSpPr>
            <p:grpSpPr>
              <a:xfrm>
                <a:off x="5190522" y="2363490"/>
                <a:ext cx="3324828" cy="611493"/>
                <a:chOff x="5190522" y="2363490"/>
                <a:chExt cx="3324828" cy="611493"/>
              </a:xfrm>
            </p:grpSpPr>
            <p:sp>
              <p:nvSpPr>
                <p:cNvPr id="168" name="Google Shape;183;p11">
                  <a:extLst>
                    <a:ext uri="{FF2B5EF4-FFF2-40B4-BE49-F238E27FC236}">
                      <a16:creationId xmlns:a16="http://schemas.microsoft.com/office/drawing/2014/main" id="{B2AE1080-5AFC-0926-33EA-CBAEB69942AE}"/>
                    </a:ext>
                  </a:extLst>
                </p:cNvPr>
                <p:cNvSpPr/>
                <p:nvPr/>
              </p:nvSpPr>
              <p:spPr>
                <a:xfrm>
                  <a:off x="5190522" y="2363490"/>
                  <a:ext cx="2194560" cy="2057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>
                    <a:buClr>
                      <a:srgbClr val="1A1714"/>
                    </a:buClr>
                    <a:buSzPts val="1250"/>
                  </a:pPr>
                  <a:r>
                    <a:rPr lang="ko-KR" altLang="en-US" sz="1200">
                      <a:solidFill>
                        <a:schemeClr val="bg1"/>
                      </a:solidFill>
                      <a:latin typeface="나눔스퀘어 Bold" panose="020B0600000101010101" pitchFamily="50" charset="-127"/>
                      <a:ea typeface="나눔스퀘어 Bold" panose="020B0600000101010101" pitchFamily="50" charset="-127"/>
                      <a:sym typeface="Malgun Gothic"/>
                    </a:rPr>
                    <a:t>공공</a:t>
                  </a:r>
                  <a:r>
                    <a:rPr lang="en-US" altLang="ko-KR" sz="1200">
                      <a:solidFill>
                        <a:schemeClr val="bg1"/>
                      </a:solidFill>
                      <a:latin typeface="나눔스퀘어 Bold" panose="020B0600000101010101" pitchFamily="50" charset="-127"/>
                      <a:ea typeface="나눔스퀘어 Bold" panose="020B0600000101010101" pitchFamily="50" charset="-127"/>
                      <a:sym typeface="Malgun Gothic"/>
                    </a:rPr>
                    <a:t>·</a:t>
                  </a:r>
                  <a:r>
                    <a:rPr lang="ko-KR" altLang="en-US" sz="1200">
                      <a:solidFill>
                        <a:schemeClr val="bg1"/>
                      </a:solidFill>
                      <a:latin typeface="나눔스퀘어 Bold" panose="020B0600000101010101" pitchFamily="50" charset="-127"/>
                      <a:ea typeface="나눔스퀘어 Bold" panose="020B0600000101010101" pitchFamily="50" charset="-127"/>
                      <a:sym typeface="Malgun Gothic"/>
                    </a:rPr>
                    <a:t>국방</a:t>
                  </a:r>
                  <a:r>
                    <a:rPr lang="en-US" altLang="ko-KR" sz="1200">
                      <a:solidFill>
                        <a:schemeClr val="bg1"/>
                      </a:solidFill>
                      <a:latin typeface="나눔스퀘어 Bold" panose="020B0600000101010101" pitchFamily="50" charset="-127"/>
                      <a:ea typeface="나눔스퀘어 Bold" panose="020B0600000101010101" pitchFamily="50" charset="-127"/>
                      <a:sym typeface="Malgun Gothic"/>
                    </a:rPr>
                    <a:t>·</a:t>
                  </a:r>
                  <a:r>
                    <a:rPr lang="ko-KR" altLang="en-US" sz="1200">
                      <a:solidFill>
                        <a:schemeClr val="bg1"/>
                      </a:solidFill>
                      <a:latin typeface="나눔스퀘어 Bold" panose="020B0600000101010101" pitchFamily="50" charset="-127"/>
                      <a:ea typeface="나눔스퀘어 Bold" panose="020B0600000101010101" pitchFamily="50" charset="-127"/>
                      <a:sym typeface="Malgun Gothic"/>
                    </a:rPr>
                    <a:t>제조</a:t>
                  </a:r>
                  <a:r>
                    <a:rPr lang="en-US" altLang="ko-KR" sz="1200" dirty="0">
                      <a:solidFill>
                        <a:schemeClr val="bg1"/>
                      </a:solidFill>
                      <a:latin typeface="나눔스퀘어 Bold" panose="020B0600000101010101" pitchFamily="50" charset="-127"/>
                      <a:ea typeface="나눔스퀘어 Bold" panose="020B0600000101010101" pitchFamily="50" charset="-127"/>
                      <a:sym typeface="Malgun Gothic"/>
                    </a:rPr>
                    <a:t>·</a:t>
                  </a:r>
                  <a:r>
                    <a:rPr lang="ko-KR" altLang="en-US" sz="1200" dirty="0">
                      <a:solidFill>
                        <a:schemeClr val="bg1"/>
                      </a:solidFill>
                      <a:latin typeface="나눔스퀘어 Bold" panose="020B0600000101010101" pitchFamily="50" charset="-127"/>
                      <a:ea typeface="나눔스퀘어 Bold" panose="020B0600000101010101" pitchFamily="50" charset="-127"/>
                      <a:sym typeface="Malgun Gothic"/>
                    </a:rPr>
                    <a:t>의료 등 산업</a:t>
                  </a:r>
                </a:p>
              </p:txBody>
            </p:sp>
            <p:sp>
              <p:nvSpPr>
                <p:cNvPr id="169" name="Google Shape;184;p11">
                  <a:extLst>
                    <a:ext uri="{FF2B5EF4-FFF2-40B4-BE49-F238E27FC236}">
                      <a16:creationId xmlns:a16="http://schemas.microsoft.com/office/drawing/2014/main" id="{21AD0471-9646-223F-6428-B72F14F8D73D}"/>
                    </a:ext>
                  </a:extLst>
                </p:cNvPr>
                <p:cNvSpPr/>
                <p:nvPr/>
              </p:nvSpPr>
              <p:spPr>
                <a:xfrm>
                  <a:off x="5190522" y="2686947"/>
                  <a:ext cx="3324828" cy="28803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>
                    <a:lnSpc>
                      <a:spcPct val="110000"/>
                    </a:lnSpc>
                    <a:buClr>
                      <a:srgbClr val="8A867E"/>
                    </a:buClr>
                    <a:buSzPts val="950"/>
                  </a:pPr>
                  <a:r>
                    <a:rPr lang="ko-KR" altLang="en-US" sz="1000" dirty="0">
                      <a:solidFill>
                        <a:schemeClr val="bg1">
                          <a:lumMod val="85000"/>
                        </a:schemeClr>
                      </a:solidFill>
                      <a:latin typeface="나눔스퀘어" panose="020B0600000101010101" pitchFamily="50" charset="-127"/>
                      <a:ea typeface="나눔스퀘어" panose="020B0600000101010101" pitchFamily="50" charset="-127"/>
                      <a:sym typeface="Malgun Gothic"/>
                    </a:rPr>
                    <a:t>산업별 데이터 구조와 보안 요건에 맞춰 에이전트 구성을 다르게 설계</a:t>
                  </a:r>
                  <a:r>
                    <a:rPr lang="en-US" altLang="ko-KR" sz="1000" dirty="0">
                      <a:solidFill>
                        <a:schemeClr val="bg1">
                          <a:lumMod val="85000"/>
                        </a:schemeClr>
                      </a:solidFill>
                      <a:latin typeface="나눔스퀘어" panose="020B0600000101010101" pitchFamily="50" charset="-127"/>
                      <a:ea typeface="나눔스퀘어" panose="020B0600000101010101" pitchFamily="50" charset="-127"/>
                      <a:sym typeface="Malgun Gothic"/>
                    </a:rPr>
                    <a:t>·</a:t>
                  </a:r>
                  <a:r>
                    <a:rPr lang="ko-KR" altLang="en-US" sz="1000" dirty="0">
                      <a:solidFill>
                        <a:schemeClr val="bg1">
                          <a:lumMod val="85000"/>
                        </a:schemeClr>
                      </a:solidFill>
                      <a:latin typeface="나눔스퀘어" panose="020B0600000101010101" pitchFamily="50" charset="-127"/>
                      <a:ea typeface="나눔스퀘어" panose="020B0600000101010101" pitchFamily="50" charset="-127"/>
                      <a:sym typeface="Malgun Gothic"/>
                    </a:rPr>
                    <a:t>적용</a:t>
                  </a:r>
                </a:p>
              </p:txBody>
            </p:sp>
          </p:grpSp>
        </p:grpSp>
      </p:grp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DBAEBCB-DDCA-266E-2253-B53E414D14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316148F-D84E-47A3-B267-E08DF939B7C4}" type="slidenum">
              <a:rPr lang="ko-KR" altLang="en-US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pPr/>
              <a:t>9</a:t>
            </a:fld>
            <a:r>
              <a:rPr lang="en-US" altLang="ko-KR">
                <a:latin typeface="나눔스퀘어" panose="020B0600000101010101" pitchFamily="50" charset="-127"/>
                <a:ea typeface="나눔스퀘어" panose="020B0600000101010101" pitchFamily="50" charset="-127"/>
              </a:rPr>
              <a:t>/28</a:t>
            </a:r>
            <a:endParaRPr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2F29D3F-C6F4-6827-D84A-62D0725514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02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2528BB4-4B2B-2489-CFF9-9361A063E23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BENEFIT</a:t>
            </a:r>
            <a:endParaRPr lang="ko-KR" altLang="en-US" dirty="0"/>
          </a:p>
        </p:txBody>
      </p:sp>
      <p:sp>
        <p:nvSpPr>
          <p:cNvPr id="6" name="Google Shape;60;p6">
            <a:extLst>
              <a:ext uri="{FF2B5EF4-FFF2-40B4-BE49-F238E27FC236}">
                <a16:creationId xmlns:a16="http://schemas.microsoft.com/office/drawing/2014/main" id="{FEFD0EF1-4D3B-30D8-35BF-0B9C3206D18E}"/>
              </a:ext>
            </a:extLst>
          </p:cNvPr>
          <p:cNvSpPr/>
          <p:nvPr/>
        </p:nvSpPr>
        <p:spPr>
          <a:xfrm>
            <a:off x="450628" y="779498"/>
            <a:ext cx="816102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12000"/>
              </a:lnSpc>
              <a:buClr>
                <a:srgbClr val="1A1714"/>
              </a:buClr>
              <a:buSzPts val="2800"/>
            </a:pPr>
            <a:r>
              <a:rPr lang="ko-KR" altLang="en-US" sz="2250" spc="-80" dirty="0" err="1">
                <a:solidFill>
                  <a:srgbClr val="1A1714"/>
                </a:solidFill>
                <a:latin typeface="나눔스퀘어 ExtraBold" panose="020B0600000101010101" pitchFamily="34" charset="-127"/>
                <a:ea typeface="나눔스퀘어 ExtraBold" panose="020B0600000101010101" pitchFamily="34" charset="-127"/>
                <a:sym typeface="Malgun Gothic"/>
              </a:rPr>
              <a:t>실구축</a:t>
            </a:r>
            <a:r>
              <a:rPr lang="ko-KR" altLang="en-US" sz="2250" spc="-80" dirty="0">
                <a:solidFill>
                  <a:srgbClr val="1A1714"/>
                </a:solidFill>
                <a:latin typeface="나눔스퀘어 ExtraBold" panose="020B0600000101010101" pitchFamily="34" charset="-127"/>
                <a:ea typeface="나눔스퀘어 ExtraBold" panose="020B0600000101010101" pitchFamily="34" charset="-127"/>
                <a:sym typeface="Malgun Gothic"/>
              </a:rPr>
              <a:t> 데이터로 </a:t>
            </a:r>
            <a:r>
              <a:rPr lang="ko-KR" altLang="en-US" sz="2250" spc="-80">
                <a:solidFill>
                  <a:srgbClr val="1A1714"/>
                </a:solidFill>
                <a:latin typeface="나눔스퀘어 ExtraBold" panose="020B0600000101010101" pitchFamily="34" charset="-127"/>
                <a:ea typeface="나눔스퀘어 ExtraBold" panose="020B0600000101010101" pitchFamily="34" charset="-127"/>
                <a:sym typeface="Malgun Gothic"/>
              </a:rPr>
              <a:t>증명하는 </a:t>
            </a:r>
            <a:r>
              <a:rPr lang="en-US" altLang="ko-KR" sz="2250" spc="-80" dirty="0">
                <a:solidFill>
                  <a:srgbClr val="1A1714"/>
                </a:solidFill>
                <a:latin typeface="나눔스퀘어 ExtraBold" panose="020B0600000101010101" pitchFamily="34" charset="-127"/>
                <a:ea typeface="나눔스퀘어 ExtraBold" panose="020B0600000101010101" pitchFamily="34" charset="-127"/>
                <a:sym typeface="Malgun Gothic"/>
              </a:rPr>
              <a:t>Agent-X</a:t>
            </a:r>
            <a:r>
              <a:rPr lang="ko-KR" altLang="en-US" sz="2250" spc="-80" dirty="0">
                <a:solidFill>
                  <a:srgbClr val="1A1714"/>
                </a:solidFill>
                <a:latin typeface="나눔스퀘어 ExtraBold" panose="020B0600000101010101" pitchFamily="34" charset="-127"/>
                <a:ea typeface="나눔스퀘어 ExtraBold" panose="020B0600000101010101" pitchFamily="34" charset="-127"/>
                <a:sym typeface="Malgun Gothic"/>
              </a:rPr>
              <a:t>의 기술력</a:t>
            </a:r>
          </a:p>
        </p:txBody>
      </p:sp>
      <p:sp>
        <p:nvSpPr>
          <p:cNvPr id="10" name="Google Shape;61;p6">
            <a:extLst>
              <a:ext uri="{FF2B5EF4-FFF2-40B4-BE49-F238E27FC236}">
                <a16:creationId xmlns:a16="http://schemas.microsoft.com/office/drawing/2014/main" id="{08DA1E16-679B-4CC6-0BA7-0155AA97401F}"/>
              </a:ext>
            </a:extLst>
          </p:cNvPr>
          <p:cNvSpPr/>
          <p:nvPr/>
        </p:nvSpPr>
        <p:spPr>
          <a:xfrm>
            <a:off x="450627" y="1317744"/>
            <a:ext cx="8870255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30000"/>
              </a:lnSpc>
              <a:buClr>
                <a:srgbClr val="3A362F"/>
              </a:buClr>
              <a:buSzPts val="1350"/>
            </a:pPr>
            <a:r>
              <a:rPr lang="ko-KR" altLang="en-US" sz="1200" dirty="0">
                <a:solidFill>
                  <a:srgbClr val="3A362F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/>
                <a:sym typeface="Malgun Gothic"/>
              </a:rPr>
              <a:t>단순한 지표를 넘어 다양한 비즈니스 환경에서 솔루션의 효율성을 검증했습니다</a:t>
            </a:r>
            <a:r>
              <a:rPr lang="en-US" altLang="ko-KR" sz="1200" dirty="0">
                <a:solidFill>
                  <a:srgbClr val="3A362F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/>
                <a:sym typeface="Malgun Gothic"/>
              </a:rPr>
              <a:t>.</a:t>
            </a: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219A5394-8DCC-975F-2EE6-B3E19B931C8E}"/>
              </a:ext>
            </a:extLst>
          </p:cNvPr>
          <p:cNvCxnSpPr>
            <a:cxnSpLocks/>
          </p:cNvCxnSpPr>
          <p:nvPr/>
        </p:nvCxnSpPr>
        <p:spPr>
          <a:xfrm>
            <a:off x="3226083" y="4028209"/>
            <a:ext cx="538017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왼쪽 중괄호 21">
            <a:extLst>
              <a:ext uri="{FF2B5EF4-FFF2-40B4-BE49-F238E27FC236}">
                <a16:creationId xmlns:a16="http://schemas.microsoft.com/office/drawing/2014/main" id="{50133F1B-5462-EC60-9815-4B72AE0611C7}"/>
              </a:ext>
            </a:extLst>
          </p:cNvPr>
          <p:cNvSpPr/>
          <p:nvPr/>
        </p:nvSpPr>
        <p:spPr>
          <a:xfrm>
            <a:off x="3226083" y="2626357"/>
            <a:ext cx="517461" cy="2796907"/>
          </a:xfrm>
          <a:prstGeom prst="leftBrace">
            <a:avLst>
              <a:gd name="adj1" fmla="val 34159"/>
              <a:gd name="adj2" fmla="val 50000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6C68BCAC-AFCD-9C56-A162-6490F8A5D458}"/>
              </a:ext>
            </a:extLst>
          </p:cNvPr>
          <p:cNvSpPr/>
          <p:nvPr/>
        </p:nvSpPr>
        <p:spPr>
          <a:xfrm>
            <a:off x="3754592" y="4777537"/>
            <a:ext cx="5460310" cy="1216523"/>
          </a:xfrm>
          <a:prstGeom prst="roundRect">
            <a:avLst>
              <a:gd name="adj" fmla="val 10713"/>
            </a:avLst>
          </a:prstGeom>
          <a:gradFill>
            <a:gsLst>
              <a:gs pos="0">
                <a:srgbClr val="505557"/>
              </a:gs>
              <a:gs pos="87000">
                <a:srgbClr val="0D0E0B"/>
              </a:gs>
            </a:gsLst>
            <a:lin ang="2700000" scaled="1"/>
          </a:gradFill>
          <a:ln w="6350">
            <a:solidFill>
              <a:srgbClr val="FD8204"/>
            </a:solidFill>
          </a:ln>
          <a:effectLst>
            <a:outerShdw blurRad="165100" dist="12700" algn="ctr" rotWithShape="0">
              <a:prstClr val="black">
                <a:alpha val="15000"/>
              </a:prstClr>
            </a:outerShdw>
          </a:effectLst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algn="ctr"/>
            <a:endParaRPr lang="ko-KR" altLang="en-US" sz="105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grpSp>
        <p:nvGrpSpPr>
          <p:cNvPr id="162" name="그룹 161">
            <a:extLst>
              <a:ext uri="{FF2B5EF4-FFF2-40B4-BE49-F238E27FC236}">
                <a16:creationId xmlns:a16="http://schemas.microsoft.com/office/drawing/2014/main" id="{EA4E9C16-62D8-AA31-F205-01C5701D2045}"/>
              </a:ext>
            </a:extLst>
          </p:cNvPr>
          <p:cNvGrpSpPr/>
          <p:nvPr/>
        </p:nvGrpSpPr>
        <p:grpSpPr>
          <a:xfrm>
            <a:off x="3754591" y="2052169"/>
            <a:ext cx="5460311" cy="1216523"/>
            <a:chOff x="3365570" y="2046170"/>
            <a:chExt cx="5460311" cy="1216523"/>
          </a:xfrm>
        </p:grpSpPr>
        <p:sp>
          <p:nvSpPr>
            <p:cNvPr id="25" name="사각형: 둥근 모서리 24">
              <a:extLst>
                <a:ext uri="{FF2B5EF4-FFF2-40B4-BE49-F238E27FC236}">
                  <a16:creationId xmlns:a16="http://schemas.microsoft.com/office/drawing/2014/main" id="{C332DA46-90D6-7D16-7606-7852943E19A1}"/>
                </a:ext>
              </a:extLst>
            </p:cNvPr>
            <p:cNvSpPr/>
            <p:nvPr/>
          </p:nvSpPr>
          <p:spPr>
            <a:xfrm>
              <a:off x="3365570" y="2046170"/>
              <a:ext cx="5460311" cy="1216523"/>
            </a:xfrm>
            <a:prstGeom prst="roundRect">
              <a:avLst>
                <a:gd name="adj" fmla="val 10713"/>
              </a:avLst>
            </a:prstGeom>
            <a:gradFill>
              <a:gsLst>
                <a:gs pos="0">
                  <a:srgbClr val="505557"/>
                </a:gs>
                <a:gs pos="87000">
                  <a:srgbClr val="0D0E0B"/>
                </a:gs>
              </a:gsLst>
              <a:lin ang="2700000" scaled="1"/>
            </a:gradFill>
            <a:ln w="6350">
              <a:solidFill>
                <a:srgbClr val="FD8204"/>
              </a:solidFill>
            </a:ln>
            <a:effectLst>
              <a:outerShdw blurRad="165100" dist="12700" algn="ctr" rotWithShape="0">
                <a:prstClr val="black">
                  <a:alpha val="15000"/>
                </a:prstClr>
              </a:outerShdw>
            </a:effectLst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algn="ctr"/>
              <a:endParaRPr lang="ko-KR" altLang="en-US" sz="105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/>
              </a:endParaRPr>
            </a:p>
          </p:txBody>
        </p:sp>
        <p:grpSp>
          <p:nvGrpSpPr>
            <p:cNvPr id="161" name="그룹 160">
              <a:extLst>
                <a:ext uri="{FF2B5EF4-FFF2-40B4-BE49-F238E27FC236}">
                  <a16:creationId xmlns:a16="http://schemas.microsoft.com/office/drawing/2014/main" id="{054A9F52-E800-194B-4510-703E4EC4F5F0}"/>
                </a:ext>
              </a:extLst>
            </p:cNvPr>
            <p:cNvGrpSpPr/>
            <p:nvPr/>
          </p:nvGrpSpPr>
          <p:grpSpPr>
            <a:xfrm>
              <a:off x="3709407" y="2363490"/>
              <a:ext cx="4805943" cy="611493"/>
              <a:chOff x="3709407" y="2363490"/>
              <a:chExt cx="4805943" cy="611493"/>
            </a:xfrm>
          </p:grpSpPr>
          <p:sp>
            <p:nvSpPr>
              <p:cNvPr id="23" name="Google Shape;182;p11">
                <a:extLst>
                  <a:ext uri="{FF2B5EF4-FFF2-40B4-BE49-F238E27FC236}">
                    <a16:creationId xmlns:a16="http://schemas.microsoft.com/office/drawing/2014/main" id="{82317566-BD6B-777C-6DBC-11C0A1B60A05}"/>
                  </a:ext>
                </a:extLst>
              </p:cNvPr>
              <p:cNvSpPr/>
              <p:nvPr/>
            </p:nvSpPr>
            <p:spPr>
              <a:xfrm>
                <a:off x="3709407" y="2429206"/>
                <a:ext cx="1079926" cy="4800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>
                  <a:buClr>
                    <a:srgbClr val="E8592A"/>
                  </a:buClr>
                  <a:buSzPts val="3800"/>
                </a:pPr>
                <a:r>
                  <a:rPr lang="en-US" altLang="ko-KR" sz="3600" dirty="0">
                    <a:solidFill>
                      <a:srgbClr val="FD8204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  <a:cs typeface="Malgun Gothic"/>
                    <a:sym typeface="Malgun Gothic"/>
                  </a:rPr>
                  <a:t>40</a:t>
                </a:r>
                <a:r>
                  <a:rPr lang="en-US" altLang="ko-KR" sz="3200" dirty="0">
                    <a:solidFill>
                      <a:srgbClr val="FD8204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  <a:cs typeface="Malgun Gothic"/>
                    <a:sym typeface="Malgun Gothic"/>
                  </a:rPr>
                  <a:t>+</a:t>
                </a:r>
                <a:endParaRPr lang="ko-KR" altLang="en-US" sz="3600" dirty="0">
                  <a:solidFill>
                    <a:srgbClr val="FD8204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Calibri"/>
                  <a:sym typeface="Calibri"/>
                </a:endParaRPr>
              </a:p>
            </p:txBody>
          </p:sp>
          <p:grpSp>
            <p:nvGrpSpPr>
              <p:cNvPr id="160" name="그룹 159">
                <a:extLst>
                  <a:ext uri="{FF2B5EF4-FFF2-40B4-BE49-F238E27FC236}">
                    <a16:creationId xmlns:a16="http://schemas.microsoft.com/office/drawing/2014/main" id="{0B2A8125-8C3A-24E1-E965-04E1DE4D1EB5}"/>
                  </a:ext>
                </a:extLst>
              </p:cNvPr>
              <p:cNvGrpSpPr/>
              <p:nvPr/>
            </p:nvGrpSpPr>
            <p:grpSpPr>
              <a:xfrm>
                <a:off x="5190522" y="2363490"/>
                <a:ext cx="3324828" cy="611493"/>
                <a:chOff x="5190522" y="2363490"/>
                <a:chExt cx="3324828" cy="611493"/>
              </a:xfrm>
            </p:grpSpPr>
            <p:sp>
              <p:nvSpPr>
                <p:cNvPr id="26" name="Google Shape;183;p11">
                  <a:extLst>
                    <a:ext uri="{FF2B5EF4-FFF2-40B4-BE49-F238E27FC236}">
                      <a16:creationId xmlns:a16="http://schemas.microsoft.com/office/drawing/2014/main" id="{A7E87A87-4F43-495C-45D9-7608EE8E574E}"/>
                    </a:ext>
                  </a:extLst>
                </p:cNvPr>
                <p:cNvSpPr/>
                <p:nvPr/>
              </p:nvSpPr>
              <p:spPr>
                <a:xfrm>
                  <a:off x="5190522" y="2363490"/>
                  <a:ext cx="2194560" cy="2057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>
                    <a:buClr>
                      <a:srgbClr val="1A1714"/>
                    </a:buClr>
                    <a:buSzPts val="1250"/>
                  </a:pPr>
                  <a:r>
                    <a:rPr lang="ko-KR" altLang="en-US" sz="1200" dirty="0">
                      <a:solidFill>
                        <a:schemeClr val="bg1"/>
                      </a:solidFill>
                      <a:latin typeface="나눔스퀘어 Bold" panose="020B0600000101010101" pitchFamily="50" charset="-127"/>
                      <a:ea typeface="나눔스퀘어 Bold" panose="020B0600000101010101" pitchFamily="50" charset="-127"/>
                      <a:cs typeface="Malgun Gothic"/>
                      <a:sym typeface="Malgun Gothic"/>
                    </a:rPr>
                    <a:t>에이전트 </a:t>
                  </a:r>
                  <a:r>
                    <a:rPr lang="ko-KR" altLang="en-US" sz="1200" dirty="0" err="1">
                      <a:solidFill>
                        <a:schemeClr val="bg1"/>
                      </a:solidFill>
                      <a:latin typeface="나눔스퀘어 Bold" panose="020B0600000101010101" pitchFamily="50" charset="-127"/>
                      <a:ea typeface="나눔스퀘어 Bold" panose="020B0600000101010101" pitchFamily="50" charset="-127"/>
                      <a:cs typeface="Malgun Gothic"/>
                      <a:sym typeface="Malgun Gothic"/>
                    </a:rPr>
                    <a:t>구축</a:t>
                  </a:r>
                  <a:r>
                    <a:rPr lang="en-US" altLang="ko-KR" sz="1200" dirty="0" err="1">
                      <a:solidFill>
                        <a:schemeClr val="bg1"/>
                      </a:solidFill>
                      <a:latin typeface="나눔스퀘어 Bold" panose="020B0600000101010101" pitchFamily="50" charset="-127"/>
                      <a:ea typeface="나눔스퀘어 Bold" panose="020B0600000101010101" pitchFamily="50" charset="-127"/>
                      <a:cs typeface="Malgun Gothic"/>
                      <a:sym typeface="Malgun Gothic"/>
                    </a:rPr>
                    <a:t>·</a:t>
                  </a:r>
                  <a:r>
                    <a:rPr lang="ko-KR" altLang="en-US" sz="1200" dirty="0" err="1">
                      <a:solidFill>
                        <a:schemeClr val="bg1"/>
                      </a:solidFill>
                      <a:latin typeface="나눔스퀘어 Bold" panose="020B0600000101010101" pitchFamily="50" charset="-127"/>
                      <a:ea typeface="나눔스퀘어 Bold" panose="020B0600000101010101" pitchFamily="50" charset="-127"/>
                      <a:cs typeface="Malgun Gothic"/>
                      <a:sym typeface="Malgun Gothic"/>
                    </a:rPr>
                    <a:t>실증</a:t>
                  </a:r>
                  <a:r>
                    <a:rPr lang="ko-KR" altLang="en-US" sz="1200" dirty="0">
                      <a:solidFill>
                        <a:schemeClr val="bg1"/>
                      </a:solidFill>
                      <a:latin typeface="나눔스퀘어 Bold" panose="020B0600000101010101" pitchFamily="50" charset="-127"/>
                      <a:ea typeface="나눔스퀘어 Bold" panose="020B0600000101010101" pitchFamily="50" charset="-127"/>
                      <a:cs typeface="Malgun Gothic"/>
                      <a:sym typeface="Malgun Gothic"/>
                    </a:rPr>
                    <a:t> 사업 사례</a:t>
                  </a:r>
                  <a:endParaRPr lang="ko-KR" altLang="en-US" sz="1200" dirty="0">
                    <a:solidFill>
                      <a:schemeClr val="bg1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  <a:cs typeface="Calibri"/>
                    <a:sym typeface="Calibri"/>
                  </a:endParaRPr>
                </a:p>
              </p:txBody>
            </p:sp>
            <p:sp>
              <p:nvSpPr>
                <p:cNvPr id="31" name="Google Shape;184;p11">
                  <a:extLst>
                    <a:ext uri="{FF2B5EF4-FFF2-40B4-BE49-F238E27FC236}">
                      <a16:creationId xmlns:a16="http://schemas.microsoft.com/office/drawing/2014/main" id="{FE17205F-3706-E1E5-520A-FD41F7672CA0}"/>
                    </a:ext>
                  </a:extLst>
                </p:cNvPr>
                <p:cNvSpPr/>
                <p:nvPr/>
              </p:nvSpPr>
              <p:spPr>
                <a:xfrm>
                  <a:off x="5190522" y="2686947"/>
                  <a:ext cx="3324828" cy="28803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>
                    <a:lnSpc>
                      <a:spcPct val="110000"/>
                    </a:lnSpc>
                    <a:buClr>
                      <a:srgbClr val="8A867E"/>
                    </a:buClr>
                    <a:buSzPts val="950"/>
                  </a:pPr>
                  <a:r>
                    <a:rPr lang="ko-KR" altLang="en-US" sz="1000" dirty="0">
                      <a:solidFill>
                        <a:schemeClr val="bg1">
                          <a:lumMod val="85000"/>
                        </a:schemeClr>
                      </a:solidFill>
                      <a:latin typeface="나눔스퀘어" panose="020B0600000101010101" pitchFamily="50" charset="-127"/>
                      <a:ea typeface="나눔스퀘어" panose="020B0600000101010101" pitchFamily="50" charset="-127"/>
                      <a:cs typeface="Malgun Gothic"/>
                      <a:sym typeface="Malgun Gothic"/>
                    </a:rPr>
                    <a:t>사법</a:t>
                  </a:r>
                  <a:r>
                    <a:rPr lang="en-US" altLang="ko-KR" sz="1000" dirty="0">
                      <a:solidFill>
                        <a:schemeClr val="bg1">
                          <a:lumMod val="85000"/>
                        </a:schemeClr>
                      </a:solidFill>
                      <a:latin typeface="나눔스퀘어" panose="020B0600000101010101" pitchFamily="50" charset="-127"/>
                      <a:ea typeface="나눔스퀘어" panose="020B0600000101010101" pitchFamily="50" charset="-127"/>
                      <a:cs typeface="Malgun Gothic"/>
                      <a:sym typeface="Malgun Gothic"/>
                    </a:rPr>
                    <a:t>·</a:t>
                  </a:r>
                  <a:r>
                    <a:rPr lang="ko-KR" altLang="en-US" sz="1000" dirty="0">
                      <a:solidFill>
                        <a:schemeClr val="bg1">
                          <a:lumMod val="85000"/>
                        </a:schemeClr>
                      </a:solidFill>
                      <a:latin typeface="나눔스퀘어" panose="020B0600000101010101" pitchFamily="50" charset="-127"/>
                      <a:ea typeface="나눔스퀘어" panose="020B0600000101010101" pitchFamily="50" charset="-127"/>
                      <a:cs typeface="Malgun Gothic"/>
                      <a:sym typeface="Malgun Gothic"/>
                    </a:rPr>
                    <a:t>행정</a:t>
                  </a:r>
                  <a:r>
                    <a:rPr lang="en-US" altLang="ko-KR" sz="1000" dirty="0">
                      <a:solidFill>
                        <a:schemeClr val="bg1">
                          <a:lumMod val="85000"/>
                        </a:schemeClr>
                      </a:solidFill>
                      <a:latin typeface="나눔스퀘어" panose="020B0600000101010101" pitchFamily="50" charset="-127"/>
                      <a:ea typeface="나눔스퀘어" panose="020B0600000101010101" pitchFamily="50" charset="-127"/>
                      <a:cs typeface="Malgun Gothic"/>
                      <a:sym typeface="Malgun Gothic"/>
                    </a:rPr>
                    <a:t>, </a:t>
                  </a:r>
                  <a:r>
                    <a:rPr lang="ko-KR" altLang="en-US" sz="1000" dirty="0">
                      <a:solidFill>
                        <a:schemeClr val="bg1">
                          <a:lumMod val="85000"/>
                        </a:schemeClr>
                      </a:solidFill>
                      <a:latin typeface="나눔스퀘어" panose="020B0600000101010101" pitchFamily="50" charset="-127"/>
                      <a:ea typeface="나눔스퀘어" panose="020B0600000101010101" pitchFamily="50" charset="-127"/>
                      <a:cs typeface="Malgun Gothic"/>
                      <a:sym typeface="Malgun Gothic"/>
                    </a:rPr>
                    <a:t>에너지</a:t>
                  </a:r>
                  <a:r>
                    <a:rPr lang="en-US" altLang="ko-KR" sz="1000" dirty="0">
                      <a:solidFill>
                        <a:schemeClr val="bg1">
                          <a:lumMod val="85000"/>
                        </a:schemeClr>
                      </a:solidFill>
                      <a:latin typeface="나눔스퀘어" panose="020B0600000101010101" pitchFamily="50" charset="-127"/>
                      <a:ea typeface="나눔스퀘어" panose="020B0600000101010101" pitchFamily="50" charset="-127"/>
                      <a:cs typeface="Malgun Gothic"/>
                      <a:sym typeface="Malgun Gothic"/>
                    </a:rPr>
                    <a:t>, </a:t>
                  </a:r>
                  <a:r>
                    <a:rPr lang="ko-KR" altLang="en-US" sz="1000" dirty="0">
                      <a:solidFill>
                        <a:schemeClr val="bg1">
                          <a:lumMod val="85000"/>
                        </a:schemeClr>
                      </a:solidFill>
                      <a:latin typeface="나눔스퀘어" panose="020B0600000101010101" pitchFamily="50" charset="-127"/>
                      <a:ea typeface="나눔스퀘어" panose="020B0600000101010101" pitchFamily="50" charset="-127"/>
                      <a:cs typeface="Malgun Gothic"/>
                      <a:sym typeface="Malgun Gothic"/>
                    </a:rPr>
                    <a:t>공공 민원</a:t>
                  </a:r>
                  <a:r>
                    <a:rPr lang="en-US" altLang="ko-KR" sz="1000" dirty="0">
                      <a:solidFill>
                        <a:schemeClr val="bg1">
                          <a:lumMod val="85000"/>
                        </a:schemeClr>
                      </a:solidFill>
                      <a:latin typeface="나눔스퀘어" panose="020B0600000101010101" pitchFamily="50" charset="-127"/>
                      <a:ea typeface="나눔스퀘어" panose="020B0600000101010101" pitchFamily="50" charset="-127"/>
                      <a:cs typeface="Malgun Gothic"/>
                      <a:sym typeface="Malgun Gothic"/>
                    </a:rPr>
                    <a:t>, </a:t>
                  </a:r>
                  <a:r>
                    <a:rPr lang="ko-KR" altLang="en-US" sz="1000" dirty="0">
                      <a:solidFill>
                        <a:schemeClr val="bg1">
                          <a:lumMod val="85000"/>
                        </a:schemeClr>
                      </a:solidFill>
                      <a:latin typeface="나눔스퀘어" panose="020B0600000101010101" pitchFamily="50" charset="-127"/>
                      <a:ea typeface="나눔스퀘어" panose="020B0600000101010101" pitchFamily="50" charset="-127"/>
                      <a:cs typeface="Malgun Gothic"/>
                      <a:sym typeface="Malgun Gothic"/>
                    </a:rPr>
                    <a:t>국방 지휘결심 등 서로 다른 업무 환경에서 검증</a:t>
                  </a:r>
                  <a:endParaRPr lang="ko-KR" altLang="en-US" sz="1000" dirty="0">
                    <a:solidFill>
                      <a:schemeClr val="bg1">
                        <a:lumMod val="85000"/>
                      </a:schemeClr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171" name="Google Shape;182;p11">
            <a:extLst>
              <a:ext uri="{FF2B5EF4-FFF2-40B4-BE49-F238E27FC236}">
                <a16:creationId xmlns:a16="http://schemas.microsoft.com/office/drawing/2014/main" id="{F2EC2830-101C-9BF6-ED4E-7F0A7B0F1C66}"/>
              </a:ext>
            </a:extLst>
          </p:cNvPr>
          <p:cNvSpPr/>
          <p:nvPr/>
        </p:nvSpPr>
        <p:spPr>
          <a:xfrm>
            <a:off x="4098428" y="5183234"/>
            <a:ext cx="1938918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FFFFFF"/>
              </a:buClr>
              <a:buSzPts val="1400"/>
            </a:pPr>
            <a:r>
              <a:rPr lang="ko-KR" altLang="en-US" sz="2400" dirty="0" err="1">
                <a:solidFill>
                  <a:srgbClr val="FD8204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gun Gothic"/>
                <a:sym typeface="Malgun Gothic"/>
              </a:rPr>
              <a:t>고보안</a:t>
            </a:r>
            <a:r>
              <a:rPr lang="ko-KR" altLang="en-US" sz="2400" dirty="0">
                <a:solidFill>
                  <a:srgbClr val="FD8204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gun Gothic"/>
                <a:sym typeface="Malgun Gothic"/>
              </a:rPr>
              <a:t> 도메인</a:t>
            </a:r>
            <a:endParaRPr lang="ko-KR" altLang="en-US" sz="2400" dirty="0">
              <a:solidFill>
                <a:srgbClr val="FD8204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Calibri"/>
              <a:sym typeface="Calibri"/>
            </a:endParaRPr>
          </a:p>
        </p:txBody>
      </p:sp>
      <p:sp>
        <p:nvSpPr>
          <p:cNvPr id="175" name="Google Shape;184;p11">
            <a:extLst>
              <a:ext uri="{FF2B5EF4-FFF2-40B4-BE49-F238E27FC236}">
                <a16:creationId xmlns:a16="http://schemas.microsoft.com/office/drawing/2014/main" id="{82DA39AC-8D3B-BFF0-8681-9E804F0D37EA}"/>
              </a:ext>
            </a:extLst>
          </p:cNvPr>
          <p:cNvSpPr/>
          <p:nvPr/>
        </p:nvSpPr>
        <p:spPr>
          <a:xfrm>
            <a:off x="6330209" y="5071279"/>
            <a:ext cx="2670460" cy="703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171450" indent="-171450">
              <a:lnSpc>
                <a:spcPct val="110000"/>
              </a:lnSpc>
              <a:spcAft>
                <a:spcPts val="600"/>
              </a:spcAft>
              <a:buClr>
                <a:schemeClr val="bg1"/>
              </a:buClr>
              <a:buSzPts val="950"/>
              <a:buFont typeface="Arial" panose="020B0604020202020204" pitchFamily="34" charset="0"/>
              <a:buChar char="•"/>
            </a:pPr>
            <a:r>
              <a:rPr lang="en-US" altLang="ko-KR" sz="1000" dirty="0">
                <a:solidFill>
                  <a:schemeClr val="bg1">
                    <a:lumMod val="8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/>
                <a:sym typeface="Malgun Gothic"/>
              </a:rPr>
              <a:t>Konan LLM/VLM </a:t>
            </a:r>
            <a:r>
              <a:rPr lang="ko-KR" altLang="en-US" sz="1000" dirty="0" err="1">
                <a:solidFill>
                  <a:schemeClr val="bg1">
                    <a:lumMod val="8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/>
                <a:sym typeface="Malgun Gothic"/>
              </a:rPr>
              <a:t>온프레미스</a:t>
            </a:r>
            <a:r>
              <a:rPr lang="ko-KR" altLang="en-US" sz="1000" dirty="0">
                <a:solidFill>
                  <a:schemeClr val="bg1">
                    <a:lumMod val="8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/>
                <a:sym typeface="Malgun Gothic"/>
              </a:rPr>
              <a:t> 배포</a:t>
            </a:r>
          </a:p>
          <a:p>
            <a:pPr marL="171450" indent="-171450">
              <a:lnSpc>
                <a:spcPct val="110000"/>
              </a:lnSpc>
              <a:spcAft>
                <a:spcPts val="600"/>
              </a:spcAft>
              <a:buClr>
                <a:schemeClr val="bg1"/>
              </a:buClr>
              <a:buSzPts val="950"/>
              <a:buFont typeface="Arial" panose="020B0604020202020204" pitchFamily="34" charset="0"/>
              <a:buChar char="•"/>
            </a:pPr>
            <a:r>
              <a:rPr lang="ko-KR" altLang="en-US" sz="1000" dirty="0" err="1">
                <a:solidFill>
                  <a:schemeClr val="bg1">
                    <a:lumMod val="8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/>
                <a:sym typeface="Malgun Gothic"/>
              </a:rPr>
              <a:t>폐쇄망</a:t>
            </a:r>
            <a:r>
              <a:rPr lang="en-US" altLang="ko-KR" sz="1000" dirty="0">
                <a:solidFill>
                  <a:schemeClr val="bg1">
                    <a:lumMod val="8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/>
                <a:sym typeface="Malgun Gothic"/>
              </a:rPr>
              <a:t>(Closed Network) </a:t>
            </a:r>
            <a:r>
              <a:rPr lang="ko-KR" altLang="en-US" sz="1000" dirty="0">
                <a:solidFill>
                  <a:schemeClr val="bg1">
                    <a:lumMod val="8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/>
                <a:sym typeface="Malgun Gothic"/>
              </a:rPr>
              <a:t>완전 지원</a:t>
            </a:r>
          </a:p>
          <a:p>
            <a:pPr marL="171450" indent="-171450">
              <a:lnSpc>
                <a:spcPct val="110000"/>
              </a:lnSpc>
              <a:spcAft>
                <a:spcPts val="600"/>
              </a:spcAft>
              <a:buClr>
                <a:schemeClr val="bg1"/>
              </a:buClr>
              <a:buSzPts val="950"/>
              <a:buFont typeface="Arial" panose="020B0604020202020204" pitchFamily="34" charset="0"/>
              <a:buChar char="•"/>
            </a:pPr>
            <a:r>
              <a:rPr lang="en-US" altLang="ko-KR" sz="1000" dirty="0" err="1">
                <a:solidFill>
                  <a:schemeClr val="bg1">
                    <a:lumMod val="8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/>
                <a:sym typeface="Malgun Gothic"/>
              </a:rPr>
              <a:t>AgentOps</a:t>
            </a:r>
            <a:r>
              <a:rPr lang="ko-KR" altLang="en-US" sz="1000" dirty="0">
                <a:solidFill>
                  <a:schemeClr val="bg1">
                    <a:lumMod val="8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/>
                <a:sym typeface="Malgun Gothic"/>
              </a:rPr>
              <a:t>로 데이터 흐름</a:t>
            </a:r>
            <a:r>
              <a:rPr lang="en-US" altLang="ko-KR" sz="1000" dirty="0">
                <a:solidFill>
                  <a:schemeClr val="bg1">
                    <a:lumMod val="8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/>
                <a:sym typeface="Malgun Gothic"/>
              </a:rPr>
              <a:t>·</a:t>
            </a:r>
            <a:r>
              <a:rPr lang="ko-KR" altLang="en-US" sz="1000" dirty="0">
                <a:solidFill>
                  <a:schemeClr val="bg1">
                    <a:lumMod val="8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/>
                <a:sym typeface="Malgun Gothic"/>
              </a:rPr>
              <a:t>권한 통합 관리</a:t>
            </a:r>
          </a:p>
        </p:txBody>
      </p:sp>
      <p:grpSp>
        <p:nvGrpSpPr>
          <p:cNvPr id="197" name="그룹 196">
            <a:extLst>
              <a:ext uri="{FF2B5EF4-FFF2-40B4-BE49-F238E27FC236}">
                <a16:creationId xmlns:a16="http://schemas.microsoft.com/office/drawing/2014/main" id="{B5E20D72-8F94-BB0F-C247-6429BDE1FECB}"/>
              </a:ext>
            </a:extLst>
          </p:cNvPr>
          <p:cNvGrpSpPr/>
          <p:nvPr/>
        </p:nvGrpSpPr>
        <p:grpSpPr>
          <a:xfrm>
            <a:off x="62501" y="2143226"/>
            <a:ext cx="3776075" cy="3776073"/>
            <a:chOff x="-211662" y="1869063"/>
            <a:chExt cx="4324400" cy="4324398"/>
          </a:xfrm>
        </p:grpSpPr>
        <p:grpSp>
          <p:nvGrpSpPr>
            <p:cNvPr id="196" name="그룹 195">
              <a:extLst>
                <a:ext uri="{FF2B5EF4-FFF2-40B4-BE49-F238E27FC236}">
                  <a16:creationId xmlns:a16="http://schemas.microsoft.com/office/drawing/2014/main" id="{DD0DA8C2-4D6B-A35B-63C8-69A12F55E5F3}"/>
                </a:ext>
              </a:extLst>
            </p:cNvPr>
            <p:cNvGrpSpPr/>
            <p:nvPr/>
          </p:nvGrpSpPr>
          <p:grpSpPr>
            <a:xfrm>
              <a:off x="-211662" y="1869063"/>
              <a:ext cx="4324400" cy="4324398"/>
              <a:chOff x="-32442" y="2036837"/>
              <a:chExt cx="3923114" cy="3923112"/>
            </a:xfrm>
          </p:grpSpPr>
          <p:sp>
            <p:nvSpPr>
              <p:cNvPr id="189" name="타원 188">
                <a:extLst>
                  <a:ext uri="{FF2B5EF4-FFF2-40B4-BE49-F238E27FC236}">
                    <a16:creationId xmlns:a16="http://schemas.microsoft.com/office/drawing/2014/main" id="{C218F3AB-8D6B-BA98-FF91-4F5D649AA197}"/>
                  </a:ext>
                </a:extLst>
              </p:cNvPr>
              <p:cNvSpPr/>
              <p:nvPr/>
            </p:nvSpPr>
            <p:spPr>
              <a:xfrm>
                <a:off x="-32442" y="2036837"/>
                <a:ext cx="3923114" cy="3923112"/>
              </a:xfrm>
              <a:prstGeom prst="ellipse">
                <a:avLst/>
              </a:prstGeom>
              <a:solidFill>
                <a:srgbClr val="FD8204">
                  <a:alpha val="10000"/>
                </a:srgbClr>
              </a:solidFill>
              <a:ln w="3175">
                <a:noFill/>
              </a:ln>
              <a:effectLst>
                <a:softEdge rad="482600"/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3" name="타원 192">
                <a:extLst>
                  <a:ext uri="{FF2B5EF4-FFF2-40B4-BE49-F238E27FC236}">
                    <a16:creationId xmlns:a16="http://schemas.microsoft.com/office/drawing/2014/main" id="{4087425D-2317-FB65-8B0D-A3D25EDDF34B}"/>
                  </a:ext>
                </a:extLst>
              </p:cNvPr>
              <p:cNvSpPr/>
              <p:nvPr/>
            </p:nvSpPr>
            <p:spPr>
              <a:xfrm>
                <a:off x="583461" y="2662961"/>
                <a:ext cx="2670871" cy="2670867"/>
              </a:xfrm>
              <a:prstGeom prst="ellipse">
                <a:avLst/>
              </a:prstGeom>
              <a:solidFill>
                <a:srgbClr val="FD8204">
                  <a:alpha val="12000"/>
                </a:srgbClr>
              </a:solidFill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" name="타원 194">
                <a:extLst>
                  <a:ext uri="{FF2B5EF4-FFF2-40B4-BE49-F238E27FC236}">
                    <a16:creationId xmlns:a16="http://schemas.microsoft.com/office/drawing/2014/main" id="{EAC451FA-7B9A-DE1D-4008-3D904EB60F36}"/>
                  </a:ext>
                </a:extLst>
              </p:cNvPr>
              <p:cNvSpPr/>
              <p:nvPr/>
            </p:nvSpPr>
            <p:spPr>
              <a:xfrm>
                <a:off x="884643" y="2964142"/>
                <a:ext cx="2068505" cy="2068504"/>
              </a:xfrm>
              <a:prstGeom prst="ellipse">
                <a:avLst/>
              </a:prstGeom>
              <a:solidFill>
                <a:srgbClr val="FD8204">
                  <a:alpha val="26000"/>
                </a:srgbClr>
              </a:solidFill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E5112085-9CA4-D757-97C0-DA741A681A99}"/>
                </a:ext>
              </a:extLst>
            </p:cNvPr>
            <p:cNvGrpSpPr/>
            <p:nvPr/>
          </p:nvGrpSpPr>
          <p:grpSpPr>
            <a:xfrm>
              <a:off x="1160862" y="3229330"/>
              <a:ext cx="1575209" cy="1575209"/>
              <a:chOff x="4112782" y="4711333"/>
              <a:chExt cx="1360872" cy="1360871"/>
            </a:xfrm>
          </p:grpSpPr>
          <p:sp>
            <p:nvSpPr>
              <p:cNvPr id="17" name="타원 16">
                <a:extLst>
                  <a:ext uri="{FF2B5EF4-FFF2-40B4-BE49-F238E27FC236}">
                    <a16:creationId xmlns:a16="http://schemas.microsoft.com/office/drawing/2014/main" id="{103F5951-44D1-8EC1-BEC9-840691B0D09A}"/>
                  </a:ext>
                </a:extLst>
              </p:cNvPr>
              <p:cNvSpPr/>
              <p:nvPr/>
            </p:nvSpPr>
            <p:spPr>
              <a:xfrm>
                <a:off x="4112782" y="4711333"/>
                <a:ext cx="1360872" cy="1360871"/>
              </a:xfrm>
              <a:prstGeom prst="ellipse">
                <a:avLst/>
              </a:prstGeom>
              <a:gradFill>
                <a:gsLst>
                  <a:gs pos="84000">
                    <a:srgbClr val="F85C06"/>
                  </a:gs>
                  <a:gs pos="7000">
                    <a:srgbClr val="F66E08">
                      <a:lumMod val="65000"/>
                      <a:lumOff val="35000"/>
                    </a:srgbClr>
                  </a:gs>
                </a:gsLst>
                <a:lin ang="3600000" scaled="0"/>
              </a:gradFill>
              <a:ln>
                <a:noFill/>
              </a:ln>
              <a:effectLst>
                <a:outerShdw blurRad="177800" dist="38100" dir="5400000" sx="105000" sy="105000" algn="ctr" rotWithShape="0">
                  <a:schemeClr val="bg1">
                    <a:alpha val="46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" dirty="0">
                  <a:latin typeface="나눔스퀘어 ExtraBold" panose="020B0600000101010101" pitchFamily="34" charset="-127"/>
                  <a:ea typeface="나눔스퀘어 ExtraBold" panose="020B0600000101010101" pitchFamily="34" charset="-127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2D443C4-D709-6763-8EEF-2EA638E44BD1}"/>
                  </a:ext>
                </a:extLst>
              </p:cNvPr>
              <p:cNvSpPr txBox="1"/>
              <p:nvPr/>
            </p:nvSpPr>
            <p:spPr>
              <a:xfrm>
                <a:off x="4295061" y="5224289"/>
                <a:ext cx="996315" cy="334959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ctr"/>
                <a:r>
                  <a:rPr lang="en-US" altLang="ko-KR" sz="1600" dirty="0">
                    <a:solidFill>
                      <a:schemeClr val="bg1"/>
                    </a:solidFill>
                    <a:latin typeface="나눔스퀘어 ExtraBold" panose="020B0600000101010101" pitchFamily="34" charset="-127"/>
                    <a:ea typeface="나눔스퀘어 ExtraBold" panose="020B0600000101010101" pitchFamily="34" charset="-127"/>
                  </a:rPr>
                  <a:t>Agent-X</a:t>
                </a:r>
                <a:endParaRPr lang="ko-KR" altLang="en-US" sz="1600" dirty="0">
                  <a:solidFill>
                    <a:schemeClr val="bg1"/>
                  </a:solidFill>
                  <a:latin typeface="나눔스퀘어 ExtraBold" panose="020B0600000101010101" pitchFamily="34" charset="-127"/>
                  <a:ea typeface="나눔스퀘어 ExtraBold" panose="020B0600000101010101" pitchFamily="34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882181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E0B"/>
        </a:solidFill>
        <a:effectLst/>
      </p:bgPr>
    </p:bg>
    <p:spTree>
      <p:nvGrpSpPr>
        <p:cNvPr id="1" name="Shape 48">
          <a:extLst>
            <a:ext uri="{FF2B5EF4-FFF2-40B4-BE49-F238E27FC236}">
              <a16:creationId xmlns:a16="http://schemas.microsoft.com/office/drawing/2014/main" id="{910C5BD4-EB32-5C3B-2B0C-FD53631CD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51;p5">
            <a:extLst>
              <a:ext uri="{FF2B5EF4-FFF2-40B4-BE49-F238E27FC236}">
                <a16:creationId xmlns:a16="http://schemas.microsoft.com/office/drawing/2014/main" id="{3FB7B98E-14C7-58BE-16C5-954F8EFC76EB}"/>
              </a:ext>
            </a:extLst>
          </p:cNvPr>
          <p:cNvSpPr/>
          <p:nvPr/>
        </p:nvSpPr>
        <p:spPr>
          <a:xfrm>
            <a:off x="861060" y="3634739"/>
            <a:ext cx="7200900" cy="1175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30000"/>
              </a:lnSpc>
              <a:buClr>
                <a:srgbClr val="FFFFFF"/>
              </a:buClr>
              <a:buSzPts val="3400"/>
            </a:pPr>
            <a:r>
              <a:rPr lang="ko-KR" altLang="en-US" sz="3200" dirty="0">
                <a:solidFill>
                  <a:srgbClr val="FFFFF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lgun Gothic"/>
                <a:sym typeface="Malgun Gothic"/>
              </a:rPr>
              <a:t>수행 방안</a:t>
            </a:r>
          </a:p>
        </p:txBody>
      </p:sp>
      <p:sp>
        <p:nvSpPr>
          <p:cNvPr id="6" name="Google Shape;49;p5">
            <a:extLst>
              <a:ext uri="{FF2B5EF4-FFF2-40B4-BE49-F238E27FC236}">
                <a16:creationId xmlns:a16="http://schemas.microsoft.com/office/drawing/2014/main" id="{9B944E3F-2A8B-E5B1-EF9D-0808AAE6417C}"/>
              </a:ext>
            </a:extLst>
          </p:cNvPr>
          <p:cNvSpPr/>
          <p:nvPr/>
        </p:nvSpPr>
        <p:spPr>
          <a:xfrm>
            <a:off x="861060" y="2263140"/>
            <a:ext cx="1205865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E8592A"/>
              </a:buClr>
              <a:buSzPts val="1300"/>
            </a:pPr>
            <a:r>
              <a:rPr lang="en-US" altLang="ko-KR" sz="975" dirty="0">
                <a:solidFill>
                  <a:srgbClr val="FD8204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/>
                <a:sym typeface="Malgun Gothic"/>
              </a:rPr>
              <a:t>CHAPTER 03</a:t>
            </a:r>
            <a:endParaRPr lang="ko-KR" altLang="en-US" sz="975" dirty="0">
              <a:solidFill>
                <a:srgbClr val="FD8204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Calibri"/>
              <a:sym typeface="Calibri"/>
            </a:endParaRPr>
          </a:p>
        </p:txBody>
      </p:sp>
      <p:sp>
        <p:nvSpPr>
          <p:cNvPr id="8" name="Google Shape;50;p5">
            <a:extLst>
              <a:ext uri="{FF2B5EF4-FFF2-40B4-BE49-F238E27FC236}">
                <a16:creationId xmlns:a16="http://schemas.microsoft.com/office/drawing/2014/main" id="{1DA3DA35-3611-433E-3762-24C871B69120}"/>
              </a:ext>
            </a:extLst>
          </p:cNvPr>
          <p:cNvSpPr/>
          <p:nvPr/>
        </p:nvSpPr>
        <p:spPr>
          <a:xfrm>
            <a:off x="806196" y="2468880"/>
            <a:ext cx="205740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3A362F"/>
              </a:buClr>
              <a:buSzPts val="6800"/>
            </a:pPr>
            <a:r>
              <a:rPr lang="en-US" altLang="ko-KR" sz="5400" spc="-300" dirty="0">
                <a:solidFill>
                  <a:srgbClr val="F7F7F5"/>
                </a:solidFill>
                <a:latin typeface="나눔스퀘어 ExtraBold" panose="020B0600000101010101" pitchFamily="34" charset="-127"/>
                <a:ea typeface="나눔스퀘어 ExtraBold" panose="020B0600000101010101" pitchFamily="34" charset="-127"/>
                <a:cs typeface="Malgun Gothic"/>
                <a:sym typeface="Malgun Gothic"/>
              </a:rPr>
              <a:t>03</a:t>
            </a:r>
            <a:endParaRPr lang="ko-KR" altLang="en-US" sz="5400" spc="-300" dirty="0">
              <a:solidFill>
                <a:srgbClr val="F7F7F5"/>
              </a:solidFill>
              <a:latin typeface="나눔스퀘어 ExtraBold" panose="020B0600000101010101" pitchFamily="34" charset="-127"/>
              <a:ea typeface="나눔스퀘어 ExtraBold" panose="020B0600000101010101" pitchFamily="34" charset="-127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159996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>
          <a:extLst>
            <a:ext uri="{FF2B5EF4-FFF2-40B4-BE49-F238E27FC236}">
              <a16:creationId xmlns:a16="http://schemas.microsoft.com/office/drawing/2014/main" id="{67D809C6-993B-91CE-80B1-588E6DD29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1383B8F7-D03D-3679-D90F-E6E637D922CF}"/>
              </a:ext>
            </a:extLst>
          </p:cNvPr>
          <p:cNvSpPr/>
          <p:nvPr/>
        </p:nvSpPr>
        <p:spPr>
          <a:xfrm>
            <a:off x="450627" y="2071084"/>
            <a:ext cx="8981608" cy="4154618"/>
          </a:xfrm>
          <a:prstGeom prst="roundRect">
            <a:avLst>
              <a:gd name="adj" fmla="val 4293"/>
            </a:avLst>
          </a:prstGeom>
          <a:solidFill>
            <a:schemeClr val="bg1"/>
          </a:solidFill>
          <a:ln>
            <a:noFill/>
          </a:ln>
          <a:effectLst>
            <a:outerShdw blurRad="1524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C0A5C4FB-84BF-01E4-C9D1-745CF2A38CFA}"/>
              </a:ext>
            </a:extLst>
          </p:cNvPr>
          <p:cNvSpPr/>
          <p:nvPr/>
        </p:nvSpPr>
        <p:spPr>
          <a:xfrm>
            <a:off x="632523" y="2257867"/>
            <a:ext cx="8640955" cy="1228776"/>
          </a:xfrm>
          <a:prstGeom prst="roundRect">
            <a:avLst>
              <a:gd name="adj" fmla="val 947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0467CE0-9CA5-1A81-CC61-627D44FD67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316148F-D84E-47A3-B267-E08DF939B7C4}" type="slidenum">
              <a:rPr lang="ko-KR" altLang="en-US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pPr/>
              <a:t>12</a:t>
            </a:fld>
            <a:r>
              <a:rPr lang="en-US" altLang="ko-KR">
                <a:latin typeface="나눔스퀘어" panose="020B0600000101010101" pitchFamily="50" charset="-127"/>
                <a:ea typeface="나눔스퀘어" panose="020B0600000101010101" pitchFamily="50" charset="-127"/>
              </a:rPr>
              <a:t>/28</a:t>
            </a:r>
            <a:endParaRPr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F5DCFF-5A65-D927-FFB2-6A130975E7E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02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3FF38EB-35B6-2D7C-CB8D-24ABD871460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KEY FEATURE</a:t>
            </a:r>
            <a:endParaRPr lang="ko-KR" altLang="en-US" dirty="0"/>
          </a:p>
        </p:txBody>
      </p:sp>
      <p:sp>
        <p:nvSpPr>
          <p:cNvPr id="27" name="Google Shape;60;p6">
            <a:extLst>
              <a:ext uri="{FF2B5EF4-FFF2-40B4-BE49-F238E27FC236}">
                <a16:creationId xmlns:a16="http://schemas.microsoft.com/office/drawing/2014/main" id="{BA1E0F89-FAB2-9AE8-DAA3-D7156FC13183}"/>
              </a:ext>
            </a:extLst>
          </p:cNvPr>
          <p:cNvSpPr/>
          <p:nvPr/>
        </p:nvSpPr>
        <p:spPr>
          <a:xfrm>
            <a:off x="450628" y="779498"/>
            <a:ext cx="816102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12000"/>
              </a:lnSpc>
              <a:buClr>
                <a:srgbClr val="1A1714"/>
              </a:buClr>
              <a:buSzPts val="2800"/>
            </a:pPr>
            <a:r>
              <a:rPr lang="en-US" altLang="ko-KR" sz="2250" spc="-80" dirty="0">
                <a:solidFill>
                  <a:srgbClr val="1A1714"/>
                </a:solidFill>
                <a:latin typeface="나눔스퀘어 ExtraBold" panose="020B0600000101010101" pitchFamily="34" charset="-127"/>
                <a:ea typeface="나눔스퀘어 ExtraBold" panose="020B0600000101010101" pitchFamily="34" charset="-127"/>
                <a:sym typeface="Malgun Gothic"/>
              </a:rPr>
              <a:t>Agent Kernel</a:t>
            </a:r>
            <a:r>
              <a:rPr lang="ko-KR" altLang="en-US" sz="2250" spc="-80" dirty="0">
                <a:solidFill>
                  <a:srgbClr val="1A1714"/>
                </a:solidFill>
                <a:latin typeface="나눔스퀘어 ExtraBold" panose="020B0600000101010101" pitchFamily="34" charset="-127"/>
                <a:ea typeface="나눔스퀘어 ExtraBold" panose="020B0600000101010101" pitchFamily="34" charset="-127"/>
                <a:sym typeface="Malgun Gothic"/>
              </a:rPr>
              <a:t>과 </a:t>
            </a:r>
            <a:r>
              <a:rPr lang="en-US" altLang="ko-KR" sz="2250" spc="-80" dirty="0">
                <a:solidFill>
                  <a:srgbClr val="1A1714"/>
                </a:solidFill>
                <a:latin typeface="나눔스퀘어 ExtraBold" panose="020B0600000101010101" pitchFamily="34" charset="-127"/>
                <a:ea typeface="나눔스퀘어 ExtraBold" panose="020B0600000101010101" pitchFamily="34" charset="-127"/>
                <a:sym typeface="Malgun Gothic"/>
              </a:rPr>
              <a:t>Agent OS</a:t>
            </a:r>
            <a:r>
              <a:rPr lang="ko-KR" altLang="en-US" sz="2250" spc="-80" dirty="0">
                <a:solidFill>
                  <a:srgbClr val="1A1714"/>
                </a:solidFill>
                <a:latin typeface="나눔스퀘어 ExtraBold" panose="020B0600000101010101" pitchFamily="34" charset="-127"/>
                <a:ea typeface="나눔스퀘어 ExtraBold" panose="020B0600000101010101" pitchFamily="34" charset="-127"/>
                <a:sym typeface="Malgun Gothic"/>
              </a:rPr>
              <a:t>가 작동하는 방식</a:t>
            </a:r>
          </a:p>
        </p:txBody>
      </p:sp>
      <p:sp>
        <p:nvSpPr>
          <p:cNvPr id="29" name="Google Shape;61;p6">
            <a:extLst>
              <a:ext uri="{FF2B5EF4-FFF2-40B4-BE49-F238E27FC236}">
                <a16:creationId xmlns:a16="http://schemas.microsoft.com/office/drawing/2014/main" id="{ADF8C8A8-24E7-A654-68A8-A0BCD215516B}"/>
              </a:ext>
            </a:extLst>
          </p:cNvPr>
          <p:cNvSpPr/>
          <p:nvPr/>
        </p:nvSpPr>
        <p:spPr>
          <a:xfrm>
            <a:off x="450627" y="1317744"/>
            <a:ext cx="8870255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30000"/>
              </a:lnSpc>
              <a:buClr>
                <a:srgbClr val="3A362F"/>
              </a:buClr>
              <a:buSzPts val="1350"/>
            </a:pPr>
            <a:r>
              <a:rPr lang="en-US" altLang="ko-KR" sz="1200" dirty="0">
                <a:solidFill>
                  <a:srgbClr val="3A362F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/>
                <a:sym typeface="Malgun Gothic"/>
              </a:rPr>
              <a:t>AI </a:t>
            </a:r>
            <a:r>
              <a:rPr lang="ko-KR" altLang="en-US" sz="1200" dirty="0">
                <a:solidFill>
                  <a:srgbClr val="3A362F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/>
                <a:sym typeface="Malgun Gothic"/>
              </a:rPr>
              <a:t>모델 가동부터 </a:t>
            </a:r>
            <a:r>
              <a:rPr lang="en-US" altLang="ko-KR" sz="1200" dirty="0">
                <a:solidFill>
                  <a:srgbClr val="3A362F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/>
                <a:sym typeface="Malgun Gothic"/>
              </a:rPr>
              <a:t>RAG </a:t>
            </a:r>
            <a:r>
              <a:rPr lang="ko-KR" altLang="en-US" sz="1200" dirty="0">
                <a:solidFill>
                  <a:srgbClr val="3A362F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/>
                <a:sym typeface="Malgun Gothic"/>
              </a:rPr>
              <a:t>파이프라인</a:t>
            </a:r>
            <a:r>
              <a:rPr lang="en-US" altLang="ko-KR" sz="1200" dirty="0">
                <a:solidFill>
                  <a:srgbClr val="3A362F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/>
                <a:sym typeface="Malgun Gothic"/>
              </a:rPr>
              <a:t>, </a:t>
            </a:r>
            <a:r>
              <a:rPr lang="ko-KR" altLang="en-US" sz="1200" dirty="0">
                <a:solidFill>
                  <a:srgbClr val="3A362F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/>
                <a:sym typeface="Malgun Gothic"/>
              </a:rPr>
              <a:t>멀티 에이전트 환경까지 전 주기를 단일 플랫폼에서 관리합니다</a:t>
            </a:r>
            <a:r>
              <a:rPr lang="en-US" altLang="ko-KR" sz="1200" dirty="0">
                <a:solidFill>
                  <a:srgbClr val="3A362F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/>
                <a:sym typeface="Malgun Gothic"/>
              </a:rPr>
              <a:t>. </a:t>
            </a:r>
            <a:r>
              <a:rPr lang="ko-KR" altLang="en-US" sz="1200" dirty="0">
                <a:solidFill>
                  <a:srgbClr val="3A362F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/>
                <a:sym typeface="Malgun Gothic"/>
              </a:rPr>
              <a:t>전체 운영 현황의 가시성을 확보하고 데이터 흐름과 권한</a:t>
            </a:r>
            <a:r>
              <a:rPr lang="en-US" altLang="ko-KR" sz="1200" dirty="0">
                <a:solidFill>
                  <a:srgbClr val="3A362F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/>
                <a:sym typeface="Malgun Gothic"/>
              </a:rPr>
              <a:t>, </a:t>
            </a:r>
            <a:r>
              <a:rPr lang="ko-KR" altLang="en-US" sz="1200" dirty="0">
                <a:solidFill>
                  <a:srgbClr val="3A362F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/>
                <a:sym typeface="Malgun Gothic"/>
              </a:rPr>
              <a:t>로그를 통합 제어하여 장애 발생 시 신속한 추적과 대응을 지원합니다</a:t>
            </a:r>
            <a:r>
              <a:rPr lang="en-US" altLang="ko-KR" sz="1200" dirty="0">
                <a:solidFill>
                  <a:srgbClr val="3A362F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/>
                <a:sym typeface="Malgun Gothic"/>
              </a:rPr>
              <a:t>.</a:t>
            </a:r>
          </a:p>
        </p:txBody>
      </p:sp>
      <p:sp>
        <p:nvSpPr>
          <p:cNvPr id="23" name="Google Shape;404;p30">
            <a:extLst>
              <a:ext uri="{FF2B5EF4-FFF2-40B4-BE49-F238E27FC236}">
                <a16:creationId xmlns:a16="http://schemas.microsoft.com/office/drawing/2014/main" id="{6D8227C5-05AB-E3C8-2DA9-35516B74A865}"/>
              </a:ext>
            </a:extLst>
          </p:cNvPr>
          <p:cNvSpPr/>
          <p:nvPr/>
        </p:nvSpPr>
        <p:spPr>
          <a:xfrm>
            <a:off x="824011" y="2376240"/>
            <a:ext cx="2377440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i="0" u="none" strike="noStrike" cap="none" dirty="0">
                <a:solidFill>
                  <a:srgbClr val="FD8204"/>
                </a:solidFill>
                <a:latin typeface="나눔스퀘어 ExtraBold" panose="020B0600000101010101" pitchFamily="34" charset="-127"/>
                <a:ea typeface="나눔스퀘어 ExtraBold" panose="020B0600000101010101" pitchFamily="34" charset="-127"/>
                <a:sym typeface="Arial"/>
              </a:rPr>
              <a:t>AGENT</a:t>
            </a:r>
            <a:r>
              <a:rPr lang="ko-KR" sz="1200" b="1" i="0" u="none" strike="noStrike" cap="none" dirty="0">
                <a:solidFill>
                  <a:srgbClr val="FD8204"/>
                </a:solidFill>
                <a:latin typeface="나눔스퀘어 ExtraBold" panose="020B0600000101010101" pitchFamily="34" charset="-127"/>
                <a:ea typeface="나눔스퀘어 ExtraBold" panose="020B0600000101010101" pitchFamily="34" charset="-127"/>
                <a:sym typeface="Arial"/>
              </a:rPr>
              <a:t> OS</a:t>
            </a:r>
            <a:endParaRPr sz="2400" dirty="0">
              <a:solidFill>
                <a:srgbClr val="FD8204"/>
              </a:solidFill>
              <a:latin typeface="나눔스퀘어 ExtraBold" panose="020B0600000101010101" pitchFamily="34" charset="-127"/>
              <a:ea typeface="나눔스퀘어 ExtraBold" panose="020B0600000101010101" pitchFamily="34" charset="-127"/>
            </a:endParaRPr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93F32757-B3A5-3272-0C1A-4D193397E27A}"/>
              </a:ext>
            </a:extLst>
          </p:cNvPr>
          <p:cNvGrpSpPr/>
          <p:nvPr/>
        </p:nvGrpSpPr>
        <p:grpSpPr>
          <a:xfrm>
            <a:off x="812442" y="2654100"/>
            <a:ext cx="8257978" cy="648007"/>
            <a:chOff x="716115" y="2653543"/>
            <a:chExt cx="8486251" cy="648007"/>
          </a:xfrm>
        </p:grpSpPr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id="{97A0A67D-9DD1-79B0-257F-320544B161E6}"/>
                </a:ext>
              </a:extLst>
            </p:cNvPr>
            <p:cNvGrpSpPr/>
            <p:nvPr/>
          </p:nvGrpSpPr>
          <p:grpSpPr>
            <a:xfrm>
              <a:off x="6425282" y="2653549"/>
              <a:ext cx="2777084" cy="648001"/>
              <a:chOff x="6425282" y="2721639"/>
              <a:chExt cx="2777084" cy="525768"/>
            </a:xfrm>
          </p:grpSpPr>
          <p:sp>
            <p:nvSpPr>
              <p:cNvPr id="34" name="사각형: 둥근 모서리 33">
                <a:extLst>
                  <a:ext uri="{FF2B5EF4-FFF2-40B4-BE49-F238E27FC236}">
                    <a16:creationId xmlns:a16="http://schemas.microsoft.com/office/drawing/2014/main" id="{97BBCEF5-497E-0ED3-9E4F-D5550B0376C8}"/>
                  </a:ext>
                </a:extLst>
              </p:cNvPr>
              <p:cNvSpPr/>
              <p:nvPr/>
            </p:nvSpPr>
            <p:spPr>
              <a:xfrm>
                <a:off x="6425282" y="2721639"/>
                <a:ext cx="2777084" cy="525768"/>
              </a:xfrm>
              <a:prstGeom prst="roundRect">
                <a:avLst>
                  <a:gd name="adj" fmla="val 15166"/>
                </a:avLst>
              </a:prstGeom>
              <a:gradFill>
                <a:gsLst>
                  <a:gs pos="29000">
                    <a:srgbClr val="FED3A7"/>
                  </a:gs>
                  <a:gs pos="100000">
                    <a:srgbClr val="FDBA77">
                      <a:lumMod val="54000"/>
                      <a:lumOff val="46000"/>
                    </a:srgbClr>
                  </a:gs>
                </a:gsLst>
                <a:lin ang="1620000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D7D0F04-C077-6C26-7A4C-8C9040ED4C1D}"/>
                  </a:ext>
                </a:extLst>
              </p:cNvPr>
              <p:cNvSpPr txBox="1"/>
              <p:nvPr/>
            </p:nvSpPr>
            <p:spPr>
              <a:xfrm>
                <a:off x="6717029" y="2814482"/>
                <a:ext cx="2193589" cy="324638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altLang="en-US" sz="1000" b="0" i="0" u="none" strike="noStrike" cap="none" dirty="0">
                    <a:solidFill>
                      <a:srgbClr val="1A1714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  <a:sym typeface="Arial"/>
                  </a:rPr>
                  <a:t>목표를 분해하고 도구를 선택해 실행</a:t>
                </a:r>
                <a:endParaRPr lang="en-US" altLang="ko-KR" sz="1000" b="0" i="0" u="none" strike="noStrike" cap="none" dirty="0">
                  <a:solidFill>
                    <a:srgbClr val="1A1714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altLang="en-US" sz="1000" b="0" i="0" u="none" strike="noStrike" cap="none" dirty="0">
                    <a:solidFill>
                      <a:srgbClr val="1A1714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  <a:sym typeface="Arial"/>
                  </a:rPr>
                  <a:t>흐름을 설계 </a:t>
                </a:r>
                <a:r>
                  <a:rPr lang="en-US" altLang="ko-KR" sz="1000" b="0" i="0" u="none" strike="noStrike" cap="none" dirty="0">
                    <a:solidFill>
                      <a:srgbClr val="1A1714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  <a:sym typeface="Arial"/>
                  </a:rPr>
                  <a:t>· </a:t>
                </a:r>
                <a:r>
                  <a:rPr lang="ko-KR" altLang="en-US" sz="1000" b="0" i="0" u="none" strike="noStrike" cap="none" dirty="0">
                    <a:solidFill>
                      <a:srgbClr val="1A1714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  <a:sym typeface="Arial"/>
                  </a:rPr>
                  <a:t>운영 전 구간을 가시화</a:t>
                </a:r>
                <a:endParaRPr lang="ko-KR" altLang="en-US" sz="180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p:grpSp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1505F472-8B70-460F-AD66-CD2D848104F7}"/>
                </a:ext>
              </a:extLst>
            </p:cNvPr>
            <p:cNvGrpSpPr/>
            <p:nvPr/>
          </p:nvGrpSpPr>
          <p:grpSpPr>
            <a:xfrm>
              <a:off x="716115" y="2653543"/>
              <a:ext cx="2777084" cy="648000"/>
              <a:chOff x="716115" y="2721638"/>
              <a:chExt cx="2777084" cy="648000"/>
            </a:xfrm>
          </p:grpSpPr>
          <p:sp>
            <p:nvSpPr>
              <p:cNvPr id="26" name="사각형: 둥근 모서리 25">
                <a:extLst>
                  <a:ext uri="{FF2B5EF4-FFF2-40B4-BE49-F238E27FC236}">
                    <a16:creationId xmlns:a16="http://schemas.microsoft.com/office/drawing/2014/main" id="{788C3A51-3CDB-00B9-B27A-9533B5337E8B}"/>
                  </a:ext>
                </a:extLst>
              </p:cNvPr>
              <p:cNvSpPr/>
              <p:nvPr/>
            </p:nvSpPr>
            <p:spPr>
              <a:xfrm>
                <a:off x="716115" y="2721638"/>
                <a:ext cx="2777084" cy="648000"/>
              </a:xfrm>
              <a:prstGeom prst="roundRect">
                <a:avLst>
                  <a:gd name="adj" fmla="val 16667"/>
                </a:avLst>
              </a:prstGeom>
              <a:gradFill>
                <a:gsLst>
                  <a:gs pos="84000">
                    <a:srgbClr val="000000"/>
                  </a:gs>
                  <a:gs pos="7000">
                    <a:srgbClr val="212121">
                      <a:lumMod val="80000"/>
                      <a:lumOff val="20000"/>
                    </a:srgbClr>
                  </a:gs>
                </a:gsLst>
                <a:lin ang="16200000" scaled="1"/>
              </a:gradFill>
              <a:ln w="12700">
                <a:solidFill>
                  <a:srgbClr val="FD8204"/>
                </a:solidFill>
              </a:ln>
              <a:effectLst>
                <a:outerShdw blurRad="63500" dist="50800" dir="5400000" algn="t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grpSp>
            <p:nvGrpSpPr>
              <p:cNvPr id="44" name="그룹 43">
                <a:extLst>
                  <a:ext uri="{FF2B5EF4-FFF2-40B4-BE49-F238E27FC236}">
                    <a16:creationId xmlns:a16="http://schemas.microsoft.com/office/drawing/2014/main" id="{99FD31A1-CFB4-CC8F-5B35-EA0973E01A42}"/>
                  </a:ext>
                </a:extLst>
              </p:cNvPr>
              <p:cNvGrpSpPr/>
              <p:nvPr/>
            </p:nvGrpSpPr>
            <p:grpSpPr>
              <a:xfrm>
                <a:off x="1007863" y="2818730"/>
                <a:ext cx="2193588" cy="483992"/>
                <a:chOff x="1007863" y="2783455"/>
                <a:chExt cx="2193588" cy="483992"/>
              </a:xfrm>
            </p:grpSpPr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50A4C020-CDE4-6724-C5A4-B2E635555F3E}"/>
                    </a:ext>
                  </a:extLst>
                </p:cNvPr>
                <p:cNvSpPr txBox="1"/>
                <p:nvPr/>
              </p:nvSpPr>
              <p:spPr>
                <a:xfrm>
                  <a:off x="1007863" y="2783455"/>
                  <a:ext cx="2193588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altLang="ko-KR" sz="1200" dirty="0">
                      <a:solidFill>
                        <a:schemeClr val="bg1"/>
                      </a:solidFill>
                      <a:latin typeface="나눔스퀘어 Bold" panose="020B0600000101010101" pitchFamily="34" charset="-127"/>
                      <a:ea typeface="나눔스퀘어 Bold" panose="020B0600000101010101" pitchFamily="34" charset="-127"/>
                    </a:rPr>
                    <a:t>Agent Builder</a:t>
                  </a:r>
                  <a:endParaRPr lang="ko-KR" altLang="en-US" sz="1200" dirty="0">
                    <a:solidFill>
                      <a:schemeClr val="bg1"/>
                    </a:solidFill>
                    <a:latin typeface="나눔스퀘어 Bold" panose="020B0600000101010101" pitchFamily="34" charset="-127"/>
                    <a:ea typeface="나눔스퀘어 Bold" panose="020B0600000101010101" pitchFamily="34" charset="-127"/>
                  </a:endParaRPr>
                </a:p>
              </p:txBody>
            </p:sp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0A5AB5F3-51D9-45C4-FDEC-DF3F1356D8E6}"/>
                    </a:ext>
                  </a:extLst>
                </p:cNvPr>
                <p:cNvSpPr txBox="1"/>
                <p:nvPr/>
              </p:nvSpPr>
              <p:spPr>
                <a:xfrm>
                  <a:off x="1007863" y="3013531"/>
                  <a:ext cx="2193588" cy="25391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ko-KR" altLang="en-US" sz="1050" dirty="0" err="1">
                      <a:solidFill>
                        <a:schemeClr val="bg1"/>
                      </a:solidFill>
                      <a:latin typeface="나눔스퀘어 Light" panose="020B0600000101010101" pitchFamily="34" charset="-127"/>
                      <a:ea typeface="나눔스퀘어 Light" panose="020B0600000101010101" pitchFamily="34" charset="-127"/>
                    </a:rPr>
                    <a:t>노코드</a:t>
                  </a:r>
                  <a:r>
                    <a:rPr lang="ko-KR" altLang="en-US" sz="1050" dirty="0">
                      <a:solidFill>
                        <a:schemeClr val="bg1"/>
                      </a:solidFill>
                      <a:latin typeface="나눔스퀘어 Light" panose="020B0600000101010101" pitchFamily="34" charset="-127"/>
                      <a:ea typeface="나눔스퀘어 Light" panose="020B0600000101010101" pitchFamily="34" charset="-127"/>
                    </a:rPr>
                    <a:t> 워크플로우 설계</a:t>
                  </a:r>
                  <a:r>
                    <a:rPr lang="en-US" altLang="ko-KR" sz="1050" dirty="0">
                      <a:solidFill>
                        <a:schemeClr val="bg1"/>
                      </a:solidFill>
                      <a:latin typeface="나눔스퀘어 Light" panose="020B0600000101010101" pitchFamily="34" charset="-127"/>
                      <a:ea typeface="나눔스퀘어 Light" panose="020B0600000101010101" pitchFamily="34" charset="-127"/>
                    </a:rPr>
                    <a:t>·</a:t>
                  </a:r>
                  <a:r>
                    <a:rPr lang="ko-KR" altLang="en-US" sz="1050" dirty="0">
                      <a:solidFill>
                        <a:schemeClr val="bg1"/>
                      </a:solidFill>
                      <a:latin typeface="나눔스퀘어 Light" panose="020B0600000101010101" pitchFamily="34" charset="-127"/>
                      <a:ea typeface="나눔스퀘어 Light" panose="020B0600000101010101" pitchFamily="34" charset="-127"/>
                    </a:rPr>
                    <a:t>배포</a:t>
                  </a:r>
                </a:p>
              </p:txBody>
            </p:sp>
          </p:grpSp>
        </p:grpSp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5580D4CC-A6B5-27E9-AC0B-CCA0D545DB5D}"/>
                </a:ext>
              </a:extLst>
            </p:cNvPr>
            <p:cNvGrpSpPr/>
            <p:nvPr/>
          </p:nvGrpSpPr>
          <p:grpSpPr>
            <a:xfrm>
              <a:off x="3570698" y="2653543"/>
              <a:ext cx="2777084" cy="648000"/>
              <a:chOff x="3570698" y="2721638"/>
              <a:chExt cx="2777084" cy="648000"/>
            </a:xfrm>
          </p:grpSpPr>
          <p:sp>
            <p:nvSpPr>
              <p:cNvPr id="32" name="사각형: 둥근 모서리 31">
                <a:extLst>
                  <a:ext uri="{FF2B5EF4-FFF2-40B4-BE49-F238E27FC236}">
                    <a16:creationId xmlns:a16="http://schemas.microsoft.com/office/drawing/2014/main" id="{88FC4517-33AA-BB7A-64E2-DB8EC61D7AF1}"/>
                  </a:ext>
                </a:extLst>
              </p:cNvPr>
              <p:cNvSpPr/>
              <p:nvPr/>
            </p:nvSpPr>
            <p:spPr>
              <a:xfrm>
                <a:off x="3570698" y="2721638"/>
                <a:ext cx="2777084" cy="648000"/>
              </a:xfrm>
              <a:prstGeom prst="roundRect">
                <a:avLst>
                  <a:gd name="adj" fmla="val 13665"/>
                </a:avLst>
              </a:prstGeom>
              <a:gradFill>
                <a:gsLst>
                  <a:gs pos="84000">
                    <a:srgbClr val="000000"/>
                  </a:gs>
                  <a:gs pos="7000">
                    <a:srgbClr val="212121">
                      <a:lumMod val="80000"/>
                      <a:lumOff val="20000"/>
                    </a:srgbClr>
                  </a:gs>
                </a:gsLst>
                <a:lin ang="16200000" scaled="1"/>
              </a:gradFill>
              <a:ln w="12700">
                <a:solidFill>
                  <a:srgbClr val="FD8204"/>
                </a:solidFill>
              </a:ln>
              <a:effectLst>
                <a:outerShdw blurRad="63500" dist="50800" dir="5400000" algn="t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45" name="그룹 44">
                <a:extLst>
                  <a:ext uri="{FF2B5EF4-FFF2-40B4-BE49-F238E27FC236}">
                    <a16:creationId xmlns:a16="http://schemas.microsoft.com/office/drawing/2014/main" id="{DF08B38E-4DF2-BF3D-1029-1B97C4ADB72A}"/>
                  </a:ext>
                </a:extLst>
              </p:cNvPr>
              <p:cNvGrpSpPr/>
              <p:nvPr/>
            </p:nvGrpSpPr>
            <p:grpSpPr>
              <a:xfrm>
                <a:off x="3862446" y="2808706"/>
                <a:ext cx="2193588" cy="483992"/>
                <a:chOff x="1007863" y="2783455"/>
                <a:chExt cx="2193588" cy="483992"/>
              </a:xfrm>
            </p:grpSpPr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7808331B-845F-C3B8-8A25-463956094E27}"/>
                    </a:ext>
                  </a:extLst>
                </p:cNvPr>
                <p:cNvSpPr txBox="1"/>
                <p:nvPr/>
              </p:nvSpPr>
              <p:spPr>
                <a:xfrm>
                  <a:off x="1007863" y="2783455"/>
                  <a:ext cx="2193588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altLang="ko-KR" sz="1200" dirty="0" err="1">
                      <a:solidFill>
                        <a:schemeClr val="bg1"/>
                      </a:solidFill>
                      <a:latin typeface="나눔스퀘어 Bold" panose="020B0600000101010101" pitchFamily="34" charset="-127"/>
                      <a:ea typeface="나눔스퀘어 Bold" panose="020B0600000101010101" pitchFamily="34" charset="-127"/>
                    </a:rPr>
                    <a:t>AgentOps</a:t>
                  </a:r>
                  <a:endParaRPr lang="en-US" altLang="ko-KR" sz="1200" dirty="0">
                    <a:solidFill>
                      <a:schemeClr val="bg1"/>
                    </a:solidFill>
                    <a:latin typeface="나눔스퀘어 Bold" panose="020B0600000101010101" pitchFamily="34" charset="-127"/>
                    <a:ea typeface="나눔스퀘어 Bold" panose="020B0600000101010101" pitchFamily="34" charset="-127"/>
                  </a:endParaRPr>
                </a:p>
              </p:txBody>
            </p:sp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381242C3-8D5B-13CD-7275-2C2B441FAC35}"/>
                    </a:ext>
                  </a:extLst>
                </p:cNvPr>
                <p:cNvSpPr txBox="1"/>
                <p:nvPr/>
              </p:nvSpPr>
              <p:spPr>
                <a:xfrm>
                  <a:off x="1007863" y="3013531"/>
                  <a:ext cx="2193588" cy="25391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ko-KR" altLang="en-US" sz="1050" dirty="0">
                      <a:solidFill>
                        <a:schemeClr val="bg1"/>
                      </a:solidFill>
                      <a:latin typeface="나눔스퀘어 Light" panose="020B0600000101010101" pitchFamily="34" charset="-127"/>
                      <a:ea typeface="나눔스퀘어 Light" panose="020B0600000101010101" pitchFamily="34" charset="-127"/>
                    </a:rPr>
                    <a:t>전 주기 통합 운영</a:t>
                  </a:r>
                  <a:r>
                    <a:rPr lang="en-US" altLang="ko-KR" sz="1050" dirty="0">
                      <a:solidFill>
                        <a:schemeClr val="bg1"/>
                      </a:solidFill>
                      <a:latin typeface="나눔스퀘어 Light" panose="020B0600000101010101" pitchFamily="34" charset="-127"/>
                      <a:ea typeface="나눔스퀘어 Light" panose="020B0600000101010101" pitchFamily="34" charset="-127"/>
                    </a:rPr>
                    <a:t>·</a:t>
                  </a:r>
                  <a:r>
                    <a:rPr lang="ko-KR" altLang="en-US" sz="1050" dirty="0">
                      <a:solidFill>
                        <a:schemeClr val="bg1"/>
                      </a:solidFill>
                      <a:latin typeface="나눔스퀘어 Light" panose="020B0600000101010101" pitchFamily="34" charset="-127"/>
                      <a:ea typeface="나눔스퀘어 Light" panose="020B0600000101010101" pitchFamily="34" charset="-127"/>
                    </a:rPr>
                    <a:t>모니터링</a:t>
                  </a:r>
                </a:p>
              </p:txBody>
            </p:sp>
          </p:grpSp>
        </p:grpSp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817D74A2-F4D2-75AE-F97E-B96C416A67C5}"/>
              </a:ext>
            </a:extLst>
          </p:cNvPr>
          <p:cNvSpPr txBox="1"/>
          <p:nvPr/>
        </p:nvSpPr>
        <p:spPr>
          <a:xfrm>
            <a:off x="1474727" y="5741253"/>
            <a:ext cx="695654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i="0" u="none" strike="noStrike" cap="none" dirty="0">
                <a:gradFill>
                  <a:gsLst>
                    <a:gs pos="13000">
                      <a:srgbClr val="FD8204"/>
                    </a:gs>
                    <a:gs pos="100000">
                      <a:srgbClr val="F86810"/>
                    </a:gs>
                  </a:gsLst>
                  <a:lin ang="16200000" scaled="1"/>
                </a:gradFill>
                <a:latin typeface="나눔스퀘어 ExtraBold" panose="020B0600000101010101" pitchFamily="34" charset="-127"/>
                <a:ea typeface="나눔스퀘어 ExtraBold" panose="020B0600000101010101" pitchFamily="34" charset="-127"/>
                <a:sym typeface="Arial"/>
              </a:rPr>
              <a:t>실행 </a:t>
            </a:r>
            <a:r>
              <a:rPr lang="en-US" altLang="ko-KR" sz="1600" i="0" u="none" strike="noStrike" cap="none" dirty="0">
                <a:gradFill>
                  <a:gsLst>
                    <a:gs pos="13000">
                      <a:srgbClr val="FD8204"/>
                    </a:gs>
                    <a:gs pos="100000">
                      <a:srgbClr val="F86810"/>
                    </a:gs>
                  </a:gsLst>
                  <a:lin ang="16200000" scaled="1"/>
                </a:gradFill>
                <a:latin typeface="나눔스퀘어 ExtraBold" panose="020B0600000101010101" pitchFamily="34" charset="-127"/>
                <a:ea typeface="나눔스퀘어 ExtraBold" panose="020B0600000101010101" pitchFamily="34" charset="-127"/>
                <a:sym typeface="Arial"/>
              </a:rPr>
              <a:t>· </a:t>
            </a:r>
            <a:r>
              <a:rPr lang="ko-KR" altLang="en-US" sz="1600" i="0" u="none" strike="noStrike" cap="none" dirty="0">
                <a:gradFill>
                  <a:gsLst>
                    <a:gs pos="13000">
                      <a:srgbClr val="FD8204"/>
                    </a:gs>
                    <a:gs pos="100000">
                      <a:srgbClr val="F86810"/>
                    </a:gs>
                  </a:gsLst>
                  <a:lin ang="16200000" scaled="1"/>
                </a:gradFill>
                <a:latin typeface="나눔스퀘어 ExtraBold" panose="020B0600000101010101" pitchFamily="34" charset="-127"/>
                <a:ea typeface="나눔스퀘어 ExtraBold" panose="020B0600000101010101" pitchFamily="34" charset="-127"/>
                <a:sym typeface="Arial"/>
              </a:rPr>
              <a:t>응답 </a:t>
            </a:r>
            <a:r>
              <a:rPr lang="en-US" altLang="ko-KR" sz="1600" i="0" u="none" strike="noStrike" cap="none" dirty="0">
                <a:gradFill>
                  <a:gsLst>
                    <a:gs pos="13000">
                      <a:srgbClr val="FD8204"/>
                    </a:gs>
                    <a:gs pos="100000">
                      <a:srgbClr val="F86810"/>
                    </a:gs>
                  </a:gsLst>
                  <a:lin ang="16200000" scaled="1"/>
                </a:gradFill>
                <a:latin typeface="나눔스퀘어 ExtraBold" panose="020B0600000101010101" pitchFamily="34" charset="-127"/>
                <a:ea typeface="나눔스퀘어 ExtraBold" panose="020B0600000101010101" pitchFamily="34" charset="-127"/>
                <a:sym typeface="Arial"/>
              </a:rPr>
              <a:t>— </a:t>
            </a:r>
            <a:r>
              <a:rPr lang="ko-KR" altLang="en-US" sz="1600" i="0" u="none" strike="noStrike" cap="none" dirty="0">
                <a:gradFill>
                  <a:gsLst>
                    <a:gs pos="13000">
                      <a:srgbClr val="FD8204"/>
                    </a:gs>
                    <a:gs pos="100000">
                      <a:srgbClr val="F86810"/>
                    </a:gs>
                  </a:gsLst>
                  <a:lin ang="16200000" scaled="1"/>
                </a:gradFill>
                <a:latin typeface="나눔스퀘어 ExtraBold" panose="020B0600000101010101" pitchFamily="34" charset="-127"/>
                <a:ea typeface="나눔스퀘어 ExtraBold" panose="020B0600000101010101" pitchFamily="34" charset="-127"/>
                <a:sym typeface="Arial"/>
              </a:rPr>
              <a:t>사용자의 목표에 맞춘 답변과 액션이 하나의 대화로 완결</a:t>
            </a:r>
            <a:endParaRPr lang="ko-KR" altLang="en-US" sz="3200" dirty="0">
              <a:gradFill>
                <a:gsLst>
                  <a:gs pos="13000">
                    <a:srgbClr val="FD8204"/>
                  </a:gs>
                  <a:gs pos="100000">
                    <a:srgbClr val="F86810"/>
                  </a:gs>
                </a:gsLst>
                <a:lin ang="16200000" scaled="1"/>
              </a:gradFill>
              <a:latin typeface="나눔스퀘어 ExtraBold" panose="020B0600000101010101" pitchFamily="34" charset="-127"/>
              <a:ea typeface="나눔스퀘어 ExtraBold" panose="020B0600000101010101" pitchFamily="34" charset="-127"/>
            </a:endParaRPr>
          </a:p>
        </p:txBody>
      </p:sp>
      <p:sp>
        <p:nvSpPr>
          <p:cNvPr id="82" name="화살표: 아래쪽 81">
            <a:extLst>
              <a:ext uri="{FF2B5EF4-FFF2-40B4-BE49-F238E27FC236}">
                <a16:creationId xmlns:a16="http://schemas.microsoft.com/office/drawing/2014/main" id="{C3E32566-0DB7-A759-6AD1-FEFDFDDCC296}"/>
              </a:ext>
            </a:extLst>
          </p:cNvPr>
          <p:cNvSpPr/>
          <p:nvPr/>
        </p:nvSpPr>
        <p:spPr>
          <a:xfrm>
            <a:off x="4824701" y="3495786"/>
            <a:ext cx="233461" cy="195387"/>
          </a:xfrm>
          <a:prstGeom prst="downArrow">
            <a:avLst/>
          </a:prstGeom>
          <a:gradFill>
            <a:gsLst>
              <a:gs pos="29000">
                <a:schemeClr val="tx1">
                  <a:lumMod val="50000"/>
                  <a:lumOff val="50000"/>
                </a:schemeClr>
              </a:gs>
              <a:gs pos="89000">
                <a:schemeClr val="bg1">
                  <a:alpha val="58000"/>
                </a:scheme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4" name="화살표: 아래쪽 83">
            <a:extLst>
              <a:ext uri="{FF2B5EF4-FFF2-40B4-BE49-F238E27FC236}">
                <a16:creationId xmlns:a16="http://schemas.microsoft.com/office/drawing/2014/main" id="{F84B34E5-A372-C798-1C58-2DA190C07DF2}"/>
              </a:ext>
            </a:extLst>
          </p:cNvPr>
          <p:cNvSpPr/>
          <p:nvPr/>
        </p:nvSpPr>
        <p:spPr>
          <a:xfrm>
            <a:off x="4824701" y="5524432"/>
            <a:ext cx="233461" cy="195387"/>
          </a:xfrm>
          <a:prstGeom prst="downArrow">
            <a:avLst/>
          </a:prstGeom>
          <a:gradFill>
            <a:gsLst>
              <a:gs pos="29000">
                <a:schemeClr val="tx1">
                  <a:lumMod val="50000"/>
                  <a:lumOff val="50000"/>
                </a:schemeClr>
              </a:gs>
              <a:gs pos="89000">
                <a:schemeClr val="bg1">
                  <a:alpha val="58000"/>
                </a:scheme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7ED95591-EF9E-7045-6982-475D42E7F62F}"/>
              </a:ext>
            </a:extLst>
          </p:cNvPr>
          <p:cNvGrpSpPr/>
          <p:nvPr/>
        </p:nvGrpSpPr>
        <p:grpSpPr>
          <a:xfrm>
            <a:off x="632520" y="3693139"/>
            <a:ext cx="8640955" cy="1823537"/>
            <a:chOff x="632520" y="3716719"/>
            <a:chExt cx="8640955" cy="1823537"/>
          </a:xfrm>
        </p:grpSpPr>
        <p:sp>
          <p:nvSpPr>
            <p:cNvPr id="55" name="사각형: 둥근 모서리 54">
              <a:extLst>
                <a:ext uri="{FF2B5EF4-FFF2-40B4-BE49-F238E27FC236}">
                  <a16:creationId xmlns:a16="http://schemas.microsoft.com/office/drawing/2014/main" id="{7CC54D2B-F8F6-8B52-B6F3-D023E75C474C}"/>
                </a:ext>
              </a:extLst>
            </p:cNvPr>
            <p:cNvSpPr/>
            <p:nvPr/>
          </p:nvSpPr>
          <p:spPr>
            <a:xfrm>
              <a:off x="632520" y="3716719"/>
              <a:ext cx="8640955" cy="1823537"/>
            </a:xfrm>
            <a:prstGeom prst="roundRect">
              <a:avLst>
                <a:gd name="adj" fmla="val 9305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Google Shape;409;p30">
              <a:extLst>
                <a:ext uri="{FF2B5EF4-FFF2-40B4-BE49-F238E27FC236}">
                  <a16:creationId xmlns:a16="http://schemas.microsoft.com/office/drawing/2014/main" id="{99FFB614-BB57-E6CD-6448-5DD31B403D4C}"/>
                </a:ext>
              </a:extLst>
            </p:cNvPr>
            <p:cNvSpPr/>
            <p:nvPr/>
          </p:nvSpPr>
          <p:spPr>
            <a:xfrm>
              <a:off x="803121" y="3840723"/>
              <a:ext cx="2377440" cy="2103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r>
                <a:rPr lang="en-US" altLang="ko-KR" sz="1200" dirty="0">
                  <a:solidFill>
                    <a:srgbClr val="FD8204"/>
                  </a:solidFill>
                  <a:latin typeface="나눔스퀘어 ExtraBold" panose="020B0600000101010101" pitchFamily="34" charset="-127"/>
                  <a:ea typeface="나눔스퀘어 ExtraBold" panose="020B0600000101010101" pitchFamily="34" charset="-127"/>
                </a:rPr>
                <a:t>AGENT KERNEL</a:t>
              </a:r>
              <a:endParaRPr sz="1200" dirty="0">
                <a:solidFill>
                  <a:srgbClr val="FD8204"/>
                </a:solidFill>
                <a:latin typeface="나눔스퀘어 ExtraBold" panose="020B0600000101010101" pitchFamily="34" charset="-127"/>
                <a:ea typeface="나눔스퀘어 ExtraBold" panose="020B0600000101010101" pitchFamily="34" charset="-127"/>
              </a:endParaRPr>
            </a:p>
          </p:txBody>
        </p:sp>
        <p:sp>
          <p:nvSpPr>
            <p:cNvPr id="61" name="사각형: 둥근 모서리 60">
              <a:extLst>
                <a:ext uri="{FF2B5EF4-FFF2-40B4-BE49-F238E27FC236}">
                  <a16:creationId xmlns:a16="http://schemas.microsoft.com/office/drawing/2014/main" id="{9D907010-370A-AF72-0577-2A828551A304}"/>
                </a:ext>
              </a:extLst>
            </p:cNvPr>
            <p:cNvSpPr/>
            <p:nvPr/>
          </p:nvSpPr>
          <p:spPr>
            <a:xfrm>
              <a:off x="803121" y="4145150"/>
              <a:ext cx="2004898" cy="56234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dist="38100" dir="5400000" algn="ctr" rotWithShape="0">
                <a:srgbClr val="000000">
                  <a:alpha val="14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717AC1BB-9A9B-74DE-4B06-9FA67835B645}"/>
                </a:ext>
              </a:extLst>
            </p:cNvPr>
            <p:cNvSpPr txBox="1"/>
            <p:nvPr/>
          </p:nvSpPr>
          <p:spPr>
            <a:xfrm>
              <a:off x="1188867" y="4213784"/>
              <a:ext cx="1233406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ko-KR" sz="1050" dirty="0">
                  <a:solidFill>
                    <a:schemeClr val="tx1"/>
                  </a:solidFill>
                  <a:latin typeface="나눔스퀘어 Bold" panose="020B0600000101010101" pitchFamily="34" charset="-127"/>
                  <a:ea typeface="나눔스퀘어 Bold" panose="020B0600000101010101" pitchFamily="34" charset="-127"/>
                </a:rPr>
                <a:t>RAG Agent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5D924FA9-3D09-24BF-1B4E-FBC11E540104}"/>
                </a:ext>
              </a:extLst>
            </p:cNvPr>
            <p:cNvSpPr txBox="1"/>
            <p:nvPr/>
          </p:nvSpPr>
          <p:spPr>
            <a:xfrm>
              <a:off x="903695" y="4415724"/>
              <a:ext cx="1803751" cy="22313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850" dirty="0">
                  <a:solidFill>
                    <a:schemeClr val="tx1"/>
                  </a:solidFill>
                  <a:latin typeface="나눔스퀘어" panose="020B0600000101010101" pitchFamily="34" charset="-127"/>
                  <a:ea typeface="나눔스퀘어" panose="020B0600000101010101" pitchFamily="34" charset="-127"/>
                </a:rPr>
                <a:t>지능형 검색 </a:t>
              </a:r>
              <a:r>
                <a:rPr lang="en-US" altLang="ko-KR" sz="850" dirty="0">
                  <a:solidFill>
                    <a:schemeClr val="tx1"/>
                  </a:solidFill>
                  <a:latin typeface="나눔스퀘어" panose="020B0600000101010101" pitchFamily="34" charset="-127"/>
                  <a:ea typeface="나눔스퀘어" panose="020B0600000101010101" pitchFamily="34" charset="-127"/>
                </a:rPr>
                <a:t>· </a:t>
              </a:r>
              <a:r>
                <a:rPr lang="ko-KR" altLang="en-US" sz="850" dirty="0">
                  <a:solidFill>
                    <a:schemeClr val="tx1"/>
                  </a:solidFill>
                  <a:latin typeface="나눔스퀘어" panose="020B0600000101010101" pitchFamily="34" charset="-127"/>
                  <a:ea typeface="나눔스퀘어" panose="020B0600000101010101" pitchFamily="34" charset="-127"/>
                </a:rPr>
                <a:t>분석</a:t>
              </a:r>
            </a:p>
          </p:txBody>
        </p:sp>
        <p:sp>
          <p:nvSpPr>
            <p:cNvPr id="96" name="사각형: 둥근 모서리 95">
              <a:extLst>
                <a:ext uri="{FF2B5EF4-FFF2-40B4-BE49-F238E27FC236}">
                  <a16:creationId xmlns:a16="http://schemas.microsoft.com/office/drawing/2014/main" id="{6FE0F4BF-ACCB-487D-C79C-B7CD7F901E7A}"/>
                </a:ext>
              </a:extLst>
            </p:cNvPr>
            <p:cNvSpPr/>
            <p:nvPr/>
          </p:nvSpPr>
          <p:spPr>
            <a:xfrm>
              <a:off x="2890588" y="4145150"/>
              <a:ext cx="2004898" cy="56234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dist="38100" dir="5400000" algn="ctr" rotWithShape="0">
                <a:srgbClr val="000000">
                  <a:alpha val="14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0F16C8B8-7D50-3493-8CE4-8C86DE26A1F5}"/>
                </a:ext>
              </a:extLst>
            </p:cNvPr>
            <p:cNvSpPr txBox="1"/>
            <p:nvPr/>
          </p:nvSpPr>
          <p:spPr>
            <a:xfrm>
              <a:off x="3276334" y="4213784"/>
              <a:ext cx="1233406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ko-KR" sz="1050" dirty="0">
                  <a:solidFill>
                    <a:schemeClr val="tx1"/>
                  </a:solidFill>
                  <a:latin typeface="나눔스퀘어 Bold" panose="020B0600000101010101" pitchFamily="34" charset="-127"/>
                  <a:ea typeface="나눔스퀘어 Bold" panose="020B0600000101010101" pitchFamily="34" charset="-127"/>
                </a:rPr>
                <a:t>NL2SQL Agent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48FD9C7A-7CCA-1839-4BFA-1FA3E7A83394}"/>
                </a:ext>
              </a:extLst>
            </p:cNvPr>
            <p:cNvSpPr txBox="1"/>
            <p:nvPr/>
          </p:nvSpPr>
          <p:spPr>
            <a:xfrm>
              <a:off x="2991162" y="4415724"/>
              <a:ext cx="1803751" cy="22313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0" indent="0" algn="ctr">
                <a:buNone/>
                <a:defRPr sz="850">
                  <a:solidFill>
                    <a:schemeClr val="tx1"/>
                  </a:solidFill>
                  <a:latin typeface="나눔스퀘어" panose="020B0600000101010101" pitchFamily="34" charset="-127"/>
                  <a:ea typeface="나눔스퀘어" panose="020B0600000101010101" pitchFamily="34" charset="-127"/>
                </a:defRPr>
              </a:lvl1pPr>
            </a:lstStyle>
            <a:p>
              <a:r>
                <a:rPr lang="ko-KR" altLang="en-US" dirty="0"/>
                <a:t>자연어 </a:t>
              </a:r>
              <a:r>
                <a:rPr lang="ko-KR" altLang="en-US"/>
                <a:t>쿼리 </a:t>
              </a:r>
              <a:r>
                <a:rPr lang="en-US" altLang="ko-KR" dirty="0"/>
                <a:t>· </a:t>
              </a:r>
              <a:r>
                <a:rPr lang="ko-KR" altLang="en-US" dirty="0"/>
                <a:t>자가교정</a:t>
              </a:r>
            </a:p>
          </p:txBody>
        </p:sp>
        <p:sp>
          <p:nvSpPr>
            <p:cNvPr id="101" name="사각형: 둥근 모서리 100">
              <a:extLst>
                <a:ext uri="{FF2B5EF4-FFF2-40B4-BE49-F238E27FC236}">
                  <a16:creationId xmlns:a16="http://schemas.microsoft.com/office/drawing/2014/main" id="{939F28F9-8A5C-40E7-1594-F03EAE70724E}"/>
                </a:ext>
              </a:extLst>
            </p:cNvPr>
            <p:cNvSpPr/>
            <p:nvPr/>
          </p:nvSpPr>
          <p:spPr>
            <a:xfrm>
              <a:off x="4978055" y="4145150"/>
              <a:ext cx="2004898" cy="56234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dist="38100" dir="5400000" algn="ctr" rotWithShape="0">
                <a:srgbClr val="000000">
                  <a:alpha val="14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599ED1D2-7F8F-D52F-BBF3-1DB9B9EF794B}"/>
                </a:ext>
              </a:extLst>
            </p:cNvPr>
            <p:cNvSpPr txBox="1"/>
            <p:nvPr/>
          </p:nvSpPr>
          <p:spPr>
            <a:xfrm>
              <a:off x="5363801" y="4213784"/>
              <a:ext cx="1233406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1050" dirty="0">
                  <a:solidFill>
                    <a:schemeClr val="tx1"/>
                  </a:solidFill>
                  <a:latin typeface="나눔스퀘어 Bold" panose="020B0600000101010101" pitchFamily="34" charset="-127"/>
                  <a:ea typeface="나눔스퀘어 Bold" panose="020B0600000101010101" pitchFamily="34" charset="-127"/>
                </a:rPr>
                <a:t>통번역 </a:t>
              </a:r>
              <a:r>
                <a:rPr lang="en-US" altLang="ko-KR" sz="1050" dirty="0">
                  <a:solidFill>
                    <a:schemeClr val="tx1"/>
                  </a:solidFill>
                  <a:latin typeface="나눔스퀘어 Bold" panose="020B0600000101010101" pitchFamily="34" charset="-127"/>
                  <a:ea typeface="나눔스퀘어 Bold" panose="020B0600000101010101" pitchFamily="34" charset="-127"/>
                </a:rPr>
                <a:t>Agent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C69E7A5B-4C1E-44AC-8C1C-88BF47A5916D}"/>
                </a:ext>
              </a:extLst>
            </p:cNvPr>
            <p:cNvSpPr txBox="1"/>
            <p:nvPr/>
          </p:nvSpPr>
          <p:spPr>
            <a:xfrm>
              <a:off x="5078629" y="4415724"/>
              <a:ext cx="1803751" cy="22313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0" indent="0" algn="ctr">
                <a:buNone/>
                <a:defRPr sz="850">
                  <a:solidFill>
                    <a:schemeClr val="tx1"/>
                  </a:solidFill>
                  <a:latin typeface="나눔스퀘어" panose="020B0600000101010101" pitchFamily="34" charset="-127"/>
                  <a:ea typeface="나눔스퀘어" panose="020B0600000101010101" pitchFamily="34" charset="-127"/>
                </a:defRPr>
              </a:lvl1pPr>
            </a:lstStyle>
            <a:p>
              <a:r>
                <a:rPr lang="ko-KR" altLang="en-US" dirty="0"/>
                <a:t>다국어 </a:t>
              </a:r>
              <a:r>
                <a:rPr lang="ko-KR" altLang="en-US"/>
                <a:t>통번역 </a:t>
              </a:r>
              <a:r>
                <a:rPr lang="en-US" altLang="ko-KR" dirty="0"/>
                <a:t>· </a:t>
              </a:r>
              <a:r>
                <a:rPr lang="ko-KR" altLang="en-US" dirty="0"/>
                <a:t>통역</a:t>
              </a:r>
            </a:p>
          </p:txBody>
        </p:sp>
        <p:sp>
          <p:nvSpPr>
            <p:cNvPr id="106" name="사각형: 둥근 모서리 105">
              <a:extLst>
                <a:ext uri="{FF2B5EF4-FFF2-40B4-BE49-F238E27FC236}">
                  <a16:creationId xmlns:a16="http://schemas.microsoft.com/office/drawing/2014/main" id="{71C0A157-4F31-1CE2-056E-3F5C81493449}"/>
                </a:ext>
              </a:extLst>
            </p:cNvPr>
            <p:cNvSpPr/>
            <p:nvPr/>
          </p:nvSpPr>
          <p:spPr>
            <a:xfrm>
              <a:off x="7065522" y="4145150"/>
              <a:ext cx="2004898" cy="56234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dist="38100" dir="5400000" algn="ctr" rotWithShape="0">
                <a:srgbClr val="000000">
                  <a:alpha val="14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01074E0B-B862-13BA-52E2-820C3B5AB7F3}"/>
                </a:ext>
              </a:extLst>
            </p:cNvPr>
            <p:cNvSpPr txBox="1"/>
            <p:nvPr/>
          </p:nvSpPr>
          <p:spPr>
            <a:xfrm>
              <a:off x="7451268" y="4213784"/>
              <a:ext cx="1233406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1050" dirty="0">
                  <a:solidFill>
                    <a:schemeClr val="tx1"/>
                  </a:solidFill>
                  <a:latin typeface="나눔스퀘어 Bold" panose="020B0600000101010101" pitchFamily="34" charset="-127"/>
                  <a:ea typeface="나눔스퀘어 Bold" panose="020B0600000101010101" pitchFamily="34" charset="-127"/>
                </a:rPr>
                <a:t>문서요약 </a:t>
              </a:r>
              <a:r>
                <a:rPr lang="en-US" altLang="ko-KR" sz="1050" dirty="0">
                  <a:solidFill>
                    <a:schemeClr val="tx1"/>
                  </a:solidFill>
                  <a:latin typeface="나눔스퀘어 Bold" panose="020B0600000101010101" pitchFamily="34" charset="-127"/>
                  <a:ea typeface="나눔스퀘어 Bold" panose="020B0600000101010101" pitchFamily="34" charset="-127"/>
                </a:rPr>
                <a:t>Agent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400B53D5-3E67-F007-30A5-C1B88606594A}"/>
                </a:ext>
              </a:extLst>
            </p:cNvPr>
            <p:cNvSpPr txBox="1"/>
            <p:nvPr/>
          </p:nvSpPr>
          <p:spPr>
            <a:xfrm>
              <a:off x="7166096" y="4415724"/>
              <a:ext cx="1803751" cy="22313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0" indent="0" algn="ctr">
                <a:buNone/>
                <a:defRPr sz="850">
                  <a:solidFill>
                    <a:schemeClr val="tx1"/>
                  </a:solidFill>
                  <a:latin typeface="나눔스퀘어" panose="020B0600000101010101" pitchFamily="34" charset="-127"/>
                  <a:ea typeface="나눔스퀘어" panose="020B0600000101010101" pitchFamily="34" charset="-127"/>
                </a:defRPr>
              </a:lvl1pPr>
            </a:lstStyle>
            <a:p>
              <a:r>
                <a:rPr lang="ko-KR" altLang="en-US" dirty="0"/>
                <a:t>멀티 문서 통합 요약</a:t>
              </a:r>
            </a:p>
          </p:txBody>
        </p:sp>
        <p:sp>
          <p:nvSpPr>
            <p:cNvPr id="128" name="사각형: 둥근 모서리 127">
              <a:extLst>
                <a:ext uri="{FF2B5EF4-FFF2-40B4-BE49-F238E27FC236}">
                  <a16:creationId xmlns:a16="http://schemas.microsoft.com/office/drawing/2014/main" id="{95FD54F0-ACAF-BC45-CD1A-67593119EDFF}"/>
                </a:ext>
              </a:extLst>
            </p:cNvPr>
            <p:cNvSpPr/>
            <p:nvPr/>
          </p:nvSpPr>
          <p:spPr>
            <a:xfrm>
              <a:off x="803121" y="4781022"/>
              <a:ext cx="2004898" cy="56234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dist="38100" dir="5400000" algn="ctr" rotWithShape="0">
                <a:srgbClr val="000000">
                  <a:alpha val="14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170F2018-9DD7-777D-59C3-A93731C2C1D1}"/>
                </a:ext>
              </a:extLst>
            </p:cNvPr>
            <p:cNvSpPr txBox="1"/>
            <p:nvPr/>
          </p:nvSpPr>
          <p:spPr>
            <a:xfrm>
              <a:off x="1188867" y="4849656"/>
              <a:ext cx="1233406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1050" dirty="0">
                  <a:solidFill>
                    <a:schemeClr val="tx1"/>
                  </a:solidFill>
                  <a:latin typeface="나눔스퀘어 Bold" panose="020B0600000101010101" pitchFamily="34" charset="-127"/>
                  <a:ea typeface="나눔스퀘어 Bold" panose="020B0600000101010101" pitchFamily="34" charset="-127"/>
                </a:rPr>
                <a:t>데이터 분석 </a:t>
              </a:r>
              <a:r>
                <a:rPr lang="en-US" altLang="ko-KR" sz="1050" dirty="0">
                  <a:solidFill>
                    <a:schemeClr val="tx1"/>
                  </a:solidFill>
                  <a:latin typeface="나눔스퀘어 Bold" panose="020B0600000101010101" pitchFamily="34" charset="-127"/>
                  <a:ea typeface="나눔스퀘어 Bold" panose="020B0600000101010101" pitchFamily="34" charset="-127"/>
                </a:rPr>
                <a:t>Agent</a:t>
              </a: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5F76586B-5C51-CBAA-DAB7-7AAA9B94F26C}"/>
                </a:ext>
              </a:extLst>
            </p:cNvPr>
            <p:cNvSpPr txBox="1"/>
            <p:nvPr/>
          </p:nvSpPr>
          <p:spPr>
            <a:xfrm>
              <a:off x="903695" y="5051596"/>
              <a:ext cx="1803751" cy="22313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0" indent="0" algn="ctr">
                <a:buNone/>
                <a:defRPr sz="850">
                  <a:solidFill>
                    <a:schemeClr val="tx1"/>
                  </a:solidFill>
                  <a:latin typeface="나눔스퀘어" panose="020B0600000101010101" pitchFamily="34" charset="-127"/>
                  <a:ea typeface="나눔스퀘어" panose="020B0600000101010101" pitchFamily="34" charset="-127"/>
                </a:defRPr>
              </a:lvl1pPr>
            </a:lstStyle>
            <a:p>
              <a:r>
                <a:rPr lang="ko-KR" altLang="en-US" dirty="0"/>
                <a:t>인사이트 </a:t>
              </a:r>
              <a:r>
                <a:rPr lang="ko-KR" altLang="en-US"/>
                <a:t>도출 </a:t>
              </a:r>
              <a:r>
                <a:rPr lang="en-US" altLang="ko-KR" dirty="0"/>
                <a:t>· </a:t>
              </a:r>
              <a:r>
                <a:rPr lang="ko-KR" altLang="en-US" dirty="0"/>
                <a:t>시각화</a:t>
              </a:r>
            </a:p>
          </p:txBody>
        </p:sp>
        <p:sp>
          <p:nvSpPr>
            <p:cNvPr id="124" name="사각형: 둥근 모서리 123">
              <a:extLst>
                <a:ext uri="{FF2B5EF4-FFF2-40B4-BE49-F238E27FC236}">
                  <a16:creationId xmlns:a16="http://schemas.microsoft.com/office/drawing/2014/main" id="{896A0CD8-AAEB-D6E4-03D1-F1BE54F1E695}"/>
                </a:ext>
              </a:extLst>
            </p:cNvPr>
            <p:cNvSpPr/>
            <p:nvPr/>
          </p:nvSpPr>
          <p:spPr>
            <a:xfrm>
              <a:off x="2890588" y="4781022"/>
              <a:ext cx="2004898" cy="56234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dist="38100" dir="5400000" algn="ctr" rotWithShape="0">
                <a:srgbClr val="000000">
                  <a:alpha val="14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2AAD9132-015E-F25B-D823-72D652610442}"/>
                </a:ext>
              </a:extLst>
            </p:cNvPr>
            <p:cNvSpPr txBox="1"/>
            <p:nvPr/>
          </p:nvSpPr>
          <p:spPr>
            <a:xfrm>
              <a:off x="3276334" y="4849656"/>
              <a:ext cx="1233406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1050" dirty="0">
                  <a:solidFill>
                    <a:schemeClr val="tx1"/>
                  </a:solidFill>
                  <a:latin typeface="나눔스퀘어 Bold" panose="020B0600000101010101" pitchFamily="34" charset="-127"/>
                  <a:ea typeface="나눔스퀘어 Bold" panose="020B0600000101010101" pitchFamily="34" charset="-127"/>
                </a:rPr>
                <a:t>보고서 작성 </a:t>
              </a:r>
              <a:r>
                <a:rPr lang="en-US" altLang="ko-KR" sz="1050" dirty="0">
                  <a:solidFill>
                    <a:schemeClr val="tx1"/>
                  </a:solidFill>
                  <a:latin typeface="나눔스퀘어 Bold" panose="020B0600000101010101" pitchFamily="34" charset="-127"/>
                  <a:ea typeface="나눔스퀘어 Bold" panose="020B0600000101010101" pitchFamily="34" charset="-127"/>
                </a:rPr>
                <a:t>Agent</a:t>
              </a: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64E3498A-1AE9-40C4-43BF-E9F4F2A3BD99}"/>
                </a:ext>
              </a:extLst>
            </p:cNvPr>
            <p:cNvSpPr txBox="1"/>
            <p:nvPr/>
          </p:nvSpPr>
          <p:spPr>
            <a:xfrm>
              <a:off x="2991162" y="5051596"/>
              <a:ext cx="1803751" cy="22313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0" indent="0" algn="ctr">
                <a:buNone/>
                <a:defRPr sz="850">
                  <a:solidFill>
                    <a:schemeClr val="tx1"/>
                  </a:solidFill>
                  <a:latin typeface="나눔스퀘어" panose="020B0600000101010101" pitchFamily="34" charset="-127"/>
                  <a:ea typeface="나눔스퀘어" panose="020B0600000101010101" pitchFamily="34" charset="-127"/>
                </a:defRPr>
              </a:lvl1pPr>
            </a:lstStyle>
            <a:p>
              <a:r>
                <a:rPr lang="ko-KR" altLang="en-US" dirty="0"/>
                <a:t>보고서 자동 생성</a:t>
              </a:r>
            </a:p>
          </p:txBody>
        </p:sp>
        <p:sp>
          <p:nvSpPr>
            <p:cNvPr id="120" name="사각형: 둥근 모서리 119">
              <a:extLst>
                <a:ext uri="{FF2B5EF4-FFF2-40B4-BE49-F238E27FC236}">
                  <a16:creationId xmlns:a16="http://schemas.microsoft.com/office/drawing/2014/main" id="{3351081C-F8B9-BAB1-BEDE-660BB9927E77}"/>
                </a:ext>
              </a:extLst>
            </p:cNvPr>
            <p:cNvSpPr/>
            <p:nvPr/>
          </p:nvSpPr>
          <p:spPr>
            <a:xfrm>
              <a:off x="4978055" y="4781022"/>
              <a:ext cx="2004898" cy="56234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dist="38100" dir="5400000" algn="ctr" rotWithShape="0">
                <a:srgbClr val="000000">
                  <a:alpha val="14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771A5B31-8560-1A71-C856-5785A5EFFF0A}"/>
                </a:ext>
              </a:extLst>
            </p:cNvPr>
            <p:cNvSpPr txBox="1"/>
            <p:nvPr/>
          </p:nvSpPr>
          <p:spPr>
            <a:xfrm>
              <a:off x="5363801" y="4849656"/>
              <a:ext cx="1233406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1050" dirty="0">
                  <a:solidFill>
                    <a:schemeClr val="tx1"/>
                  </a:solidFill>
                  <a:latin typeface="나눔스퀘어 Bold" panose="020B0600000101010101" pitchFamily="34" charset="-127"/>
                  <a:ea typeface="나눔스퀘어 Bold" panose="020B0600000101010101" pitchFamily="34" charset="-127"/>
                </a:rPr>
                <a:t>채팅 </a:t>
              </a:r>
              <a:r>
                <a:rPr lang="en-US" altLang="ko-KR" sz="1050" dirty="0">
                  <a:solidFill>
                    <a:schemeClr val="tx1"/>
                  </a:solidFill>
                  <a:latin typeface="나눔스퀘어 Bold" panose="020B0600000101010101" pitchFamily="34" charset="-127"/>
                  <a:ea typeface="나눔스퀘어 Bold" panose="020B0600000101010101" pitchFamily="34" charset="-127"/>
                </a:rPr>
                <a:t>Agent</a:t>
              </a: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3CF919F1-D8EF-2512-AFA6-CA2381337FC4}"/>
                </a:ext>
              </a:extLst>
            </p:cNvPr>
            <p:cNvSpPr txBox="1"/>
            <p:nvPr/>
          </p:nvSpPr>
          <p:spPr>
            <a:xfrm>
              <a:off x="5078629" y="5051596"/>
              <a:ext cx="1803751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0" indent="0" algn="ctr">
                <a:buNone/>
                <a:defRPr sz="850">
                  <a:solidFill>
                    <a:schemeClr val="tx1"/>
                  </a:solidFill>
                  <a:latin typeface="나눔스퀘어" panose="020B0600000101010101" pitchFamily="34" charset="-127"/>
                  <a:ea typeface="나눔스퀘어" panose="020B0600000101010101" pitchFamily="34" charset="-127"/>
                </a:defRPr>
              </a:lvl1pPr>
            </a:lstStyle>
            <a:p>
              <a:r>
                <a:rPr lang="ko-KR" altLang="en-US" dirty="0" err="1"/>
                <a:t>멀티턴</a:t>
              </a:r>
              <a:r>
                <a:rPr lang="ko-KR" altLang="en-US" dirty="0"/>
                <a:t> </a:t>
              </a:r>
              <a:r>
                <a:rPr lang="ko-KR" altLang="en-US"/>
                <a:t>대화 </a:t>
              </a:r>
              <a:r>
                <a:rPr lang="en-US" altLang="ko-KR" dirty="0"/>
                <a:t>· </a:t>
              </a:r>
              <a:r>
                <a:rPr lang="ko-KR" altLang="en-US" dirty="0"/>
                <a:t>채널 연동</a:t>
              </a:r>
            </a:p>
          </p:txBody>
        </p:sp>
        <p:sp>
          <p:nvSpPr>
            <p:cNvPr id="116" name="사각형: 둥근 모서리 115">
              <a:extLst>
                <a:ext uri="{FF2B5EF4-FFF2-40B4-BE49-F238E27FC236}">
                  <a16:creationId xmlns:a16="http://schemas.microsoft.com/office/drawing/2014/main" id="{54C451C6-97CF-8B10-DB3B-598355A95A91}"/>
                </a:ext>
              </a:extLst>
            </p:cNvPr>
            <p:cNvSpPr/>
            <p:nvPr/>
          </p:nvSpPr>
          <p:spPr>
            <a:xfrm>
              <a:off x="7065522" y="4781022"/>
              <a:ext cx="2004898" cy="56234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dist="38100" dir="5400000" algn="ctr" rotWithShape="0">
                <a:srgbClr val="000000">
                  <a:alpha val="14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25DA353E-7454-56D6-D0EE-928AA0CD7E49}"/>
                </a:ext>
              </a:extLst>
            </p:cNvPr>
            <p:cNvSpPr txBox="1"/>
            <p:nvPr/>
          </p:nvSpPr>
          <p:spPr>
            <a:xfrm>
              <a:off x="7451268" y="4849656"/>
              <a:ext cx="1233406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1050" dirty="0">
                  <a:solidFill>
                    <a:schemeClr val="tx1"/>
                  </a:solidFill>
                  <a:latin typeface="나눔스퀘어 Bold" panose="020B0600000101010101" pitchFamily="34" charset="-127"/>
                  <a:ea typeface="나눔스퀘어 Bold" panose="020B0600000101010101" pitchFamily="34" charset="-127"/>
                </a:rPr>
                <a:t>이미지 생성 </a:t>
              </a:r>
              <a:r>
                <a:rPr lang="en-US" altLang="ko-KR" sz="1050" dirty="0">
                  <a:solidFill>
                    <a:schemeClr val="tx1"/>
                  </a:solidFill>
                  <a:latin typeface="나눔스퀘어 Bold" panose="020B0600000101010101" pitchFamily="34" charset="-127"/>
                  <a:ea typeface="나눔스퀘어 Bold" panose="020B0600000101010101" pitchFamily="34" charset="-127"/>
                </a:rPr>
                <a:t>Agent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3451D5BF-E5B7-BE1C-3009-3B2561C4DD85}"/>
                </a:ext>
              </a:extLst>
            </p:cNvPr>
            <p:cNvSpPr txBox="1"/>
            <p:nvPr/>
          </p:nvSpPr>
          <p:spPr>
            <a:xfrm>
              <a:off x="7166096" y="5051596"/>
              <a:ext cx="1803751" cy="22313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0" indent="0" algn="ctr">
                <a:buNone/>
                <a:defRPr sz="850">
                  <a:solidFill>
                    <a:schemeClr val="tx1"/>
                  </a:solidFill>
                  <a:latin typeface="나눔스퀘어" panose="020B0600000101010101" pitchFamily="34" charset="-127"/>
                  <a:ea typeface="나눔스퀘어" panose="020B0600000101010101" pitchFamily="34" charset="-127"/>
                </a:defRPr>
              </a:lvl1pPr>
            </a:lstStyle>
            <a:p>
              <a:r>
                <a:rPr lang="ko-KR" altLang="en-US" dirty="0"/>
                <a:t>프롬프트 기반 생성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689769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>
          <a:extLst>
            <a:ext uri="{FF2B5EF4-FFF2-40B4-BE49-F238E27FC236}">
              <a16:creationId xmlns:a16="http://schemas.microsoft.com/office/drawing/2014/main" id="{CCCA6B06-7ADF-BA35-D7D9-DD87572F7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35BB9D11-64F6-474C-F3F9-6FF38A2563D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지능형 검색 </a:t>
            </a:r>
            <a:r>
              <a:rPr lang="en-US" altLang="ko-KR" dirty="0"/>
              <a:t>&amp; </a:t>
            </a:r>
            <a:r>
              <a:rPr lang="ko-KR" altLang="en-US" dirty="0"/>
              <a:t>분석</a:t>
            </a:r>
          </a:p>
        </p:txBody>
      </p:sp>
      <p:sp>
        <p:nvSpPr>
          <p:cNvPr id="6" name="제목 5">
            <a:extLst>
              <a:ext uri="{FF2B5EF4-FFF2-40B4-BE49-F238E27FC236}">
                <a16:creationId xmlns:a16="http://schemas.microsoft.com/office/drawing/2014/main" id="{BF12CC54-348D-BBC3-20E0-1CCAF4F94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RAG Agent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9A22E10-5E81-2787-E62C-CED9CAC0FD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316148F-D84E-47A3-B267-E08DF939B7C4}" type="slidenum">
              <a:rPr lang="ko-KR" altLang="en-US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pPr/>
              <a:t>13</a:t>
            </a:fld>
            <a:r>
              <a:rPr lang="en-US" altLang="ko-KR">
                <a:latin typeface="나눔스퀘어" panose="020B0600000101010101" pitchFamily="50" charset="-127"/>
                <a:ea typeface="나눔스퀘어" panose="020B0600000101010101" pitchFamily="50" charset="-127"/>
              </a:rPr>
              <a:t>/28</a:t>
            </a:r>
            <a:endParaRPr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D9A4FDB-F033-C70A-EEC5-735402F423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02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5408674-D183-4A4B-69DE-F646200925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KEY FEATURE</a:t>
            </a:r>
            <a:endParaRPr lang="ko-KR" altLang="en-US" dirty="0"/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2CE5CB16-70B0-BD55-4B07-CB5E425C9B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/>
            <a:r>
              <a:rPr lang="ko-KR" altLang="en-US" dirty="0"/>
              <a:t>하이브리드</a:t>
            </a:r>
            <a:r>
              <a:rPr lang="en-US" altLang="ko-KR" dirty="0"/>
              <a:t>(</a:t>
            </a:r>
            <a:r>
              <a:rPr lang="ko-KR" altLang="en-US" dirty="0"/>
              <a:t>벡터</a:t>
            </a:r>
            <a:r>
              <a:rPr lang="en-US" altLang="ko-KR" dirty="0"/>
              <a:t>+</a:t>
            </a:r>
            <a:r>
              <a:rPr lang="ko-KR" altLang="en-US" dirty="0"/>
              <a:t>키워드</a:t>
            </a:r>
            <a:r>
              <a:rPr lang="en-US" altLang="ko-KR" dirty="0"/>
              <a:t>) </a:t>
            </a:r>
            <a:r>
              <a:rPr lang="ko-KR" altLang="en-US" dirty="0"/>
              <a:t>검색으로 사내 문서의 정확한 근거를 확보하고</a:t>
            </a:r>
            <a:r>
              <a:rPr lang="en-US" altLang="ko-KR" dirty="0"/>
              <a:t>, </a:t>
            </a:r>
            <a:r>
              <a:rPr lang="ko-KR" altLang="en-US" dirty="0"/>
              <a:t>인터넷 검색을 연계해 최신 정보를 실시간으로 반영합니다</a:t>
            </a:r>
            <a:r>
              <a:rPr lang="en-US" altLang="ko-KR" dirty="0"/>
              <a:t>. </a:t>
            </a:r>
            <a:r>
              <a:rPr lang="ko-KR" altLang="en-US" dirty="0"/>
              <a:t>복합 질의를 스스로 분리 및 추론하며</a:t>
            </a:r>
            <a:r>
              <a:rPr lang="en-US" altLang="ko-KR" dirty="0"/>
              <a:t>, </a:t>
            </a:r>
            <a:r>
              <a:rPr lang="ko-KR" altLang="en-US" dirty="0"/>
              <a:t>독립된 </a:t>
            </a:r>
            <a:r>
              <a:rPr lang="en-US" altLang="ko-KR" dirty="0"/>
              <a:t>Sandbox </a:t>
            </a:r>
            <a:r>
              <a:rPr lang="ko-KR" altLang="en-US" dirty="0"/>
              <a:t>환경에서 연산과 분석을 수행해 신뢰도 높은 최적의 답변을 도출합니다</a:t>
            </a:r>
            <a:r>
              <a:rPr lang="en-US" altLang="ko-KR" dirty="0"/>
              <a:t>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9D07BA0-523A-CD24-E6CE-BFF0C897E6D9}"/>
              </a:ext>
            </a:extLst>
          </p:cNvPr>
          <p:cNvSpPr/>
          <p:nvPr/>
        </p:nvSpPr>
        <p:spPr>
          <a:xfrm>
            <a:off x="472440" y="3449573"/>
            <a:ext cx="8961120" cy="2737217"/>
          </a:xfrm>
          <a:prstGeom prst="rect">
            <a:avLst/>
          </a:prstGeom>
          <a:gradFill flip="none" rotWithShape="1">
            <a:gsLst>
              <a:gs pos="84000">
                <a:schemeClr val="bg1"/>
              </a:gs>
              <a:gs pos="7000">
                <a:schemeClr val="bg1">
                  <a:alpha val="22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32" name="Google Shape;232;p13">
            <a:extLst>
              <a:ext uri="{FF2B5EF4-FFF2-40B4-BE49-F238E27FC236}">
                <a16:creationId xmlns:a16="http://schemas.microsoft.com/office/drawing/2014/main" id="{8535E3E0-AC30-D5B1-94D3-8D4EB5730224}"/>
              </a:ext>
            </a:extLst>
          </p:cNvPr>
          <p:cNvCxnSpPr>
            <a:cxnSpLocks/>
          </p:cNvCxnSpPr>
          <p:nvPr/>
        </p:nvCxnSpPr>
        <p:spPr>
          <a:xfrm>
            <a:off x="472440" y="3449574"/>
            <a:ext cx="8961120" cy="0"/>
          </a:xfrm>
          <a:prstGeom prst="straightConnector1">
            <a:avLst/>
          </a:prstGeom>
          <a:noFill/>
          <a:ln w="12700" cap="flat" cmpd="sng">
            <a:solidFill>
              <a:srgbClr val="E7E4D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6" name="Google Shape;226;p13">
            <a:extLst>
              <a:ext uri="{FF2B5EF4-FFF2-40B4-BE49-F238E27FC236}">
                <a16:creationId xmlns:a16="http://schemas.microsoft.com/office/drawing/2014/main" id="{DCE6F9DF-DFE9-6FA1-5FF7-9F240B00DB40}"/>
              </a:ext>
            </a:extLst>
          </p:cNvPr>
          <p:cNvSpPr/>
          <p:nvPr/>
        </p:nvSpPr>
        <p:spPr>
          <a:xfrm>
            <a:off x="7170420" y="566610"/>
            <a:ext cx="2263140" cy="150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r">
              <a:buClr>
                <a:srgbClr val="F7D9C8"/>
              </a:buClr>
              <a:buSzPts val="13000"/>
            </a:pPr>
            <a:r>
              <a:rPr lang="en-US" altLang="ko-KR" sz="9750" dirty="0">
                <a:solidFill>
                  <a:schemeClr val="tx2">
                    <a:lumMod val="75000"/>
                    <a:lumOff val="25000"/>
                    <a:alpha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/>
                <a:sym typeface="Malgun Gothic"/>
              </a:rPr>
              <a:t>01</a:t>
            </a:r>
            <a:endParaRPr lang="ko-KR" altLang="en-US" sz="9750" dirty="0">
              <a:solidFill>
                <a:schemeClr val="tx2">
                  <a:lumMod val="75000"/>
                  <a:lumOff val="25000"/>
                  <a:alpha val="1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Calibri"/>
              <a:sym typeface="Calibri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9C6D5EC9-E5E2-7311-D4E2-D215EFAC96E4}"/>
              </a:ext>
            </a:extLst>
          </p:cNvPr>
          <p:cNvGrpSpPr/>
          <p:nvPr/>
        </p:nvGrpSpPr>
        <p:grpSpPr>
          <a:xfrm>
            <a:off x="853609" y="3783060"/>
            <a:ext cx="8198782" cy="1743547"/>
            <a:chOff x="769372" y="3783060"/>
            <a:chExt cx="8198782" cy="1743547"/>
          </a:xfrm>
        </p:grpSpPr>
        <p:sp>
          <p:nvSpPr>
            <p:cNvPr id="234" name="Google Shape;234;p13">
              <a:extLst>
                <a:ext uri="{FF2B5EF4-FFF2-40B4-BE49-F238E27FC236}">
                  <a16:creationId xmlns:a16="http://schemas.microsoft.com/office/drawing/2014/main" id="{794F71FA-A87C-8384-0F04-334FBD8615EF}"/>
                </a:ext>
              </a:extLst>
            </p:cNvPr>
            <p:cNvSpPr/>
            <p:nvPr/>
          </p:nvSpPr>
          <p:spPr>
            <a:xfrm>
              <a:off x="769372" y="4292167"/>
              <a:ext cx="3799226" cy="12344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180000" indent="-180000">
                <a:lnSpc>
                  <a:spcPts val="1700"/>
                </a:lnSpc>
                <a:spcAft>
                  <a:spcPts val="800"/>
                </a:spcAft>
                <a:buClr>
                  <a:srgbClr val="7AB0E2"/>
                </a:buClr>
                <a:buSzPts val="1200"/>
                <a:buFont typeface="Malgun Gothic"/>
                <a:buChar char="•"/>
              </a:pPr>
              <a:r>
                <a:rPr lang="ko-KR" altLang="en-US" sz="1100" dirty="0">
                  <a:solidFill>
                    <a:srgbClr val="1A1714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cs typeface="Malgun Gothic"/>
                  <a:sym typeface="Malgun Gothic"/>
                </a:rPr>
                <a:t>사내 문서는 </a:t>
              </a:r>
              <a:r>
                <a:rPr lang="ko-KR" altLang="en-US" sz="1100" dirty="0" err="1">
                  <a:solidFill>
                    <a:srgbClr val="1A1714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cs typeface="Malgun Gothic"/>
                  <a:sym typeface="Malgun Gothic"/>
                </a:rPr>
                <a:t>벡터</a:t>
              </a:r>
              <a:r>
                <a:rPr lang="en-US" altLang="ko-KR" sz="1100" dirty="0">
                  <a:solidFill>
                    <a:srgbClr val="1A1714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cs typeface="Malgun Gothic"/>
                  <a:sym typeface="Malgun Gothic"/>
                </a:rPr>
                <a:t>·</a:t>
              </a:r>
              <a:r>
                <a:rPr lang="ko-KR" altLang="en-US" sz="1100" dirty="0">
                  <a:solidFill>
                    <a:srgbClr val="1A1714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cs typeface="Malgun Gothic"/>
                  <a:sym typeface="Malgun Gothic"/>
                </a:rPr>
                <a:t>키워드 하이브리드 검색으로 정확도 극대화</a:t>
              </a:r>
              <a:r>
                <a:rPr lang="en-US" altLang="ko-KR" sz="1100" dirty="0">
                  <a:solidFill>
                    <a:srgbClr val="1A1714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cs typeface="Malgun Gothic"/>
                  <a:sym typeface="Malgun Gothic"/>
                </a:rPr>
                <a:t>, </a:t>
              </a:r>
              <a:r>
                <a:rPr lang="ko-KR" altLang="en-US" sz="1100" dirty="0">
                  <a:solidFill>
                    <a:srgbClr val="1A1714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cs typeface="Malgun Gothic"/>
                  <a:sym typeface="Malgun Gothic"/>
                </a:rPr>
                <a:t>웹은 인터넷 검색으로 최신 정보 확장</a:t>
              </a:r>
              <a:endParaRPr lang="ko-KR" altLang="en-US" sz="1100" dirty="0">
                <a:solidFill>
                  <a:schemeClr val="dk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Calibri"/>
                <a:sym typeface="Calibri"/>
              </a:endParaRPr>
            </a:p>
            <a:p>
              <a:pPr marL="180000" indent="-180000">
                <a:lnSpc>
                  <a:spcPts val="1700"/>
                </a:lnSpc>
                <a:spcAft>
                  <a:spcPts val="800"/>
                </a:spcAft>
                <a:buClr>
                  <a:srgbClr val="7AB0E2"/>
                </a:buClr>
                <a:buSzPts val="1200"/>
                <a:buFont typeface="Malgun Gothic"/>
                <a:buChar char="•"/>
              </a:pPr>
              <a:r>
                <a:rPr lang="ko-KR" altLang="en-US" sz="1100" dirty="0">
                  <a:solidFill>
                    <a:srgbClr val="1A1714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cs typeface="Malgun Gothic"/>
                  <a:sym typeface="Malgun Gothic"/>
                </a:rPr>
                <a:t>스스로 질의를 추론해 복합 질문을 </a:t>
              </a:r>
              <a:r>
                <a:rPr lang="ko-KR" altLang="en-US" sz="1100" dirty="0" err="1">
                  <a:solidFill>
                    <a:srgbClr val="1A1714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cs typeface="Malgun Gothic"/>
                  <a:sym typeface="Malgun Gothic"/>
                </a:rPr>
                <a:t>분리</a:t>
              </a:r>
              <a:r>
                <a:rPr lang="en-US" altLang="ko-KR" sz="1100" dirty="0">
                  <a:solidFill>
                    <a:srgbClr val="1A1714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cs typeface="Malgun Gothic"/>
                  <a:sym typeface="Malgun Gothic"/>
                </a:rPr>
                <a:t>·</a:t>
              </a:r>
              <a:r>
                <a:rPr lang="ko-KR" altLang="en-US" sz="1100" dirty="0">
                  <a:solidFill>
                    <a:srgbClr val="1A1714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cs typeface="Malgun Gothic"/>
                  <a:sym typeface="Malgun Gothic"/>
                </a:rPr>
                <a:t>재구성하는 자율 검색</a:t>
              </a:r>
              <a:endParaRPr lang="ko-KR" altLang="en-US" sz="1100" dirty="0">
                <a:solidFill>
                  <a:schemeClr val="dk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Calibri"/>
                <a:sym typeface="Calibri"/>
              </a:endParaRPr>
            </a:p>
            <a:p>
              <a:pPr marL="180000" indent="-180000">
                <a:lnSpc>
                  <a:spcPts val="1700"/>
                </a:lnSpc>
                <a:spcAft>
                  <a:spcPts val="800"/>
                </a:spcAft>
                <a:buClr>
                  <a:srgbClr val="7AB0E2"/>
                </a:buClr>
                <a:buSzPts val="1200"/>
                <a:buFont typeface="Malgun Gothic"/>
                <a:buChar char="•"/>
              </a:pPr>
              <a:r>
                <a:rPr lang="en-US" altLang="ko-KR" sz="1100" dirty="0">
                  <a:solidFill>
                    <a:srgbClr val="1A1714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cs typeface="Malgun Gothic"/>
                  <a:sym typeface="Malgun Gothic"/>
                </a:rPr>
                <a:t>Sandbox</a:t>
              </a:r>
              <a:r>
                <a:rPr lang="ko-KR" altLang="en-US" sz="1100" dirty="0">
                  <a:solidFill>
                    <a:srgbClr val="1A1714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cs typeface="Malgun Gothic"/>
                  <a:sym typeface="Malgun Gothic"/>
                </a:rPr>
                <a:t> 실행 환경으로 단순 검색을 넘어 계산</a:t>
              </a:r>
              <a:r>
                <a:rPr lang="en-US" altLang="ko-KR" sz="1100" dirty="0">
                  <a:solidFill>
                    <a:srgbClr val="1A1714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cs typeface="Malgun Gothic"/>
                  <a:sym typeface="Malgun Gothic"/>
                </a:rPr>
                <a:t>·</a:t>
              </a:r>
              <a:r>
                <a:rPr lang="ko-KR" altLang="en-US" sz="1100" dirty="0">
                  <a:solidFill>
                    <a:srgbClr val="1A1714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cs typeface="Malgun Gothic"/>
                  <a:sym typeface="Malgun Gothic"/>
                </a:rPr>
                <a:t>분석까지 수행</a:t>
              </a:r>
              <a:endParaRPr lang="ko-KR" altLang="en-US" sz="1100" dirty="0">
                <a:solidFill>
                  <a:schemeClr val="dk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Calibri"/>
                <a:sym typeface="Calibri"/>
              </a:endParaRPr>
            </a:p>
          </p:txBody>
        </p:sp>
        <p:sp>
          <p:nvSpPr>
            <p:cNvPr id="236" name="Google Shape;236;p13">
              <a:extLst>
                <a:ext uri="{FF2B5EF4-FFF2-40B4-BE49-F238E27FC236}">
                  <a16:creationId xmlns:a16="http://schemas.microsoft.com/office/drawing/2014/main" id="{2AEDA492-AAF4-A3E7-A3D3-1D442ED0E46B}"/>
                </a:ext>
              </a:extLst>
            </p:cNvPr>
            <p:cNvSpPr/>
            <p:nvPr/>
          </p:nvSpPr>
          <p:spPr>
            <a:xfrm>
              <a:off x="5168928" y="4292167"/>
              <a:ext cx="3799226" cy="12344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180000" indent="-180000">
                <a:lnSpc>
                  <a:spcPts val="1700"/>
                </a:lnSpc>
                <a:spcAft>
                  <a:spcPts val="800"/>
                </a:spcAft>
                <a:buClr>
                  <a:srgbClr val="7AB0E2"/>
                </a:buClr>
                <a:buSzPts val="1200"/>
                <a:buFont typeface="Malgun Gothic"/>
                <a:buChar char="•"/>
              </a:pPr>
              <a:r>
                <a:rPr lang="ko-KR" altLang="en-US" sz="1100" dirty="0">
                  <a:solidFill>
                    <a:srgbClr val="1A1714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Malgun Gothic"/>
                </a:rPr>
                <a:t>검색</a:t>
              </a:r>
              <a:r>
                <a:rPr lang="en-US" altLang="ko-KR" sz="1100" dirty="0">
                  <a:solidFill>
                    <a:srgbClr val="1A1714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Malgun Gothic"/>
                </a:rPr>
                <a:t>·</a:t>
              </a:r>
              <a:r>
                <a:rPr lang="ko-KR" altLang="en-US" sz="1100" dirty="0">
                  <a:solidFill>
                    <a:srgbClr val="1A1714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Malgun Gothic"/>
                </a:rPr>
                <a:t>문서 이해</a:t>
              </a:r>
              <a:r>
                <a:rPr lang="en-US" altLang="ko-KR" sz="1100" dirty="0">
                  <a:solidFill>
                    <a:srgbClr val="1A1714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Malgun Gothic"/>
                </a:rPr>
                <a:t>·</a:t>
              </a:r>
              <a:r>
                <a:rPr lang="ko-KR" altLang="en-US" sz="1100" dirty="0">
                  <a:solidFill>
                    <a:srgbClr val="1A1714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Malgun Gothic"/>
                </a:rPr>
                <a:t>분석을 대화 하나로 해결해 자료를 일일이 찾아 읽던 정보 탐색 시간을 대폭 단축</a:t>
              </a:r>
              <a:endParaRPr lang="ko-KR" altLang="en-US" sz="1100" dirty="0">
                <a:solidFill>
                  <a:srgbClr val="1A1714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Calibri"/>
              </a:endParaRPr>
            </a:p>
            <a:p>
              <a:pPr marL="180000" indent="-180000">
                <a:lnSpc>
                  <a:spcPts val="1700"/>
                </a:lnSpc>
                <a:spcAft>
                  <a:spcPts val="800"/>
                </a:spcAft>
                <a:buClr>
                  <a:srgbClr val="7AB0E2"/>
                </a:buClr>
                <a:buSzPts val="1200"/>
                <a:buFont typeface="Malgun Gothic"/>
                <a:buChar char="•"/>
              </a:pPr>
              <a:r>
                <a:rPr lang="ko-KR" altLang="en-US" sz="1100" dirty="0">
                  <a:solidFill>
                    <a:srgbClr val="1A1714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Malgun Gothic"/>
                </a:rPr>
                <a:t>사내 문서 검색과 인터넷 검색을 자율 추론으로 오가고</a:t>
              </a:r>
              <a:r>
                <a:rPr lang="en-US" altLang="ko-KR" sz="1100" dirty="0">
                  <a:solidFill>
                    <a:srgbClr val="1A1714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Malgun Gothic"/>
                </a:rPr>
                <a:t>, Sandbox</a:t>
              </a:r>
              <a:r>
                <a:rPr lang="ko-KR" altLang="en-US" sz="1100" dirty="0">
                  <a:solidFill>
                    <a:srgbClr val="1A1714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Malgun Gothic"/>
                </a:rPr>
                <a:t>에서 계산</a:t>
              </a:r>
              <a:r>
                <a:rPr lang="en-US" altLang="ko-KR" sz="1100" dirty="0">
                  <a:solidFill>
                    <a:srgbClr val="1A1714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Malgun Gothic"/>
                </a:rPr>
                <a:t>·</a:t>
              </a:r>
              <a:r>
                <a:rPr lang="ko-KR" altLang="en-US" sz="1100" dirty="0">
                  <a:solidFill>
                    <a:srgbClr val="1A1714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Malgun Gothic"/>
                </a:rPr>
                <a:t>분석까지 수행</a:t>
              </a:r>
              <a:endParaRPr lang="ko-KR" altLang="en-US" sz="1100" dirty="0">
                <a:solidFill>
                  <a:srgbClr val="1A1714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Calibri"/>
              </a:endParaRPr>
            </a:p>
          </p:txBody>
        </p:sp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240D5AC5-FD3C-E28A-1EB8-E3B10646F48A}"/>
                </a:ext>
              </a:extLst>
            </p:cNvPr>
            <p:cNvSpPr/>
            <p:nvPr/>
          </p:nvSpPr>
          <p:spPr>
            <a:xfrm>
              <a:off x="769372" y="3783060"/>
              <a:ext cx="990370" cy="28800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31000">
                  <a:srgbClr val="FD8204"/>
                </a:gs>
                <a:gs pos="100000">
                  <a:srgbClr val="F8AF67"/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76200" algn="ctr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350" dirty="0">
                  <a:solidFill>
                    <a:schemeClr val="bg1"/>
                  </a:solidFill>
                  <a:latin typeface="나눔스퀘어 Bold" panose="020B0600000101010101" pitchFamily="34" charset="-127"/>
                  <a:ea typeface="나눔스퀘어 Bold" panose="020B0600000101010101" pitchFamily="34" charset="-127"/>
                  <a:cs typeface="Malgun Gothic"/>
                  <a:sym typeface="Malgun Gothic"/>
                </a:rPr>
                <a:t>주요 기능</a:t>
              </a:r>
              <a:endParaRPr lang="ko-KR" altLang="en-US" sz="1350" dirty="0">
                <a:solidFill>
                  <a:schemeClr val="bg1"/>
                </a:solidFill>
                <a:latin typeface="나눔스퀘어 Bold" panose="020B0600000101010101" pitchFamily="34" charset="-127"/>
                <a:ea typeface="나눔스퀘어 Bold" panose="020B0600000101010101" pitchFamily="34" charset="-127"/>
                <a:cs typeface="Calibri"/>
                <a:sym typeface="Calibri"/>
              </a:endParaRPr>
            </a:p>
          </p:txBody>
        </p:sp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1A675AC4-1EEB-78A5-2F65-05687530356E}"/>
                </a:ext>
              </a:extLst>
            </p:cNvPr>
            <p:cNvSpPr/>
            <p:nvPr/>
          </p:nvSpPr>
          <p:spPr>
            <a:xfrm>
              <a:off x="5137585" y="3783060"/>
              <a:ext cx="990370" cy="28800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31000">
                  <a:srgbClr val="FD8204"/>
                </a:gs>
                <a:gs pos="100000">
                  <a:srgbClr val="F8AF67"/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76200" algn="ctr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350" dirty="0">
                  <a:solidFill>
                    <a:schemeClr val="bg1"/>
                  </a:solidFill>
                  <a:latin typeface="나눔스퀘어 Bold" panose="020B0600000101010101" pitchFamily="34" charset="-127"/>
                  <a:ea typeface="나눔스퀘어 Bold" panose="020B0600000101010101" pitchFamily="34" charset="-127"/>
                  <a:sym typeface="Malgun Gothic"/>
                </a:rPr>
                <a:t>기대 효과</a:t>
              </a:r>
              <a:endParaRPr lang="ko-KR" altLang="en-US" sz="1350" dirty="0">
                <a:solidFill>
                  <a:schemeClr val="bg1"/>
                </a:solidFill>
                <a:latin typeface="나눔스퀘어 Bold" panose="020B0600000101010101" pitchFamily="34" charset="-127"/>
                <a:ea typeface="나눔스퀘어 Bold" panose="020B0600000101010101" pitchFamily="34" charset="-127"/>
                <a:sym typeface="Calibri"/>
              </a:endParaRPr>
            </a:p>
          </p:txBody>
        </p:sp>
      </p:grpSp>
      <p:pic>
        <p:nvPicPr>
          <p:cNvPr id="12" name="그림 11">
            <a:extLst>
              <a:ext uri="{FF2B5EF4-FFF2-40B4-BE49-F238E27FC236}">
                <a16:creationId xmlns:a16="http://schemas.microsoft.com/office/drawing/2014/main" id="{A610C3D8-B772-E311-87D8-CEBCC3D1BA2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490" b="11637"/>
          <a:stretch>
            <a:fillRect/>
          </a:stretch>
        </p:blipFill>
        <p:spPr>
          <a:xfrm>
            <a:off x="3135791" y="1418644"/>
            <a:ext cx="834478" cy="949726"/>
          </a:xfrm>
          <a:prstGeom prst="rect">
            <a:avLst/>
          </a:prstGeom>
          <a:effectLst>
            <a:outerShdw blurRad="292100" dist="533400" dir="4800000" sx="73000" sy="73000" algn="tl" rotWithShape="0">
              <a:prstClr val="black">
                <a:alpha val="12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804380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>
          <a:extLst>
            <a:ext uri="{FF2B5EF4-FFF2-40B4-BE49-F238E27FC236}">
              <a16:creationId xmlns:a16="http://schemas.microsoft.com/office/drawing/2014/main" id="{BB153FD6-96D0-2648-6B4E-FF4B892EB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728B1135-E6B6-D53E-2E21-B789C25029B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buClr>
                <a:srgbClr val="3A362F"/>
              </a:buClr>
              <a:buSzPts val="1600"/>
            </a:pPr>
            <a:r>
              <a:rPr lang="ko-KR" altLang="en-US" dirty="0">
                <a:solidFill>
                  <a:srgbClr val="3A362F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/>
                <a:sym typeface="Malgun Gothic"/>
              </a:rPr>
              <a:t>자연어 쿼리 자동 생성 </a:t>
            </a:r>
            <a:r>
              <a:rPr lang="en-US" altLang="ko-KR" dirty="0">
                <a:solidFill>
                  <a:srgbClr val="3A362F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/>
                <a:sym typeface="Malgun Gothic"/>
              </a:rPr>
              <a:t>&amp; </a:t>
            </a:r>
            <a:r>
              <a:rPr lang="ko-KR" altLang="en-US" dirty="0">
                <a:solidFill>
                  <a:srgbClr val="3A362F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/>
                <a:sym typeface="Malgun Gothic"/>
              </a:rPr>
              <a:t>자가 에러 교정</a:t>
            </a:r>
            <a:endParaRPr lang="ko-KR" altLang="en-US" dirty="0">
              <a:solidFill>
                <a:schemeClr val="dk1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Calibri"/>
              <a:sym typeface="Calibri"/>
            </a:endParaRPr>
          </a:p>
        </p:txBody>
      </p:sp>
      <p:sp>
        <p:nvSpPr>
          <p:cNvPr id="6" name="제목 5">
            <a:extLst>
              <a:ext uri="{FF2B5EF4-FFF2-40B4-BE49-F238E27FC236}">
                <a16:creationId xmlns:a16="http://schemas.microsoft.com/office/drawing/2014/main" id="{0FAE5734-5ECE-EE01-BEDD-B9C9367E8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NL2SQL Agent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45EB3E9-4792-49C8-4269-8801FFD9CD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316148F-D84E-47A3-B267-E08DF939B7C4}" type="slidenum">
              <a:rPr lang="ko-KR" altLang="en-US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pPr/>
              <a:t>14</a:t>
            </a:fld>
            <a:r>
              <a:rPr lang="en-US" altLang="ko-KR">
                <a:latin typeface="나눔스퀘어" panose="020B0600000101010101" pitchFamily="50" charset="-127"/>
                <a:ea typeface="나눔스퀘어" panose="020B0600000101010101" pitchFamily="50" charset="-127"/>
              </a:rPr>
              <a:t>/28</a:t>
            </a:r>
            <a:endParaRPr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1E1C8C8-31C7-BC7C-1FC3-EAB912B3790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02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3A6A0FD-1C95-046F-9741-87BF1E3562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KEY FEATURE</a:t>
            </a:r>
            <a:endParaRPr lang="ko-KR" altLang="en-US" dirty="0"/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2A137E87-69AA-D148-1B25-E5A7C32559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buClr>
                <a:srgbClr val="3A362F"/>
              </a:buClr>
              <a:buSzPts val="1300"/>
            </a:pP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  <a:cs typeface="Malgun Gothic"/>
                <a:sym typeface="Malgun Gothic"/>
              </a:rPr>
              <a:t>데이터베이스 스키마와 메타데이터의 자동 매핑 기술을 바탕으로 사용자의 자연어 질의를 최적의 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  <a:cs typeface="Malgun Gothic"/>
                <a:sym typeface="Malgun Gothic"/>
              </a:rPr>
              <a:t>SQL 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  <a:cs typeface="Malgun Gothic"/>
                <a:sym typeface="Malgun Gothic"/>
              </a:rPr>
              <a:t>쿼리로 변환합니다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  <a:cs typeface="Malgun Gothic"/>
                <a:sym typeface="Malgun Gothic"/>
              </a:rPr>
              <a:t>. 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  <a:cs typeface="Malgun Gothic"/>
                <a:sym typeface="Malgun Gothic"/>
              </a:rPr>
              <a:t>단순 조회를 넘어 다단계 조인 연산과 실행 오류의 자가 교정까지 자율적으로 처리하여 고도화된 데이터 분석을 지원합니다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  <a:cs typeface="Malgun Gothic"/>
                <a:sym typeface="Malgun Gothic"/>
              </a:rPr>
              <a:t>.</a:t>
            </a:r>
            <a:endParaRPr lang="ko-KR" altLang="en-US" dirty="0">
              <a:solidFill>
                <a:schemeClr val="dk1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Calibri"/>
              <a:sym typeface="Calibri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D9B1DB3-0042-23CE-C460-3BD10CDBB3C1}"/>
              </a:ext>
            </a:extLst>
          </p:cNvPr>
          <p:cNvSpPr/>
          <p:nvPr/>
        </p:nvSpPr>
        <p:spPr>
          <a:xfrm>
            <a:off x="472440" y="3449573"/>
            <a:ext cx="8961120" cy="2737217"/>
          </a:xfrm>
          <a:prstGeom prst="rect">
            <a:avLst/>
          </a:prstGeom>
          <a:gradFill flip="none" rotWithShape="1">
            <a:gsLst>
              <a:gs pos="84000">
                <a:schemeClr val="bg1"/>
              </a:gs>
              <a:gs pos="7000">
                <a:schemeClr val="bg1">
                  <a:alpha val="22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32" name="Google Shape;232;p13">
            <a:extLst>
              <a:ext uri="{FF2B5EF4-FFF2-40B4-BE49-F238E27FC236}">
                <a16:creationId xmlns:a16="http://schemas.microsoft.com/office/drawing/2014/main" id="{CF36C2B9-930F-9CA7-30A2-F5BFC41C6227}"/>
              </a:ext>
            </a:extLst>
          </p:cNvPr>
          <p:cNvCxnSpPr>
            <a:cxnSpLocks/>
          </p:cNvCxnSpPr>
          <p:nvPr/>
        </p:nvCxnSpPr>
        <p:spPr>
          <a:xfrm>
            <a:off x="472440" y="3449574"/>
            <a:ext cx="8961120" cy="0"/>
          </a:xfrm>
          <a:prstGeom prst="straightConnector1">
            <a:avLst/>
          </a:prstGeom>
          <a:noFill/>
          <a:ln w="12700" cap="flat" cmpd="sng">
            <a:solidFill>
              <a:srgbClr val="E7E4D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6" name="Google Shape;226;p13">
            <a:extLst>
              <a:ext uri="{FF2B5EF4-FFF2-40B4-BE49-F238E27FC236}">
                <a16:creationId xmlns:a16="http://schemas.microsoft.com/office/drawing/2014/main" id="{7C9A0178-1AB7-796C-F069-26B9A574B194}"/>
              </a:ext>
            </a:extLst>
          </p:cNvPr>
          <p:cNvSpPr/>
          <p:nvPr/>
        </p:nvSpPr>
        <p:spPr>
          <a:xfrm>
            <a:off x="7170420" y="566610"/>
            <a:ext cx="2263140" cy="150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r">
              <a:buClr>
                <a:srgbClr val="F7D9C8"/>
              </a:buClr>
              <a:buSzPts val="13000"/>
            </a:pPr>
            <a:r>
              <a:rPr lang="en-US" altLang="ko-KR" sz="9750" dirty="0">
                <a:solidFill>
                  <a:schemeClr val="tx2">
                    <a:lumMod val="75000"/>
                    <a:lumOff val="25000"/>
                    <a:alpha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/>
                <a:sym typeface="Malgun Gothic"/>
              </a:rPr>
              <a:t>02</a:t>
            </a:r>
            <a:endParaRPr lang="ko-KR" altLang="en-US" sz="9750" dirty="0">
              <a:solidFill>
                <a:schemeClr val="tx2">
                  <a:lumMod val="75000"/>
                  <a:lumOff val="25000"/>
                  <a:alpha val="1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Calibri"/>
              <a:sym typeface="Calibri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DDD0A999-D9FD-8A2A-8DBA-FF4D7680521E}"/>
              </a:ext>
            </a:extLst>
          </p:cNvPr>
          <p:cNvGrpSpPr/>
          <p:nvPr/>
        </p:nvGrpSpPr>
        <p:grpSpPr>
          <a:xfrm>
            <a:off x="853609" y="3783060"/>
            <a:ext cx="8198782" cy="1743547"/>
            <a:chOff x="769372" y="3783060"/>
            <a:chExt cx="8198782" cy="1743547"/>
          </a:xfrm>
        </p:grpSpPr>
        <p:sp>
          <p:nvSpPr>
            <p:cNvPr id="234" name="Google Shape;234;p13">
              <a:extLst>
                <a:ext uri="{FF2B5EF4-FFF2-40B4-BE49-F238E27FC236}">
                  <a16:creationId xmlns:a16="http://schemas.microsoft.com/office/drawing/2014/main" id="{BBE377EC-C7AA-7F62-C98F-861C994FEA40}"/>
                </a:ext>
              </a:extLst>
            </p:cNvPr>
            <p:cNvSpPr/>
            <p:nvPr/>
          </p:nvSpPr>
          <p:spPr>
            <a:xfrm>
              <a:off x="769372" y="4292167"/>
              <a:ext cx="3799226" cy="12344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180000" indent="-180000">
                <a:lnSpc>
                  <a:spcPts val="1700"/>
                </a:lnSpc>
                <a:spcAft>
                  <a:spcPts val="800"/>
                </a:spcAft>
                <a:buClr>
                  <a:srgbClr val="7AB0E2"/>
                </a:buClr>
                <a:buSzPts val="1200"/>
                <a:buFont typeface="Malgun Gothic"/>
                <a:buChar char="•"/>
              </a:pPr>
              <a:r>
                <a:rPr lang="en-US" altLang="ko-KR" sz="1100" dirty="0">
                  <a:solidFill>
                    <a:srgbClr val="1A1714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cs typeface="Malgun Gothic"/>
                  <a:sym typeface="Malgun Gothic"/>
                </a:rPr>
                <a:t>5</a:t>
              </a:r>
              <a:r>
                <a:rPr lang="ko-KR" altLang="en-US" sz="1100" dirty="0">
                  <a:solidFill>
                    <a:srgbClr val="1A1714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cs typeface="Malgun Gothic"/>
                  <a:sym typeface="Malgun Gothic"/>
                </a:rPr>
                <a:t>단계 </a:t>
              </a:r>
              <a:r>
                <a:rPr lang="en-US" altLang="ko-KR" sz="1100" dirty="0">
                  <a:solidFill>
                    <a:srgbClr val="1A1714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cs typeface="Malgun Gothic"/>
                  <a:sym typeface="Malgun Gothic"/>
                </a:rPr>
                <a:t>AI </a:t>
              </a:r>
              <a:r>
                <a:rPr lang="ko-KR" altLang="en-US" sz="1100" dirty="0">
                  <a:solidFill>
                    <a:srgbClr val="1A1714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cs typeface="Malgun Gothic"/>
                  <a:sym typeface="Malgun Gothic"/>
                </a:rPr>
                <a:t>프로파일링으로 스키마 메타데이터 자동 구축</a:t>
              </a:r>
            </a:p>
            <a:p>
              <a:pPr marL="180000" indent="-180000">
                <a:lnSpc>
                  <a:spcPts val="1700"/>
                </a:lnSpc>
                <a:spcAft>
                  <a:spcPts val="800"/>
                </a:spcAft>
                <a:buClr>
                  <a:srgbClr val="7AB0E2"/>
                </a:buClr>
                <a:buSzPts val="1200"/>
                <a:buFont typeface="Malgun Gothic"/>
                <a:buChar char="•"/>
              </a:pPr>
              <a:r>
                <a:rPr lang="ko-KR" altLang="en-US" sz="1100" dirty="0">
                  <a:solidFill>
                    <a:srgbClr val="1A1714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cs typeface="Malgun Gothic"/>
                  <a:sym typeface="Malgun Gothic"/>
                </a:rPr>
                <a:t>생성한 </a:t>
              </a:r>
              <a:r>
                <a:rPr lang="en-US" altLang="ko-KR" sz="1100" dirty="0">
                  <a:solidFill>
                    <a:srgbClr val="1A1714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cs typeface="Malgun Gothic"/>
                  <a:sym typeface="Malgun Gothic"/>
                </a:rPr>
                <a:t>SQL</a:t>
              </a:r>
              <a:r>
                <a:rPr lang="ko-KR" altLang="en-US" sz="1100" dirty="0">
                  <a:solidFill>
                    <a:srgbClr val="1A1714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cs typeface="Malgun Gothic"/>
                  <a:sym typeface="Malgun Gothic"/>
                </a:rPr>
                <a:t>을 스스로 실행 점검</a:t>
              </a:r>
              <a:r>
                <a:rPr lang="en-US" altLang="ko-KR" sz="1100" dirty="0">
                  <a:solidFill>
                    <a:srgbClr val="1A1714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cs typeface="Malgun Gothic"/>
                  <a:sym typeface="Malgun Gothic"/>
                </a:rPr>
                <a:t>·</a:t>
              </a:r>
              <a:r>
                <a:rPr lang="ko-KR" altLang="en-US" sz="1100" dirty="0">
                  <a:solidFill>
                    <a:srgbClr val="1A1714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cs typeface="Malgun Gothic"/>
                  <a:sym typeface="Malgun Gothic"/>
                </a:rPr>
                <a:t>수정하는 자가 교정</a:t>
              </a:r>
            </a:p>
            <a:p>
              <a:pPr marL="180000" indent="-180000">
                <a:lnSpc>
                  <a:spcPts val="1700"/>
                </a:lnSpc>
                <a:spcAft>
                  <a:spcPts val="800"/>
                </a:spcAft>
                <a:buClr>
                  <a:srgbClr val="7AB0E2"/>
                </a:buClr>
                <a:buSzPts val="1200"/>
                <a:buFont typeface="Malgun Gothic"/>
                <a:buChar char="•"/>
              </a:pPr>
              <a:r>
                <a:rPr lang="en-US" altLang="ko-KR" sz="1100" dirty="0">
                  <a:solidFill>
                    <a:srgbClr val="1A1714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cs typeface="Malgun Gothic"/>
                  <a:sym typeface="Malgun Gothic"/>
                </a:rPr>
                <a:t>MCP </a:t>
              </a:r>
              <a:r>
                <a:rPr lang="ko-KR" altLang="en-US" sz="1100" dirty="0">
                  <a:solidFill>
                    <a:srgbClr val="1A1714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cs typeface="Malgun Gothic"/>
                  <a:sym typeface="Malgun Gothic"/>
                </a:rPr>
                <a:t>서버 연동으로 다양한 에이전트</a:t>
              </a:r>
              <a:r>
                <a:rPr lang="en-US" altLang="ko-KR" sz="1100" dirty="0">
                  <a:solidFill>
                    <a:srgbClr val="1A1714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cs typeface="Malgun Gothic"/>
                  <a:sym typeface="Malgun Gothic"/>
                </a:rPr>
                <a:t>·</a:t>
              </a:r>
              <a:r>
                <a:rPr lang="ko-KR" altLang="en-US" sz="1100" dirty="0">
                  <a:solidFill>
                    <a:srgbClr val="1A1714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cs typeface="Malgun Gothic"/>
                  <a:sym typeface="Malgun Gothic"/>
                </a:rPr>
                <a:t>서비스와 손쉽게 결합</a:t>
              </a:r>
            </a:p>
          </p:txBody>
        </p:sp>
        <p:sp>
          <p:nvSpPr>
            <p:cNvPr id="236" name="Google Shape;236;p13">
              <a:extLst>
                <a:ext uri="{FF2B5EF4-FFF2-40B4-BE49-F238E27FC236}">
                  <a16:creationId xmlns:a16="http://schemas.microsoft.com/office/drawing/2014/main" id="{52BCF701-22F8-9923-C9F2-EBE6DB757A7C}"/>
                </a:ext>
              </a:extLst>
            </p:cNvPr>
            <p:cNvSpPr/>
            <p:nvPr/>
          </p:nvSpPr>
          <p:spPr>
            <a:xfrm>
              <a:off x="5168928" y="4292167"/>
              <a:ext cx="3799226" cy="12344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180000" indent="-180000">
                <a:lnSpc>
                  <a:spcPts val="1700"/>
                </a:lnSpc>
                <a:spcAft>
                  <a:spcPts val="800"/>
                </a:spcAft>
                <a:buClr>
                  <a:srgbClr val="7AB0E2"/>
                </a:buClr>
                <a:buSzPts val="1200"/>
                <a:buFont typeface="Malgun Gothic"/>
                <a:buChar char="•"/>
              </a:pPr>
              <a:r>
                <a:rPr lang="en-US" altLang="ko-KR" sz="1100" dirty="0">
                  <a:solidFill>
                    <a:srgbClr val="1A1714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Malgun Gothic"/>
                </a:rPr>
                <a:t>SQL</a:t>
              </a:r>
              <a:r>
                <a:rPr lang="ko-KR" altLang="en-US" sz="1100" dirty="0">
                  <a:solidFill>
                    <a:srgbClr val="1A1714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Malgun Gothic"/>
                </a:rPr>
                <a:t>을 모르는 현업이 자연어로 직접 데이터를 조회해 데이터 요청부터 결과 확인까지의 업무 병목 제거 및 분석 시간 단축</a:t>
              </a:r>
            </a:p>
            <a:p>
              <a:pPr marL="180000" indent="-180000">
                <a:lnSpc>
                  <a:spcPts val="1700"/>
                </a:lnSpc>
                <a:spcAft>
                  <a:spcPts val="800"/>
                </a:spcAft>
                <a:buClr>
                  <a:srgbClr val="7AB0E2"/>
                </a:buClr>
                <a:buSzPts val="1200"/>
                <a:buFont typeface="Malgun Gothic"/>
                <a:buChar char="•"/>
              </a:pPr>
              <a:r>
                <a:rPr lang="en-US" altLang="ko-KR" sz="1100" dirty="0">
                  <a:solidFill>
                    <a:srgbClr val="1A1714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Malgun Gothic"/>
                </a:rPr>
                <a:t>DB </a:t>
              </a:r>
              <a:r>
                <a:rPr lang="ko-KR" altLang="en-US" sz="1100" dirty="0">
                  <a:solidFill>
                    <a:srgbClr val="1A1714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Malgun Gothic"/>
                </a:rPr>
                <a:t>스키마와 메타데이터를 매핑해</a:t>
              </a:r>
              <a:r>
                <a:rPr lang="en-US" altLang="ko-KR" sz="1100" dirty="0">
                  <a:solidFill>
                    <a:srgbClr val="1A1714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Malgun Gothic"/>
                </a:rPr>
                <a:t>, </a:t>
              </a:r>
              <a:r>
                <a:rPr lang="ko-KR" altLang="en-US" sz="1100" dirty="0">
                  <a:solidFill>
                    <a:srgbClr val="1A1714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Malgun Gothic"/>
                </a:rPr>
                <a:t>다단계 조인과 에러 자가 교정까지 스스로 실행</a:t>
              </a:r>
            </a:p>
          </p:txBody>
        </p:sp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A50557EB-829A-B849-90D1-01E1AE03BFE3}"/>
                </a:ext>
              </a:extLst>
            </p:cNvPr>
            <p:cNvSpPr/>
            <p:nvPr/>
          </p:nvSpPr>
          <p:spPr>
            <a:xfrm>
              <a:off x="769372" y="3783060"/>
              <a:ext cx="990370" cy="28800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31000">
                  <a:srgbClr val="FD8204"/>
                </a:gs>
                <a:gs pos="100000">
                  <a:srgbClr val="F8AF67"/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76200" algn="ctr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350" dirty="0">
                  <a:solidFill>
                    <a:schemeClr val="bg1"/>
                  </a:solidFill>
                  <a:latin typeface="나눔스퀘어 Bold" panose="020B0600000101010101" pitchFamily="34" charset="-127"/>
                  <a:ea typeface="나눔스퀘어 Bold" panose="020B0600000101010101" pitchFamily="34" charset="-127"/>
                  <a:cs typeface="Malgun Gothic"/>
                  <a:sym typeface="Malgun Gothic"/>
                </a:rPr>
                <a:t>주요 기능</a:t>
              </a:r>
              <a:endParaRPr lang="ko-KR" altLang="en-US" sz="1350" dirty="0">
                <a:solidFill>
                  <a:schemeClr val="bg1"/>
                </a:solidFill>
                <a:latin typeface="나눔스퀘어 Bold" panose="020B0600000101010101" pitchFamily="34" charset="-127"/>
                <a:ea typeface="나눔스퀘어 Bold" panose="020B0600000101010101" pitchFamily="34" charset="-127"/>
                <a:cs typeface="Calibri"/>
                <a:sym typeface="Calibri"/>
              </a:endParaRPr>
            </a:p>
          </p:txBody>
        </p:sp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2EC61346-AF29-0385-762B-CCDC6C72E98F}"/>
                </a:ext>
              </a:extLst>
            </p:cNvPr>
            <p:cNvSpPr/>
            <p:nvPr/>
          </p:nvSpPr>
          <p:spPr>
            <a:xfrm>
              <a:off x="5137585" y="3783060"/>
              <a:ext cx="990370" cy="28800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31000">
                  <a:srgbClr val="FD8204"/>
                </a:gs>
                <a:gs pos="100000">
                  <a:srgbClr val="F8AF67"/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76200" algn="ctr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350" dirty="0">
                  <a:solidFill>
                    <a:schemeClr val="bg1"/>
                  </a:solidFill>
                  <a:latin typeface="나눔스퀘어 Bold" panose="020B0600000101010101" pitchFamily="34" charset="-127"/>
                  <a:ea typeface="나눔스퀘어 Bold" panose="020B0600000101010101" pitchFamily="34" charset="-127"/>
                  <a:sym typeface="Malgun Gothic"/>
                </a:rPr>
                <a:t>기대 효과</a:t>
              </a:r>
              <a:endParaRPr lang="ko-KR" altLang="en-US" sz="1350" dirty="0">
                <a:solidFill>
                  <a:schemeClr val="bg1"/>
                </a:solidFill>
                <a:latin typeface="나눔스퀘어 Bold" panose="020B0600000101010101" pitchFamily="34" charset="-127"/>
                <a:ea typeface="나눔스퀘어 Bold" panose="020B0600000101010101" pitchFamily="34" charset="-127"/>
                <a:sym typeface="Calibri"/>
              </a:endParaRPr>
            </a:p>
          </p:txBody>
        </p:sp>
      </p:grpSp>
      <p:pic>
        <p:nvPicPr>
          <p:cNvPr id="10" name="그림 9">
            <a:extLst>
              <a:ext uri="{FF2B5EF4-FFF2-40B4-BE49-F238E27FC236}">
                <a16:creationId xmlns:a16="http://schemas.microsoft.com/office/drawing/2014/main" id="{11AB8AE8-5F13-98A4-D8DB-73B787F440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333" b="21867"/>
          <a:stretch>
            <a:fillRect/>
          </a:stretch>
        </p:blipFill>
        <p:spPr>
          <a:xfrm>
            <a:off x="4129769" y="1431796"/>
            <a:ext cx="1046132" cy="907005"/>
          </a:xfrm>
          <a:prstGeom prst="rect">
            <a:avLst/>
          </a:prstGeom>
          <a:effectLst>
            <a:outerShdw blurRad="292100" dist="330200" dir="4800000" sx="73000" sy="73000" algn="tl" rotWithShape="0">
              <a:prstClr val="black">
                <a:alpha val="12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327584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>
          <a:extLst>
            <a:ext uri="{FF2B5EF4-FFF2-40B4-BE49-F238E27FC236}">
              <a16:creationId xmlns:a16="http://schemas.microsoft.com/office/drawing/2014/main" id="{5FD50918-F3F8-2A46-A1BC-E9D8E70CD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F98EB675-8409-8F64-4193-837F659AD9B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bg1">
                    <a:lumMod val="95000"/>
                  </a:schemeClr>
                </a:solidFill>
              </a:rPr>
              <a:t>데이터</a:t>
            </a:r>
            <a:r>
              <a:rPr lang="en-US" altLang="ko-KR" dirty="0">
                <a:solidFill>
                  <a:schemeClr val="bg1">
                    <a:lumMod val="95000"/>
                  </a:schemeClr>
                </a:solidFill>
              </a:rPr>
              <a:t>·</a:t>
            </a:r>
            <a:r>
              <a:rPr lang="ko-KR" altLang="en-US" dirty="0">
                <a:solidFill>
                  <a:schemeClr val="bg1">
                    <a:lumMod val="95000"/>
                  </a:schemeClr>
                </a:solidFill>
              </a:rPr>
              <a:t>학습</a:t>
            </a:r>
            <a:r>
              <a:rPr lang="en-US" altLang="ko-KR" dirty="0">
                <a:solidFill>
                  <a:schemeClr val="bg1">
                    <a:lumMod val="95000"/>
                  </a:schemeClr>
                </a:solidFill>
              </a:rPr>
              <a:t>·</a:t>
            </a:r>
            <a:r>
              <a:rPr lang="ko-KR" altLang="en-US" dirty="0">
                <a:solidFill>
                  <a:schemeClr val="bg1">
                    <a:lumMod val="95000"/>
                  </a:schemeClr>
                </a:solidFill>
              </a:rPr>
              <a:t>평가</a:t>
            </a:r>
            <a:r>
              <a:rPr lang="en-US" altLang="ko-KR" dirty="0">
                <a:solidFill>
                  <a:schemeClr val="bg1">
                    <a:lumMod val="95000"/>
                  </a:schemeClr>
                </a:solidFill>
              </a:rPr>
              <a:t>·</a:t>
            </a:r>
            <a:r>
              <a:rPr lang="ko-KR" altLang="en-US" dirty="0">
                <a:solidFill>
                  <a:schemeClr val="bg1">
                    <a:lumMod val="95000"/>
                  </a:schemeClr>
                </a:solidFill>
              </a:rPr>
              <a:t>가드레일을 아우르는 에이전트 통합 운영 체계</a:t>
            </a:r>
          </a:p>
        </p:txBody>
      </p:sp>
      <p:sp>
        <p:nvSpPr>
          <p:cNvPr id="10" name="제목 9">
            <a:extLst>
              <a:ext uri="{FF2B5EF4-FFF2-40B4-BE49-F238E27FC236}">
                <a16:creationId xmlns:a16="http://schemas.microsoft.com/office/drawing/2014/main" id="{56E9CCE6-A95F-0375-6766-93CF1303A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AgentOps</a:t>
            </a:r>
            <a:endParaRPr lang="ko-KR" alt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31987B7-7E7F-A7A4-C102-22E0DBD6DF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316148F-D84E-47A3-B267-E08DF939B7C4}" type="slidenum">
              <a:rPr lang="ko-KR" altLang="en-US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pPr/>
              <a:t>22</a:t>
            </a:fld>
            <a:r>
              <a:rPr lang="en-US" altLang="ko-KR">
                <a:latin typeface="나눔스퀘어" panose="020B0600000101010101" pitchFamily="50" charset="-127"/>
                <a:ea typeface="나눔스퀘어" panose="020B0600000101010101" pitchFamily="50" charset="-127"/>
              </a:rPr>
              <a:t>/28</a:t>
            </a:r>
            <a:endParaRPr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680E812-EC5E-79BF-8CF1-35C0664B181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02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4C6292-EF45-FF39-7D30-13585D80EE2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KEY FEATURE</a:t>
            </a:r>
            <a:endParaRPr lang="ko-KR" altLang="en-US" dirty="0"/>
          </a:p>
        </p:txBody>
      </p:sp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35088175-8E44-A819-0B67-7D48B04EA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>
                    <a:lumMod val="85000"/>
                  </a:schemeClr>
                </a:solidFill>
              </a:rPr>
              <a:t>AI </a:t>
            </a:r>
            <a:r>
              <a:rPr lang="ko-KR" altLang="en-US" dirty="0">
                <a:solidFill>
                  <a:schemeClr val="bg1">
                    <a:lumMod val="85000"/>
                  </a:schemeClr>
                </a:solidFill>
              </a:rPr>
              <a:t>모델 운영부터 </a:t>
            </a:r>
            <a:r>
              <a:rPr lang="en-US" altLang="ko-KR" dirty="0">
                <a:solidFill>
                  <a:schemeClr val="bg1">
                    <a:lumMod val="85000"/>
                  </a:schemeClr>
                </a:solidFill>
              </a:rPr>
              <a:t>RAG, </a:t>
            </a:r>
            <a:r>
              <a:rPr lang="ko-KR" altLang="en-US" dirty="0" err="1">
                <a:solidFill>
                  <a:schemeClr val="bg1">
                    <a:lumMod val="85000"/>
                  </a:schemeClr>
                </a:solidFill>
              </a:rPr>
              <a:t>멀티에이전트</a:t>
            </a:r>
            <a:r>
              <a:rPr lang="ko-KR" altLang="en-US" dirty="0">
                <a:solidFill>
                  <a:schemeClr val="bg1">
                    <a:lumMod val="85000"/>
                  </a:schemeClr>
                </a:solidFill>
              </a:rPr>
              <a:t> 운영까지 하나의 플랫폼에서 관리합니다</a:t>
            </a:r>
            <a:r>
              <a:rPr lang="en-US" altLang="ko-KR" dirty="0">
                <a:solidFill>
                  <a:schemeClr val="bg1">
                    <a:lumMod val="85000"/>
                  </a:schemeClr>
                </a:solidFill>
              </a:rPr>
              <a:t>. </a:t>
            </a:r>
            <a:r>
              <a:rPr lang="ko-KR" altLang="en-US" dirty="0">
                <a:solidFill>
                  <a:schemeClr val="bg1">
                    <a:lumMod val="85000"/>
                  </a:schemeClr>
                </a:solidFill>
              </a:rPr>
              <a:t>에이전트와 파이프라인의 운영 현황을 통합 모니터링하고</a:t>
            </a:r>
            <a:r>
              <a:rPr lang="en-US" altLang="ko-KR" dirty="0">
                <a:solidFill>
                  <a:schemeClr val="bg1">
                    <a:lumMod val="85000"/>
                  </a:schemeClr>
                </a:solidFill>
              </a:rPr>
              <a:t>, </a:t>
            </a:r>
            <a:r>
              <a:rPr lang="ko-KR" altLang="en-US" dirty="0">
                <a:solidFill>
                  <a:schemeClr val="bg1">
                    <a:lumMod val="85000"/>
                  </a:schemeClr>
                </a:solidFill>
              </a:rPr>
              <a:t>데이터 흐름</a:t>
            </a:r>
            <a:r>
              <a:rPr lang="en-US" altLang="ko-KR" dirty="0">
                <a:solidFill>
                  <a:schemeClr val="bg1">
                    <a:lumMod val="85000"/>
                  </a:schemeClr>
                </a:solidFill>
              </a:rPr>
              <a:t>·</a:t>
            </a:r>
            <a:r>
              <a:rPr lang="ko-KR" altLang="en-US" dirty="0">
                <a:solidFill>
                  <a:schemeClr val="bg1">
                    <a:lumMod val="85000"/>
                  </a:schemeClr>
                </a:solidFill>
              </a:rPr>
              <a:t>권한</a:t>
            </a:r>
            <a:r>
              <a:rPr lang="en-US" altLang="ko-KR" dirty="0">
                <a:solidFill>
                  <a:schemeClr val="bg1">
                    <a:lumMod val="85000"/>
                  </a:schemeClr>
                </a:solidFill>
              </a:rPr>
              <a:t>·</a:t>
            </a:r>
            <a:r>
              <a:rPr lang="ko-KR" altLang="en-US" dirty="0">
                <a:solidFill>
                  <a:schemeClr val="bg1">
                    <a:lumMod val="85000"/>
                  </a:schemeClr>
                </a:solidFill>
              </a:rPr>
              <a:t>로그를 관리해 장애 발생 시 신속한 추적과 대응을 지원합니다</a:t>
            </a:r>
            <a:r>
              <a:rPr lang="en-US" altLang="ko-KR" dirty="0">
                <a:solidFill>
                  <a:schemeClr val="bg1">
                    <a:lumMod val="85000"/>
                  </a:schemeClr>
                </a:solidFill>
              </a:rPr>
              <a:t>.</a:t>
            </a:r>
          </a:p>
        </p:txBody>
      </p:sp>
      <p:sp>
        <p:nvSpPr>
          <p:cNvPr id="226" name="Google Shape;226;p13">
            <a:extLst>
              <a:ext uri="{FF2B5EF4-FFF2-40B4-BE49-F238E27FC236}">
                <a16:creationId xmlns:a16="http://schemas.microsoft.com/office/drawing/2014/main" id="{10B472B9-4C13-AA5F-BCCF-6487B86DA800}"/>
              </a:ext>
            </a:extLst>
          </p:cNvPr>
          <p:cNvSpPr/>
          <p:nvPr/>
        </p:nvSpPr>
        <p:spPr>
          <a:xfrm>
            <a:off x="7170420" y="566610"/>
            <a:ext cx="2263140" cy="150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r">
              <a:buClr>
                <a:srgbClr val="F7D9C8"/>
              </a:buClr>
              <a:buSzPts val="13000"/>
            </a:pPr>
            <a:r>
              <a:rPr lang="en-US" altLang="ko-KR" sz="9750" dirty="0">
                <a:solidFill>
                  <a:schemeClr val="bg1">
                    <a:lumMod val="95000"/>
                    <a:alpha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Malgun Gothic"/>
              </a:rPr>
              <a:t>03</a:t>
            </a:r>
            <a:endParaRPr lang="ko-KR" altLang="en-US" sz="9750" dirty="0">
              <a:solidFill>
                <a:schemeClr val="bg1">
                  <a:lumMod val="95000"/>
                  <a:alpha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Calibri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E26F6368-84AE-7526-B2C1-3A22290A82D8}"/>
              </a:ext>
            </a:extLst>
          </p:cNvPr>
          <p:cNvGrpSpPr/>
          <p:nvPr/>
        </p:nvGrpSpPr>
        <p:grpSpPr>
          <a:xfrm>
            <a:off x="472440" y="3449573"/>
            <a:ext cx="8961120" cy="2737217"/>
            <a:chOff x="472440" y="3449573"/>
            <a:chExt cx="8961120" cy="2737217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A834751C-CE8D-4F5C-AA59-AD4A7FF81665}"/>
                </a:ext>
              </a:extLst>
            </p:cNvPr>
            <p:cNvSpPr/>
            <p:nvPr/>
          </p:nvSpPr>
          <p:spPr>
            <a:xfrm>
              <a:off x="472440" y="3449573"/>
              <a:ext cx="8961120" cy="2737217"/>
            </a:xfrm>
            <a:prstGeom prst="rect">
              <a:avLst/>
            </a:prstGeom>
            <a:gradFill flip="none" rotWithShape="1">
              <a:gsLst>
                <a:gs pos="84000">
                  <a:schemeClr val="bg1">
                    <a:alpha val="30000"/>
                  </a:schemeClr>
                </a:gs>
                <a:gs pos="7000">
                  <a:schemeClr val="bg1">
                    <a:alpha val="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32" name="Google Shape;232;p13">
              <a:extLst>
                <a:ext uri="{FF2B5EF4-FFF2-40B4-BE49-F238E27FC236}">
                  <a16:creationId xmlns:a16="http://schemas.microsoft.com/office/drawing/2014/main" id="{41DB90E0-11E6-54A7-6C30-BA53F7C013B2}"/>
                </a:ext>
              </a:extLst>
            </p:cNvPr>
            <p:cNvCxnSpPr>
              <a:cxnSpLocks/>
            </p:cNvCxnSpPr>
            <p:nvPr/>
          </p:nvCxnSpPr>
          <p:spPr>
            <a:xfrm>
              <a:off x="472440" y="3449574"/>
              <a:ext cx="8961120" cy="0"/>
            </a:xfrm>
            <a:prstGeom prst="straightConnector1">
              <a:avLst/>
            </a:prstGeom>
            <a:noFill/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D599F03C-CC54-9F11-2E82-134BD9ECE399}"/>
                </a:ext>
              </a:extLst>
            </p:cNvPr>
            <p:cNvGrpSpPr/>
            <p:nvPr/>
          </p:nvGrpSpPr>
          <p:grpSpPr>
            <a:xfrm>
              <a:off x="853608" y="3783060"/>
              <a:ext cx="8038933" cy="1743547"/>
              <a:chOff x="769371" y="3783060"/>
              <a:chExt cx="8038933" cy="1743547"/>
            </a:xfrm>
          </p:grpSpPr>
          <p:sp>
            <p:nvSpPr>
              <p:cNvPr id="234" name="Google Shape;234;p13">
                <a:extLst>
                  <a:ext uri="{FF2B5EF4-FFF2-40B4-BE49-F238E27FC236}">
                    <a16:creationId xmlns:a16="http://schemas.microsoft.com/office/drawing/2014/main" id="{AF52A6A9-AA47-6CEC-DCE9-042D5865EABD}"/>
                  </a:ext>
                </a:extLst>
              </p:cNvPr>
              <p:cNvSpPr/>
              <p:nvPr/>
            </p:nvSpPr>
            <p:spPr>
              <a:xfrm>
                <a:off x="769371" y="4292167"/>
                <a:ext cx="4018387" cy="12344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180000" indent="-180000">
                  <a:lnSpc>
                    <a:spcPts val="1700"/>
                  </a:lnSpc>
                  <a:spcAft>
                    <a:spcPts val="800"/>
                  </a:spcAft>
                  <a:buClr>
                    <a:schemeClr val="bg1"/>
                  </a:buClr>
                  <a:buSzPts val="1200"/>
                  <a:buFont typeface="Malgun Gothic"/>
                  <a:buChar char="•"/>
                </a:pPr>
                <a:r>
                  <a:rPr lang="en-US" altLang="ko-KR" sz="1100" dirty="0" err="1">
                    <a:solidFill>
                      <a:schemeClr val="bg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  <a:cs typeface="Malgun Gothic"/>
                    <a:sym typeface="Malgun Gothic"/>
                  </a:rPr>
                  <a:t>LLMOps·RAGOps·AgentOps</a:t>
                </a:r>
                <a:r>
                  <a:rPr lang="en-US" altLang="ko-KR" sz="1100" dirty="0">
                    <a:solidFill>
                      <a:schemeClr val="bg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  <a:cs typeface="Malgun Gothic"/>
                    <a:sym typeface="Malgun Gothic"/>
                  </a:rPr>
                  <a:t> </a:t>
                </a:r>
                <a:r>
                  <a:rPr lang="ko-KR" altLang="en-US" sz="1100" dirty="0">
                    <a:solidFill>
                      <a:schemeClr val="bg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  <a:cs typeface="Malgun Gothic"/>
                    <a:sym typeface="Malgun Gothic"/>
                  </a:rPr>
                  <a:t>기반 </a:t>
                </a:r>
                <a:r>
                  <a:rPr lang="en-US" altLang="ko-KR" sz="1100" dirty="0">
                    <a:solidFill>
                      <a:schemeClr val="bg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  <a:cs typeface="Malgun Gothic"/>
                    <a:sym typeface="Malgun Gothic"/>
                  </a:rPr>
                  <a:t>AI </a:t>
                </a:r>
                <a:r>
                  <a:rPr lang="ko-KR" altLang="en-US" sz="1100" dirty="0">
                    <a:solidFill>
                      <a:schemeClr val="bg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  <a:cs typeface="Malgun Gothic"/>
                    <a:sym typeface="Malgun Gothic"/>
                  </a:rPr>
                  <a:t>전 주기 운영</a:t>
                </a:r>
              </a:p>
              <a:p>
                <a:pPr marL="180000" indent="-180000">
                  <a:lnSpc>
                    <a:spcPts val="1700"/>
                  </a:lnSpc>
                  <a:spcAft>
                    <a:spcPts val="800"/>
                  </a:spcAft>
                  <a:buClr>
                    <a:schemeClr val="bg1"/>
                  </a:buClr>
                  <a:buSzPts val="1200"/>
                  <a:buFont typeface="Malgun Gothic"/>
                  <a:buChar char="•"/>
                </a:pPr>
                <a:r>
                  <a:rPr lang="ko-KR" altLang="en-US" sz="1100" dirty="0">
                    <a:solidFill>
                      <a:schemeClr val="bg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  <a:cs typeface="Malgun Gothic"/>
                    <a:sym typeface="Malgun Gothic"/>
                  </a:rPr>
                  <a:t>에이전트</a:t>
                </a:r>
                <a:r>
                  <a:rPr lang="en-US" altLang="ko-KR" sz="1100" dirty="0">
                    <a:solidFill>
                      <a:schemeClr val="bg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  <a:cs typeface="Malgun Gothic"/>
                    <a:sym typeface="Malgun Gothic"/>
                  </a:rPr>
                  <a:t>·</a:t>
                </a:r>
                <a:r>
                  <a:rPr lang="ko-KR" altLang="en-US" sz="1100" dirty="0">
                    <a:solidFill>
                      <a:schemeClr val="bg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  <a:cs typeface="Malgun Gothic"/>
                    <a:sym typeface="Malgun Gothic"/>
                  </a:rPr>
                  <a:t>파이프라인 운영 현황 통합 모니터링</a:t>
                </a:r>
              </a:p>
              <a:p>
                <a:pPr marL="180000" indent="-180000">
                  <a:lnSpc>
                    <a:spcPts val="1700"/>
                  </a:lnSpc>
                  <a:spcAft>
                    <a:spcPts val="800"/>
                  </a:spcAft>
                  <a:buClr>
                    <a:schemeClr val="bg1"/>
                  </a:buClr>
                  <a:buSzPts val="1200"/>
                  <a:buFont typeface="Malgun Gothic"/>
                  <a:buChar char="•"/>
                </a:pPr>
                <a:r>
                  <a:rPr lang="ko-KR" altLang="en-US" sz="1100" dirty="0">
                    <a:solidFill>
                      <a:schemeClr val="bg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  <a:cs typeface="Malgun Gothic"/>
                    <a:sym typeface="Malgun Gothic"/>
                  </a:rPr>
                  <a:t>데이터 흐름</a:t>
                </a:r>
                <a:r>
                  <a:rPr lang="en-US" altLang="ko-KR" sz="1100" dirty="0">
                    <a:solidFill>
                      <a:schemeClr val="bg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  <a:cs typeface="Malgun Gothic"/>
                    <a:sym typeface="Malgun Gothic"/>
                  </a:rPr>
                  <a:t>·</a:t>
                </a:r>
                <a:r>
                  <a:rPr lang="ko-KR" altLang="en-US" sz="1100" dirty="0">
                    <a:solidFill>
                      <a:schemeClr val="bg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  <a:cs typeface="Malgun Gothic"/>
                    <a:sym typeface="Malgun Gothic"/>
                  </a:rPr>
                  <a:t>권한</a:t>
                </a:r>
                <a:r>
                  <a:rPr lang="en-US" altLang="ko-KR" sz="1100" dirty="0">
                    <a:solidFill>
                      <a:schemeClr val="bg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  <a:cs typeface="Malgun Gothic"/>
                    <a:sym typeface="Malgun Gothic"/>
                  </a:rPr>
                  <a:t>·</a:t>
                </a:r>
                <a:r>
                  <a:rPr lang="ko-KR" altLang="en-US" sz="1100" dirty="0">
                    <a:solidFill>
                      <a:schemeClr val="bg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  <a:cs typeface="Malgun Gothic"/>
                    <a:sym typeface="Malgun Gothic"/>
                  </a:rPr>
                  <a:t>로그 통합 관리 및 장애 추적</a:t>
                </a:r>
                <a:r>
                  <a:rPr lang="en-US" altLang="ko-KR" sz="1100" dirty="0">
                    <a:solidFill>
                      <a:schemeClr val="bg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  <a:cs typeface="Malgun Gothic"/>
                    <a:sym typeface="Malgun Gothic"/>
                  </a:rPr>
                  <a:t>·</a:t>
                </a:r>
                <a:r>
                  <a:rPr lang="ko-KR" altLang="en-US" sz="1100" dirty="0">
                    <a:solidFill>
                      <a:schemeClr val="bg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  <a:cs typeface="Malgun Gothic"/>
                    <a:sym typeface="Malgun Gothic"/>
                  </a:rPr>
                  <a:t>대응 지원</a:t>
                </a:r>
              </a:p>
            </p:txBody>
          </p:sp>
          <p:sp>
            <p:nvSpPr>
              <p:cNvPr id="236" name="Google Shape;236;p13">
                <a:extLst>
                  <a:ext uri="{FF2B5EF4-FFF2-40B4-BE49-F238E27FC236}">
                    <a16:creationId xmlns:a16="http://schemas.microsoft.com/office/drawing/2014/main" id="{CFA11E97-B90A-391B-E70E-8D3DD0733716}"/>
                  </a:ext>
                </a:extLst>
              </p:cNvPr>
              <p:cNvSpPr/>
              <p:nvPr/>
            </p:nvSpPr>
            <p:spPr>
              <a:xfrm>
                <a:off x="5168928" y="4292167"/>
                <a:ext cx="3639376" cy="12344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180000" indent="-180000">
                  <a:lnSpc>
                    <a:spcPts val="1700"/>
                  </a:lnSpc>
                  <a:spcAft>
                    <a:spcPts val="800"/>
                  </a:spcAft>
                  <a:buClr>
                    <a:schemeClr val="bg1"/>
                  </a:buClr>
                  <a:buSzPts val="1200"/>
                  <a:buFont typeface="Malgun Gothic"/>
                  <a:buChar char="•"/>
                </a:pPr>
                <a:r>
                  <a:rPr lang="en-US" altLang="ko-KR" sz="1100" dirty="0">
                    <a:solidFill>
                      <a:schemeClr val="bg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  <a:sym typeface="Malgun Gothic"/>
                  </a:rPr>
                  <a:t>8</a:t>
                </a:r>
                <a:r>
                  <a:rPr lang="ko-KR" altLang="en-US" sz="1100" dirty="0">
                    <a:solidFill>
                      <a:schemeClr val="bg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  <a:sym typeface="Malgun Gothic"/>
                  </a:rPr>
                  <a:t>대 산업 영역의 다양한 에이전트를 단일 체계로 관리</a:t>
                </a:r>
              </a:p>
              <a:p>
                <a:pPr marL="180000" indent="-180000">
                  <a:lnSpc>
                    <a:spcPts val="1700"/>
                  </a:lnSpc>
                  <a:spcAft>
                    <a:spcPts val="800"/>
                  </a:spcAft>
                  <a:buClr>
                    <a:schemeClr val="bg1"/>
                  </a:buClr>
                  <a:buSzPts val="1200"/>
                  <a:buFont typeface="Malgun Gothic"/>
                  <a:buChar char="•"/>
                </a:pPr>
                <a:r>
                  <a:rPr lang="en-US" altLang="ko-KR" sz="1100" dirty="0">
                    <a:solidFill>
                      <a:schemeClr val="bg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  <a:sym typeface="Malgun Gothic"/>
                  </a:rPr>
                  <a:t>5</a:t>
                </a:r>
                <a:r>
                  <a:rPr lang="ko-KR" altLang="en-US" sz="1100">
                    <a:solidFill>
                      <a:schemeClr val="bg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  <a:sym typeface="Malgun Gothic"/>
                  </a:rPr>
                  <a:t>단계 </a:t>
                </a:r>
                <a:r>
                  <a:rPr lang="en-US" altLang="ko-KR" sz="1100" dirty="0">
                    <a:solidFill>
                      <a:schemeClr val="bg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  <a:sym typeface="Malgun Gothic"/>
                  </a:rPr>
                  <a:t>E2E </a:t>
                </a:r>
                <a:r>
                  <a:rPr lang="ko-KR" altLang="en-US" sz="1100" dirty="0">
                    <a:solidFill>
                      <a:schemeClr val="bg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  <a:sym typeface="Malgun Gothic"/>
                  </a:rPr>
                  <a:t>파이프라인 전 구간의 운영 가시성 확보</a:t>
                </a:r>
              </a:p>
              <a:p>
                <a:pPr marL="180000" indent="-180000">
                  <a:lnSpc>
                    <a:spcPts val="1700"/>
                  </a:lnSpc>
                  <a:spcAft>
                    <a:spcPts val="800"/>
                  </a:spcAft>
                  <a:buClr>
                    <a:schemeClr val="bg1"/>
                  </a:buClr>
                  <a:buSzPts val="1200"/>
                  <a:buFont typeface="Malgun Gothic"/>
                  <a:buChar char="•"/>
                </a:pPr>
                <a:r>
                  <a:rPr lang="ko-KR" altLang="en-US" sz="1100">
                    <a:solidFill>
                      <a:schemeClr val="bg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  <a:sym typeface="Malgun Gothic"/>
                  </a:rPr>
                  <a:t>데이터셋</a:t>
                </a:r>
                <a:r>
                  <a:rPr lang="en-US" altLang="ko-KR" sz="1100">
                    <a:solidFill>
                      <a:schemeClr val="bg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  <a:sym typeface="Malgun Gothic"/>
                  </a:rPr>
                  <a:t>·</a:t>
                </a:r>
                <a:r>
                  <a:rPr lang="ko-KR" altLang="en-US" sz="1100">
                    <a:solidFill>
                      <a:schemeClr val="bg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  <a:sym typeface="Malgun Gothic"/>
                  </a:rPr>
                  <a:t>모델</a:t>
                </a:r>
                <a:r>
                  <a:rPr lang="en-US" altLang="ko-KR" sz="1100" dirty="0">
                    <a:solidFill>
                      <a:schemeClr val="bg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  <a:sym typeface="Malgun Gothic"/>
                  </a:rPr>
                  <a:t>·</a:t>
                </a:r>
                <a:r>
                  <a:rPr lang="ko-KR" altLang="en-US" sz="1100" dirty="0">
                    <a:solidFill>
                      <a:schemeClr val="bg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  <a:sym typeface="Malgun Gothic"/>
                  </a:rPr>
                  <a:t>에이전트를 하나의 플랫폼에서 </a:t>
                </a:r>
                <a:r>
                  <a:rPr lang="ko-KR" altLang="en-US" sz="1100" err="1">
                    <a:solidFill>
                      <a:schemeClr val="bg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  <a:sym typeface="Malgun Gothic"/>
                  </a:rPr>
                  <a:t>엔드투엔드</a:t>
                </a:r>
                <a:r>
                  <a:rPr lang="ko-KR" altLang="en-US" sz="1100">
                    <a:solidFill>
                      <a:schemeClr val="bg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  <a:sym typeface="Malgun Gothic"/>
                  </a:rPr>
                  <a:t> </a:t>
                </a:r>
                <a:r>
                  <a:rPr lang="en-US" altLang="ko-KR" sz="1100" dirty="0">
                    <a:solidFill>
                      <a:schemeClr val="bg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  <a:sym typeface="Malgun Gothic"/>
                  </a:rPr>
                  <a:t>(End-to-End)</a:t>
                </a:r>
                <a:r>
                  <a:rPr lang="ko-KR" altLang="en-US" sz="1100" dirty="0">
                    <a:solidFill>
                      <a:schemeClr val="bg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  <a:sym typeface="Malgun Gothic"/>
                  </a:rPr>
                  <a:t>로 운영</a:t>
                </a:r>
              </a:p>
            </p:txBody>
          </p:sp>
          <p:sp>
            <p:nvSpPr>
              <p:cNvPr id="5" name="사각형: 둥근 모서리 4">
                <a:extLst>
                  <a:ext uri="{FF2B5EF4-FFF2-40B4-BE49-F238E27FC236}">
                    <a16:creationId xmlns:a16="http://schemas.microsoft.com/office/drawing/2014/main" id="{1326B1A9-9FD4-1752-515D-B71681254998}"/>
                  </a:ext>
                </a:extLst>
              </p:cNvPr>
              <p:cNvSpPr/>
              <p:nvPr/>
            </p:nvSpPr>
            <p:spPr>
              <a:xfrm>
                <a:off x="769372" y="3783060"/>
                <a:ext cx="990370" cy="288000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31000">
                    <a:srgbClr val="FD8204"/>
                  </a:gs>
                  <a:gs pos="100000">
                    <a:srgbClr val="F8AF67"/>
                  </a:gs>
                </a:gsLst>
                <a:lin ang="2700000" scaled="1"/>
                <a:tileRect/>
              </a:gradFill>
              <a:ln>
                <a:noFill/>
              </a:ln>
              <a:effectLst>
                <a:outerShdw blurRad="762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350" dirty="0">
                    <a:solidFill>
                      <a:schemeClr val="bg1"/>
                    </a:solidFill>
                    <a:latin typeface="나눔스퀘어 Bold" panose="020B0600000101010101" pitchFamily="34" charset="-127"/>
                    <a:ea typeface="나눔스퀘어 Bold" panose="020B0600000101010101" pitchFamily="34" charset="-127"/>
                    <a:cs typeface="Malgun Gothic"/>
                    <a:sym typeface="Malgun Gothic"/>
                  </a:rPr>
                  <a:t>주요 기능</a:t>
                </a:r>
                <a:endParaRPr lang="ko-KR" altLang="en-US" sz="1350" dirty="0">
                  <a:solidFill>
                    <a:schemeClr val="bg1"/>
                  </a:solidFill>
                  <a:latin typeface="나눔스퀘어 Bold" panose="020B0600000101010101" pitchFamily="34" charset="-127"/>
                  <a:ea typeface="나눔스퀘어 Bold" panose="020B0600000101010101" pitchFamily="34" charset="-127"/>
                  <a:cs typeface="Calibri"/>
                  <a:sym typeface="Calibri"/>
                </a:endParaRPr>
              </a:p>
            </p:txBody>
          </p:sp>
          <p:sp>
            <p:nvSpPr>
              <p:cNvPr id="7" name="사각형: 둥근 모서리 6">
                <a:extLst>
                  <a:ext uri="{FF2B5EF4-FFF2-40B4-BE49-F238E27FC236}">
                    <a16:creationId xmlns:a16="http://schemas.microsoft.com/office/drawing/2014/main" id="{EEAB3B9F-801C-83AE-9DB5-A800F55E213E}"/>
                  </a:ext>
                </a:extLst>
              </p:cNvPr>
              <p:cNvSpPr/>
              <p:nvPr/>
            </p:nvSpPr>
            <p:spPr>
              <a:xfrm>
                <a:off x="5137585" y="3783060"/>
                <a:ext cx="990370" cy="288000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31000">
                    <a:srgbClr val="FD8204"/>
                  </a:gs>
                  <a:gs pos="100000">
                    <a:srgbClr val="F8AF67"/>
                  </a:gs>
                </a:gsLst>
                <a:lin ang="2700000" scaled="1"/>
                <a:tileRect/>
              </a:gradFill>
              <a:ln>
                <a:noFill/>
              </a:ln>
              <a:effectLst>
                <a:outerShdw blurRad="762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350" dirty="0">
                    <a:solidFill>
                      <a:schemeClr val="bg1"/>
                    </a:solidFill>
                    <a:latin typeface="나눔스퀘어 Bold" panose="020B0600000101010101" pitchFamily="34" charset="-127"/>
                    <a:ea typeface="나눔스퀘어 Bold" panose="020B0600000101010101" pitchFamily="34" charset="-127"/>
                    <a:sym typeface="Malgun Gothic"/>
                  </a:rPr>
                  <a:t>기대 효과</a:t>
                </a:r>
                <a:endParaRPr lang="ko-KR" altLang="en-US" sz="1350" dirty="0">
                  <a:solidFill>
                    <a:schemeClr val="bg1"/>
                  </a:solidFill>
                  <a:latin typeface="나눔스퀘어 Bold" panose="020B0600000101010101" pitchFamily="34" charset="-127"/>
                  <a:ea typeface="나눔스퀘어 Bold" panose="020B0600000101010101" pitchFamily="34" charset="-127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630433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>
          <a:extLst>
            <a:ext uri="{FF2B5EF4-FFF2-40B4-BE49-F238E27FC236}">
              <a16:creationId xmlns:a16="http://schemas.microsoft.com/office/drawing/2014/main" id="{379E1BAD-38D6-07D2-D961-5A31D5AF0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51;p5">
            <a:extLst>
              <a:ext uri="{FF2B5EF4-FFF2-40B4-BE49-F238E27FC236}">
                <a16:creationId xmlns:a16="http://schemas.microsoft.com/office/drawing/2014/main" id="{A510402C-C35C-835A-7C5E-D0A55C0BA2F0}"/>
              </a:ext>
            </a:extLst>
          </p:cNvPr>
          <p:cNvSpPr/>
          <p:nvPr/>
        </p:nvSpPr>
        <p:spPr>
          <a:xfrm>
            <a:off x="861060" y="3634739"/>
            <a:ext cx="7200900" cy="1175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30000"/>
              </a:lnSpc>
              <a:buClr>
                <a:srgbClr val="FFFFFF"/>
              </a:buClr>
              <a:buSzPts val="3400"/>
            </a:pPr>
            <a:r>
              <a:rPr lang="ko-KR" altLang="en-US" sz="3200" dirty="0">
                <a:solidFill>
                  <a:srgbClr val="FFFFF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lgun Gothic"/>
                <a:sym typeface="Malgun Gothic"/>
              </a:rPr>
              <a:t>추진 계획</a:t>
            </a:r>
            <a:endParaRPr lang="en-US" altLang="ko-KR" sz="2400" dirty="0">
              <a:solidFill>
                <a:srgbClr val="FFFFFF"/>
              </a:solidFill>
              <a:latin typeface="나눔스퀘어" panose="020B0600000101010101" pitchFamily="34" charset="-127"/>
              <a:ea typeface="나눔스퀘어" panose="020B0600000101010101" pitchFamily="34" charset="-127"/>
              <a:cs typeface="Malgun Gothic"/>
              <a:sym typeface="Malgun Gothic"/>
            </a:endParaRPr>
          </a:p>
        </p:txBody>
      </p:sp>
      <p:sp>
        <p:nvSpPr>
          <p:cNvPr id="6" name="Google Shape;49;p5">
            <a:extLst>
              <a:ext uri="{FF2B5EF4-FFF2-40B4-BE49-F238E27FC236}">
                <a16:creationId xmlns:a16="http://schemas.microsoft.com/office/drawing/2014/main" id="{C3FE5F27-44EF-417C-BA17-047D81622304}"/>
              </a:ext>
            </a:extLst>
          </p:cNvPr>
          <p:cNvSpPr/>
          <p:nvPr/>
        </p:nvSpPr>
        <p:spPr>
          <a:xfrm>
            <a:off x="861060" y="2263140"/>
            <a:ext cx="1205865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E8592A"/>
              </a:buClr>
              <a:buSzPts val="1300"/>
            </a:pPr>
            <a:r>
              <a:rPr lang="en-US" altLang="ko-KR" sz="975" dirty="0">
                <a:solidFill>
                  <a:srgbClr val="FD8204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Malgun Gothic"/>
                <a:sym typeface="Malgun Gothic"/>
              </a:rPr>
              <a:t>CHAPTER 04</a:t>
            </a:r>
            <a:endParaRPr lang="ko-KR" altLang="en-US" sz="975" dirty="0">
              <a:solidFill>
                <a:srgbClr val="FD8204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Calibri"/>
              <a:sym typeface="Calibri"/>
            </a:endParaRPr>
          </a:p>
        </p:txBody>
      </p:sp>
      <p:sp>
        <p:nvSpPr>
          <p:cNvPr id="8" name="Google Shape;50;p5">
            <a:extLst>
              <a:ext uri="{FF2B5EF4-FFF2-40B4-BE49-F238E27FC236}">
                <a16:creationId xmlns:a16="http://schemas.microsoft.com/office/drawing/2014/main" id="{7FD1EA5C-35E1-6149-3906-C8436E8D4280}"/>
              </a:ext>
            </a:extLst>
          </p:cNvPr>
          <p:cNvSpPr/>
          <p:nvPr/>
        </p:nvSpPr>
        <p:spPr>
          <a:xfrm>
            <a:off x="806196" y="2468880"/>
            <a:ext cx="205740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3A362F"/>
              </a:buClr>
              <a:buSzPts val="6800"/>
            </a:pPr>
            <a:r>
              <a:rPr lang="en-US" altLang="ko-KR" sz="5400" spc="-300" dirty="0">
                <a:solidFill>
                  <a:srgbClr val="F7F7F5"/>
                </a:solidFill>
                <a:latin typeface="나눔스퀘어 ExtraBold" panose="020B0600000101010101" pitchFamily="34" charset="-127"/>
                <a:ea typeface="나눔스퀘어 ExtraBold" panose="020B0600000101010101" pitchFamily="34" charset="-127"/>
                <a:cs typeface="Malgun Gothic"/>
                <a:sym typeface="Malgun Gothic"/>
              </a:rPr>
              <a:t>04</a:t>
            </a:r>
            <a:endParaRPr lang="ko-KR" altLang="en-US" sz="5400" spc="-300" dirty="0">
              <a:solidFill>
                <a:srgbClr val="F7F7F5"/>
              </a:solidFill>
              <a:latin typeface="나눔스퀘어 ExtraBold" panose="020B0600000101010101" pitchFamily="34" charset="-127"/>
              <a:ea typeface="나눔스퀘어 ExtraBold" panose="020B0600000101010101" pitchFamily="34" charset="-127"/>
              <a:cs typeface="Calibri"/>
              <a:sym typeface="Calibri"/>
            </a:endParaRPr>
          </a:p>
        </p:txBody>
      </p:sp>
      <p:sp>
        <p:nvSpPr>
          <p:cNvPr id="3" name="Google Shape;51;p5">
            <a:extLst>
              <a:ext uri="{FF2B5EF4-FFF2-40B4-BE49-F238E27FC236}">
                <a16:creationId xmlns:a16="http://schemas.microsoft.com/office/drawing/2014/main" id="{31B9A866-0649-CD59-1FBB-86284EACDB08}"/>
              </a:ext>
            </a:extLst>
          </p:cNvPr>
          <p:cNvSpPr/>
          <p:nvPr/>
        </p:nvSpPr>
        <p:spPr>
          <a:xfrm>
            <a:off x="861060" y="4606289"/>
            <a:ext cx="7200900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30000"/>
              </a:lnSpc>
              <a:buClr>
                <a:srgbClr val="FFFFFF"/>
              </a:buClr>
              <a:buSzPts val="3400"/>
            </a:pPr>
            <a:r>
              <a:rPr lang="ko-KR" altLang="en-US" dirty="0">
                <a:solidFill>
                  <a:schemeClr val="tx1">
                    <a:lumMod val="85000"/>
                  </a:schemeClr>
                </a:solidFill>
                <a:latin typeface="나눔스퀘어" panose="020B0600000101010101" pitchFamily="34" charset="-127"/>
                <a:ea typeface="나눔스퀘어" panose="020B0600000101010101" pitchFamily="34" charset="-127"/>
                <a:cs typeface="Malgun Gothic"/>
                <a:sym typeface="Malgun Gothic"/>
              </a:rPr>
              <a:t>과업 분해  ｜  일정  ｜  협업 체계  ｜  협의 사항</a:t>
            </a:r>
            <a:endParaRPr lang="en-US" altLang="ko-KR" sz="1100" dirty="0">
              <a:solidFill>
                <a:schemeClr val="tx1">
                  <a:lumMod val="85000"/>
                </a:schemeClr>
              </a:solidFill>
              <a:latin typeface="나눔스퀘어" panose="020B0600000101010101" pitchFamily="34" charset="-127"/>
              <a:ea typeface="나눔스퀘어" panose="020B0600000101010101" pitchFamily="34" charset="-127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35206665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>
          <a:extLst>
            <a:ext uri="{FF2B5EF4-FFF2-40B4-BE49-F238E27FC236}">
              <a16:creationId xmlns:a16="http://schemas.microsoft.com/office/drawing/2014/main" id="{27293E24-7C52-0F60-B8E9-5D443EA88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0B734FEB-4549-F419-3E07-EDE52D3C3EF2}"/>
              </a:ext>
            </a:extLst>
          </p:cNvPr>
          <p:cNvSpPr/>
          <p:nvPr/>
        </p:nvSpPr>
        <p:spPr>
          <a:xfrm>
            <a:off x="460517" y="1699591"/>
            <a:ext cx="8892205" cy="4428805"/>
          </a:xfrm>
          <a:prstGeom prst="roundRect">
            <a:avLst>
              <a:gd name="adj" fmla="val 2115"/>
            </a:avLst>
          </a:prstGeom>
          <a:solidFill>
            <a:schemeClr val="bg1"/>
          </a:solidFill>
          <a:ln>
            <a:noFill/>
          </a:ln>
          <a:effectLst>
            <a:outerShdw blurRad="101600" dist="127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2" name="Google Shape;362;p20">
            <a:extLst>
              <a:ext uri="{FF2B5EF4-FFF2-40B4-BE49-F238E27FC236}">
                <a16:creationId xmlns:a16="http://schemas.microsoft.com/office/drawing/2014/main" id="{F5D43C56-7B1E-B8B9-27F0-17356FF47694}"/>
              </a:ext>
            </a:extLst>
          </p:cNvPr>
          <p:cNvSpPr/>
          <p:nvPr/>
        </p:nvSpPr>
        <p:spPr>
          <a:xfrm>
            <a:off x="463495" y="1114425"/>
            <a:ext cx="809244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12000"/>
              </a:lnSpc>
              <a:buClr>
                <a:srgbClr val="1A1714"/>
              </a:buClr>
              <a:buSzPts val="2800"/>
            </a:pPr>
            <a:r>
              <a:rPr lang="ko-KR" altLang="en-US" sz="2250" spc="-80" dirty="0">
                <a:solidFill>
                  <a:srgbClr val="1A1714"/>
                </a:solidFill>
                <a:latin typeface="나눔스퀘어 ExtraBold" panose="020B0600000101010101" pitchFamily="34" charset="-127"/>
                <a:ea typeface="나눔스퀘어 ExtraBold" panose="020B0600000101010101" pitchFamily="34" charset="-127"/>
                <a:sym typeface="Malgun Gothic"/>
              </a:rPr>
              <a:t>[레퍼런스] 발전 공정 운영 에너지 AI 에이전트</a:t>
            </a:r>
            <a:endParaRPr lang="ko-KR" altLang="en-US" sz="2250" spc="-80" dirty="0">
              <a:solidFill>
                <a:srgbClr val="1A1714"/>
              </a:solidFill>
              <a:latin typeface="나눔스퀘어 ExtraBold" panose="020B0600000101010101" pitchFamily="34" charset="-127"/>
              <a:ea typeface="나눔스퀘어 ExtraBold" panose="020B0600000101010101" pitchFamily="34" charset="-127"/>
              <a:sym typeface="Calibri"/>
            </a:endParaRPr>
          </a:p>
        </p:txBody>
      </p:sp>
      <p:sp>
        <p:nvSpPr>
          <p:cNvPr id="364" name="Google Shape;364;p20">
            <a:extLst>
              <a:ext uri="{FF2B5EF4-FFF2-40B4-BE49-F238E27FC236}">
                <a16:creationId xmlns:a16="http://schemas.microsoft.com/office/drawing/2014/main" id="{5BB81A24-98C1-46E2-7A9F-40E72AF5FF4B}"/>
              </a:ext>
            </a:extLst>
          </p:cNvPr>
          <p:cNvSpPr/>
          <p:nvPr/>
        </p:nvSpPr>
        <p:spPr>
          <a:xfrm>
            <a:off x="723093" y="2834029"/>
            <a:ext cx="563243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E8592A"/>
              </a:buClr>
              <a:buSzPts val="1100"/>
            </a:pPr>
            <a:r>
              <a:rPr lang="ko-KR" altLang="en-US" dirty="0">
                <a:solidFill>
                  <a:srgbClr val="F87D02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gun Gothic"/>
                <a:sym typeface="Malgun Gothic"/>
              </a:rPr>
              <a:t>상황</a:t>
            </a:r>
            <a:endParaRPr lang="ko-KR" altLang="en-US" dirty="0">
              <a:solidFill>
                <a:srgbClr val="F87D02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Calibri"/>
              <a:sym typeface="Calibri"/>
            </a:endParaRPr>
          </a:p>
        </p:txBody>
      </p:sp>
      <p:sp>
        <p:nvSpPr>
          <p:cNvPr id="365" name="Google Shape;365;p20">
            <a:extLst>
              <a:ext uri="{FF2B5EF4-FFF2-40B4-BE49-F238E27FC236}">
                <a16:creationId xmlns:a16="http://schemas.microsoft.com/office/drawing/2014/main" id="{504B05D4-3E44-1B2D-3BBC-C47E1E2A8070}"/>
              </a:ext>
            </a:extLst>
          </p:cNvPr>
          <p:cNvSpPr/>
          <p:nvPr/>
        </p:nvSpPr>
        <p:spPr>
          <a:xfrm>
            <a:off x="1679466" y="2821206"/>
            <a:ext cx="3132761" cy="464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ts val="1600"/>
              </a:lnSpc>
              <a:buClr>
                <a:srgbClr val="3A362F"/>
              </a:buClr>
              <a:buSzPts val="1150"/>
            </a:pPr>
            <a:r>
              <a:rPr lang="ko-KR" altLang="en-US" sz="1100" dirty="0">
                <a:latin typeface="나눔스퀘어" panose="020B0600000101010101" pitchFamily="50" charset="-127"/>
                <a:ea typeface="나눔스퀘어" panose="020B0600000101010101" pitchFamily="50" charset="-127"/>
                <a:cs typeface="Malgun Gothic"/>
                <a:sym typeface="Malgun Gothic"/>
              </a:rPr>
              <a:t>발전 설비 운영 데이터와 매뉴얼이 방대해 신속한 의사결정 지원이 어려움</a:t>
            </a:r>
          </a:p>
        </p:txBody>
      </p:sp>
      <p:sp>
        <p:nvSpPr>
          <p:cNvPr id="367" name="Google Shape;367;p20">
            <a:extLst>
              <a:ext uri="{FF2B5EF4-FFF2-40B4-BE49-F238E27FC236}">
                <a16:creationId xmlns:a16="http://schemas.microsoft.com/office/drawing/2014/main" id="{54088791-5F3C-936B-3A9F-996B06391D27}"/>
              </a:ext>
            </a:extLst>
          </p:cNvPr>
          <p:cNvSpPr/>
          <p:nvPr/>
        </p:nvSpPr>
        <p:spPr>
          <a:xfrm>
            <a:off x="716115" y="3785079"/>
            <a:ext cx="563243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E8592A"/>
              </a:buClr>
              <a:buSzPts val="1100"/>
            </a:pPr>
            <a:r>
              <a:rPr lang="en-US" altLang="ko-KR" dirty="0">
                <a:solidFill>
                  <a:srgbClr val="F87D02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gun Gothic"/>
                <a:sym typeface="Malgun Gothic"/>
              </a:rPr>
              <a:t>AI </a:t>
            </a:r>
            <a:r>
              <a:rPr lang="ko-KR" altLang="en-US" dirty="0">
                <a:solidFill>
                  <a:srgbClr val="F87D02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gun Gothic"/>
                <a:sym typeface="Malgun Gothic"/>
              </a:rPr>
              <a:t>활용</a:t>
            </a:r>
            <a:endParaRPr lang="ko-KR" altLang="en-US" dirty="0">
              <a:solidFill>
                <a:srgbClr val="F87D02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Calibri"/>
              <a:sym typeface="Calibri"/>
            </a:endParaRPr>
          </a:p>
        </p:txBody>
      </p:sp>
      <p:sp>
        <p:nvSpPr>
          <p:cNvPr id="368" name="Google Shape;368;p20">
            <a:extLst>
              <a:ext uri="{FF2B5EF4-FFF2-40B4-BE49-F238E27FC236}">
                <a16:creationId xmlns:a16="http://schemas.microsoft.com/office/drawing/2014/main" id="{A0D291EA-8E8A-14C8-244B-3411C144516D}"/>
              </a:ext>
            </a:extLst>
          </p:cNvPr>
          <p:cNvSpPr/>
          <p:nvPr/>
        </p:nvSpPr>
        <p:spPr>
          <a:xfrm>
            <a:off x="1672488" y="3785079"/>
            <a:ext cx="3342580" cy="1014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44000" indent="-144000">
              <a:lnSpc>
                <a:spcPts val="1600"/>
              </a:lnSpc>
              <a:spcAft>
                <a:spcPts val="600"/>
              </a:spcAft>
              <a:buClr>
                <a:srgbClr val="45413B"/>
              </a:buClr>
              <a:buSzPts val="1100"/>
              <a:buFont typeface="Malgun Gothic"/>
              <a:buChar char="•"/>
            </a:pPr>
            <a:r>
              <a:rPr lang="ko-KR" altLang="en-US" sz="1100" dirty="0">
                <a:latin typeface="나눔스퀘어" panose="020B0600000101010101" pitchFamily="50" charset="-127"/>
                <a:ea typeface="나눔스퀘어" panose="020B0600000101010101" pitchFamily="50" charset="-127"/>
                <a:sym typeface="Malgun Gothic"/>
              </a:rPr>
              <a:t>발전 공정 데이터를 </a:t>
            </a:r>
            <a:r>
              <a:rPr lang="en-US" altLang="ko-KR" sz="1100" dirty="0">
                <a:latin typeface="나눔스퀘어" panose="020B0600000101010101" pitchFamily="50" charset="-127"/>
                <a:ea typeface="나눔스퀘어" panose="020B0600000101010101" pitchFamily="50" charset="-127"/>
                <a:sym typeface="Malgun Gothic"/>
              </a:rPr>
              <a:t>24</a:t>
            </a:r>
            <a:r>
              <a:rPr lang="ko-KR" altLang="en-US" sz="1100" dirty="0">
                <a:latin typeface="나눔스퀘어" panose="020B0600000101010101" pitchFamily="50" charset="-127"/>
                <a:ea typeface="나눔스퀘어" panose="020B0600000101010101" pitchFamily="50" charset="-127"/>
                <a:sym typeface="Malgun Gothic"/>
              </a:rPr>
              <a:t>시간 무중단으로 분석해 설비 운영 현황과 필요한 정보 확인</a:t>
            </a:r>
          </a:p>
          <a:p>
            <a:pPr marL="144000" indent="-144000">
              <a:lnSpc>
                <a:spcPts val="1600"/>
              </a:lnSpc>
              <a:spcAft>
                <a:spcPts val="600"/>
              </a:spcAft>
              <a:buClr>
                <a:srgbClr val="45413B"/>
              </a:buClr>
              <a:buSzPts val="1100"/>
              <a:buFont typeface="Malgun Gothic"/>
              <a:buChar char="•"/>
            </a:pPr>
            <a:r>
              <a:rPr lang="ko-KR" altLang="en-US" sz="1100" dirty="0">
                <a:latin typeface="나눔스퀘어" panose="020B0600000101010101" pitchFamily="50" charset="-127"/>
                <a:ea typeface="나눔스퀘어" panose="020B0600000101010101" pitchFamily="50" charset="-127"/>
                <a:sym typeface="Malgun Gothic"/>
              </a:rPr>
              <a:t>분석 결과를 운영 업무에 활용해 발전 공정의 판단과 의사결정 지원</a:t>
            </a:r>
          </a:p>
        </p:txBody>
      </p:sp>
      <p:sp>
        <p:nvSpPr>
          <p:cNvPr id="370" name="Google Shape;370;p20">
            <a:extLst>
              <a:ext uri="{FF2B5EF4-FFF2-40B4-BE49-F238E27FC236}">
                <a16:creationId xmlns:a16="http://schemas.microsoft.com/office/drawing/2014/main" id="{365256C4-FCB5-623B-13E4-8A220EAE7920}"/>
              </a:ext>
            </a:extLst>
          </p:cNvPr>
          <p:cNvSpPr/>
          <p:nvPr/>
        </p:nvSpPr>
        <p:spPr>
          <a:xfrm>
            <a:off x="723093" y="5466060"/>
            <a:ext cx="563243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E8592A"/>
              </a:buClr>
              <a:buSzPts val="1100"/>
            </a:pPr>
            <a:r>
              <a:rPr lang="ko-KR" altLang="en-US" dirty="0">
                <a:solidFill>
                  <a:srgbClr val="F87D02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gun Gothic"/>
                <a:sym typeface="Malgun Gothic"/>
              </a:rPr>
              <a:t>효과</a:t>
            </a:r>
            <a:endParaRPr lang="ko-KR" altLang="en-US" dirty="0">
              <a:solidFill>
                <a:srgbClr val="F87D02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Calibri"/>
              <a:sym typeface="Calibri"/>
            </a:endParaRPr>
          </a:p>
        </p:txBody>
      </p:sp>
      <p:sp>
        <p:nvSpPr>
          <p:cNvPr id="371" name="Google Shape;371;p20">
            <a:extLst>
              <a:ext uri="{FF2B5EF4-FFF2-40B4-BE49-F238E27FC236}">
                <a16:creationId xmlns:a16="http://schemas.microsoft.com/office/drawing/2014/main" id="{2AB07409-BB5A-F3B3-C88C-812D544A9C08}"/>
              </a:ext>
            </a:extLst>
          </p:cNvPr>
          <p:cNvSpPr/>
          <p:nvPr/>
        </p:nvSpPr>
        <p:spPr>
          <a:xfrm>
            <a:off x="1679466" y="5460174"/>
            <a:ext cx="3132761" cy="4039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44000" indent="-144000">
              <a:spcAft>
                <a:spcPts val="600"/>
              </a:spcAft>
              <a:buClr>
                <a:srgbClr val="45413B"/>
              </a:buClr>
              <a:buSzPts val="1100"/>
              <a:buFont typeface="Malgun Gothic"/>
              <a:buChar char="•"/>
            </a:pPr>
            <a:r>
              <a:rPr lang="ko-KR" altLang="en-US" sz="1100" dirty="0">
                <a:latin typeface="나눔스퀘어" panose="020B0600000101010101" pitchFamily="50" charset="-127"/>
                <a:ea typeface="나눔스퀘어" panose="020B0600000101010101" pitchFamily="50" charset="-127"/>
                <a:sym typeface="Malgun Gothic"/>
              </a:rPr>
              <a:t>운영 정보 확인 시간 단축</a:t>
            </a:r>
            <a:endParaRPr lang="en-US" altLang="ko-KR" sz="1100" dirty="0">
              <a:latin typeface="나눔스퀘어" panose="020B0600000101010101" pitchFamily="50" charset="-127"/>
              <a:ea typeface="나눔스퀘어" panose="020B0600000101010101" pitchFamily="50" charset="-127"/>
              <a:sym typeface="Malgun Gothic"/>
            </a:endParaRPr>
          </a:p>
          <a:p>
            <a:pPr marL="144000" indent="-144000">
              <a:spcAft>
                <a:spcPts val="600"/>
              </a:spcAft>
              <a:buClr>
                <a:srgbClr val="45413B"/>
              </a:buClr>
              <a:buSzPts val="1100"/>
              <a:buFont typeface="Malgun Gothic"/>
              <a:buChar char="•"/>
            </a:pPr>
            <a:r>
              <a:rPr lang="ko-KR" altLang="en-US" sz="1100" dirty="0">
                <a:latin typeface="나눔스퀘어" panose="020B0600000101010101" pitchFamily="50" charset="-127"/>
                <a:ea typeface="나눔스퀘어" panose="020B0600000101010101" pitchFamily="50" charset="-127"/>
                <a:sym typeface="Malgun Gothic"/>
              </a:rPr>
              <a:t>발전 공정의 효율성과 안정성 강화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B0BE69E-BB77-B711-D26A-73445FF88B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316148F-D84E-47A3-B267-E08DF939B7C4}" type="slidenum">
              <a:rPr lang="ko-KR" altLang="en-US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pPr/>
              <a:t>25</a:t>
            </a:fld>
            <a:r>
              <a:rPr lang="en-US" altLang="ko-KR">
                <a:latin typeface="나눔스퀘어" panose="020B0600000101010101" pitchFamily="50" charset="-127"/>
                <a:ea typeface="나눔스퀘어" panose="020B0600000101010101" pitchFamily="50" charset="-127"/>
              </a:rPr>
              <a:t>/28</a:t>
            </a:r>
            <a:endParaRPr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D5ED4CA-07FE-73F1-7136-4EC8AE20D2B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02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58BBEC1-D3C2-B474-B1F9-4DAE2740A26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REFERENCE</a:t>
            </a:r>
            <a:endParaRPr lang="ko-KR" altLang="en-US" dirty="0"/>
          </a:p>
        </p:txBody>
      </p:sp>
      <p:sp>
        <p:nvSpPr>
          <p:cNvPr id="9" name="Google Shape;364;p20">
            <a:extLst>
              <a:ext uri="{FF2B5EF4-FFF2-40B4-BE49-F238E27FC236}">
                <a16:creationId xmlns:a16="http://schemas.microsoft.com/office/drawing/2014/main" id="{194B8822-54C4-3D97-5A0B-6B8A8C008A3E}"/>
              </a:ext>
            </a:extLst>
          </p:cNvPr>
          <p:cNvSpPr/>
          <p:nvPr/>
        </p:nvSpPr>
        <p:spPr>
          <a:xfrm>
            <a:off x="723094" y="2032741"/>
            <a:ext cx="563243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E8592A"/>
              </a:buClr>
              <a:buSzPts val="1100"/>
            </a:pPr>
            <a:r>
              <a:rPr lang="ko-KR" altLang="en-US" dirty="0">
                <a:solidFill>
                  <a:srgbClr val="F87D02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Calibri"/>
                <a:sym typeface="Malgun Gothic"/>
              </a:rPr>
              <a:t>고객사</a:t>
            </a:r>
            <a:endParaRPr lang="ko-KR" altLang="en-US" dirty="0">
              <a:solidFill>
                <a:srgbClr val="F87D02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Calibri"/>
              <a:sym typeface="Calibri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088C9FE1-49B6-8BCD-FA6F-F6CAC91062C4}"/>
              </a:ext>
            </a:extLst>
          </p:cNvPr>
          <p:cNvCxnSpPr/>
          <p:nvPr/>
        </p:nvCxnSpPr>
        <p:spPr>
          <a:xfrm>
            <a:off x="460516" y="2585352"/>
            <a:ext cx="4890877" cy="0"/>
          </a:xfrm>
          <a:prstGeom prst="line">
            <a:avLst/>
          </a:prstGeom>
          <a:ln w="3175">
            <a:solidFill>
              <a:schemeClr val="bg1">
                <a:lumMod val="65000"/>
                <a:alpha val="70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F94ACDB-96EC-D966-D43C-29BFFA36AF80}"/>
              </a:ext>
            </a:extLst>
          </p:cNvPr>
          <p:cNvCxnSpPr/>
          <p:nvPr/>
        </p:nvCxnSpPr>
        <p:spPr>
          <a:xfrm>
            <a:off x="498618" y="3471113"/>
            <a:ext cx="4890877" cy="0"/>
          </a:xfrm>
          <a:prstGeom prst="line">
            <a:avLst/>
          </a:prstGeom>
          <a:ln w="3175">
            <a:solidFill>
              <a:schemeClr val="bg1">
                <a:lumMod val="65000"/>
                <a:alpha val="70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78CA8D15-AFA9-04DA-12D1-E0F9260C0A3A}"/>
              </a:ext>
            </a:extLst>
          </p:cNvPr>
          <p:cNvCxnSpPr/>
          <p:nvPr/>
        </p:nvCxnSpPr>
        <p:spPr>
          <a:xfrm>
            <a:off x="460516" y="5242635"/>
            <a:ext cx="4890877" cy="0"/>
          </a:xfrm>
          <a:prstGeom prst="line">
            <a:avLst/>
          </a:prstGeom>
          <a:ln w="3175">
            <a:solidFill>
              <a:schemeClr val="bg1">
                <a:lumMod val="65000"/>
                <a:alpha val="70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64AB6CB2-B6D0-840C-5C1F-4BB6CCA00AA1}"/>
              </a:ext>
            </a:extLst>
          </p:cNvPr>
          <p:cNvSpPr/>
          <p:nvPr/>
        </p:nvSpPr>
        <p:spPr>
          <a:xfrm>
            <a:off x="5389495" y="1913249"/>
            <a:ext cx="3751240" cy="4001488"/>
          </a:xfrm>
          <a:prstGeom prst="roundRect">
            <a:avLst>
              <a:gd name="adj" fmla="val 1896"/>
            </a:avLst>
          </a:prstGeom>
          <a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80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  <a:ln w="3175">
            <a:noFill/>
          </a:ln>
          <a:effectLst>
            <a:outerShdw blurRad="1651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A6DC2170-17C2-2401-AA95-AF55D08769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2747" y="2062115"/>
            <a:ext cx="1451165" cy="165847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8FD361D8-81D3-29AC-A650-3DB7F4BEB8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79466" y="2008184"/>
            <a:ext cx="1297198" cy="234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7964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614"/>
        </a:solidFill>
        <a:effectLst/>
      </p:bgPr>
    </p:bg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24"/>
          <p:cNvSpPr/>
          <p:nvPr/>
        </p:nvSpPr>
        <p:spPr>
          <a:xfrm>
            <a:off x="629853" y="2682572"/>
            <a:ext cx="7200900" cy="11709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300"/>
              </a:lnSpc>
            </a:pPr>
            <a:r>
              <a:rPr lang="en-US" altLang="ko-KR" sz="3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D8204"/>
                </a:solidFill>
                <a:latin typeface="나눔스퀘어 ExtraBold" panose="020B0600000101010101" pitchFamily="34" charset="-127"/>
                <a:ea typeface="나눔스퀘어 ExtraBold" panose="020B0600000101010101" pitchFamily="34" charset="-127"/>
                <a:sym typeface="Malgun Gothic"/>
              </a:rPr>
              <a:t>Agent-X</a:t>
            </a:r>
            <a:r>
              <a:rPr lang="ko-KR" altLang="en-US" sz="3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스퀘어 ExtraBold" panose="020B0600000101010101" pitchFamily="34" charset="-127"/>
                <a:ea typeface="나눔스퀘어 ExtraBold" panose="020B0600000101010101" pitchFamily="34" charset="-127"/>
                <a:sym typeface="Malgun Gothic"/>
              </a:rPr>
              <a:t>와 함께</a:t>
            </a:r>
            <a:r>
              <a:rPr lang="en-US" altLang="ko-KR" sz="3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스퀘어 ExtraBold" panose="020B0600000101010101" pitchFamily="34" charset="-127"/>
                <a:ea typeface="나눔스퀘어 ExtraBold" panose="020B0600000101010101" pitchFamily="34" charset="-127"/>
                <a:sym typeface="Malgun Gothic"/>
              </a:rPr>
              <a:t>, </a:t>
            </a:r>
          </a:p>
          <a:p>
            <a:pPr>
              <a:lnSpc>
                <a:spcPts val="4300"/>
              </a:lnSpc>
            </a:pPr>
            <a:r>
              <a:rPr lang="ko-KR" altLang="en-US" sz="3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스퀘어 ExtraBold" panose="020B0600000101010101" pitchFamily="34" charset="-127"/>
                <a:ea typeface="나눔스퀘어 ExtraBold" panose="020B0600000101010101" pitchFamily="34" charset="-127"/>
                <a:sym typeface="Malgun Gothic"/>
              </a:rPr>
              <a:t>의사결정을</a:t>
            </a:r>
            <a:r>
              <a:rPr lang="en-US" altLang="ko-KR" sz="3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스퀘어 ExtraBold" panose="020B0600000101010101" pitchFamily="34" charset="-127"/>
                <a:ea typeface="나눔스퀘어 ExtraBold" panose="020B0600000101010101" pitchFamily="34" charset="-127"/>
                <a:sym typeface="Calibri"/>
              </a:rPr>
              <a:t> </a:t>
            </a:r>
            <a:r>
              <a:rPr lang="ko-KR" altLang="en-US" sz="3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스퀘어 ExtraBold" panose="020B0600000101010101" pitchFamily="34" charset="-127"/>
                <a:ea typeface="나눔스퀘어 ExtraBold" panose="020B0600000101010101" pitchFamily="34" charset="-127"/>
                <a:sym typeface="Malgun Gothic"/>
              </a:rPr>
              <a:t>더 빠르고 정확하게</a:t>
            </a:r>
            <a:endParaRPr lang="ko-KR" altLang="en-US" sz="32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나눔스퀘어 ExtraBold" panose="020B0600000101010101" pitchFamily="34" charset="-127"/>
              <a:ea typeface="나눔스퀘어 ExtraBold" panose="020B0600000101010101" pitchFamily="34" charset="-127"/>
              <a:sym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E92EAE-8611-C362-528C-03B23DE6BE25}"/>
              </a:ext>
            </a:extLst>
          </p:cNvPr>
          <p:cNvSpPr txBox="1"/>
          <p:nvPr/>
        </p:nvSpPr>
        <p:spPr>
          <a:xfrm>
            <a:off x="629853" y="4690039"/>
            <a:ext cx="4180686" cy="583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</a:pPr>
            <a:r>
              <a:rPr lang="en-US" altLang="ko-KR" sz="10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Home: www.konantech.com </a:t>
            </a:r>
          </a:p>
          <a:p>
            <a:pPr>
              <a:lnSpc>
                <a:spcPts val="2000"/>
              </a:lnSpc>
            </a:pPr>
            <a:r>
              <a:rPr lang="en-US" altLang="ko-KR" sz="10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Mail: konan@konantech.com   </a:t>
            </a:r>
            <a:r>
              <a:rPr lang="ko-KR" altLang="en-US" sz="10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｜ </a:t>
            </a:r>
            <a:r>
              <a:rPr lang="en-US" altLang="ko-KR" sz="10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Tel: 1533-1614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0467CE0-9CA5-1A81-CC61-627D44FD67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316148F-D84E-47A3-B267-E08DF939B7C4}" type="slidenum">
              <a:rPr lang="ko-KR" altLang="en-US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pPr/>
              <a:t>12</a:t>
            </a:fld>
            <a:r>
              <a:rPr lang="en-US" altLang="ko-KR">
                <a:latin typeface="나눔스퀘어" panose="020B0600000101010101" pitchFamily="50" charset="-127"/>
                <a:ea typeface="나눔스퀘어" panose="020B0600000101010101" pitchFamily="50" charset="-127"/>
              </a:rPr>
              <a:t>/28</a:t>
            </a:r>
            <a:endParaRPr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" name="Title"/>
          <p:cNvSpPr txBox="1"/>
          <p:nvPr/>
        </p:nvSpPr>
        <p:spPr>
          <a:xfrm>
            <a:off x="448056" y="777240"/>
            <a:ext cx="8961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1">
                <a:solidFill>
                  <a:srgbClr val="1A1714"/>
                </a:solidFill>
                <a:latin typeface="나눔스퀘어 ExtraBold"/>
                <a:ea typeface="나눔스퀘어 ExtraBold"/>
              </a:rPr>
              <a:t>5대 엔지니어링 자산을 메타DB와 AI 질의응답으로 연결합니다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448056" y="1298448"/>
            <a:ext cx="8961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3A362F"/>
                </a:solidFill>
                <a:latin typeface="나눔스퀘어"/>
                <a:ea typeface="나눔스퀘어"/>
              </a:rPr>
              <a:t>흩어진 PDS·MDS·계장 문서·Lesson Learned를 MSSQL 메타DB로 구조화하고, 폐쇄망 GPU 위의 오픈소스 AI가 정확한 수치와 과거 교훈을 함께 답합니다.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01168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D8204"/>
                </a:solidFill>
                <a:latin typeface="나눔스퀘어 ExtraBold"/>
                <a:ea typeface="나눔스퀘어 ExtraBold"/>
              </a:rPr>
              <a:t>원천 산출물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377440"/>
            <a:ext cx="2971800" cy="6035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52400" algn="ctr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85800" y="246888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A1714"/>
                </a:solidFill>
                <a:latin typeface="나눔스퀘어 ExtraBold"/>
                <a:ea typeface="나눔스퀘어 ExtraBold"/>
              </a:rPr>
              <a:t>PDS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1576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867E"/>
                </a:solidFill>
                <a:latin typeface="나눔스퀘어"/>
                <a:ea typeface="나눔스퀘어"/>
              </a:rPr>
              <a:t>Excel · PDF — 운전/설계 조건, 조성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108960"/>
            <a:ext cx="2971800" cy="6035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52400" algn="ctr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85800" y="320040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A1714"/>
                </a:solidFill>
                <a:latin typeface="나눔스퀘어 ExtraBold"/>
                <a:ea typeface="나눔스퀘어 ExtraBold"/>
              </a:rPr>
              <a:t>MDS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44728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867E"/>
                </a:solidFill>
                <a:latin typeface="나눔스퀘어"/>
                <a:ea typeface="나눔스퀘어"/>
              </a:rPr>
              <a:t>Excel · Word — 설계 P/T, 재질, 노즐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840480"/>
            <a:ext cx="2971800" cy="6035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52400" algn="ctr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85800" y="393192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A1714"/>
                </a:solidFill>
                <a:latin typeface="나눔스퀘어 ExtraBold"/>
                <a:ea typeface="나눔스퀘어 ExtraBold"/>
              </a:rPr>
              <a:t>Instrument Index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17880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867E"/>
                </a:solidFill>
                <a:latin typeface="나눔스퀘어"/>
                <a:ea typeface="나눔스퀘어"/>
              </a:rPr>
              <a:t>Excel — Tag, Loop, I/O, P&amp;ID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572000"/>
            <a:ext cx="2971800" cy="6035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52400" algn="ctr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85800" y="46634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A1714"/>
                </a:solidFill>
                <a:latin typeface="나눔스퀘어 ExtraBold"/>
                <a:ea typeface="나눔스퀘어 ExtraBold"/>
              </a:rPr>
              <a:t>Instrument Datasheet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9103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867E"/>
                </a:solidFill>
                <a:latin typeface="나눔스퀘어"/>
                <a:ea typeface="나눔스퀘어"/>
              </a:rPr>
              <a:t>Excel · Form PDF — Range, Cv, 방폭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303520"/>
            <a:ext cx="2971800" cy="6035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52400" algn="ctr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85800" y="5394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A1714"/>
                </a:solidFill>
                <a:latin typeface="나눔스퀘어 ExtraBold"/>
                <a:ea typeface="나눔스퀘어 ExtraBold"/>
              </a:rPr>
              <a:t>Lesson Learned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64184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867E"/>
                </a:solidFill>
                <a:latin typeface="나눔스퀘어"/>
                <a:ea typeface="나눔스퀘어"/>
              </a:rPr>
              <a:t>Excel · Word · Report — 이슈, 원인, 대책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520440" y="2679192"/>
            <a:ext cx="411480" cy="1463040"/>
          </a:xfrm>
          <a:prstGeom prst="line">
            <a:avLst/>
          </a:prstGeom>
          <a:ln w="12700">
            <a:solidFill>
              <a:srgbClr val="F8AF6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520440" y="3410712"/>
            <a:ext cx="411480" cy="731520"/>
          </a:xfrm>
          <a:prstGeom prst="line">
            <a:avLst/>
          </a:prstGeom>
          <a:ln w="12700">
            <a:solidFill>
              <a:srgbClr val="F8AF6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520440" y="4142232"/>
            <a:ext cx="411480" cy="0"/>
          </a:xfrm>
          <a:prstGeom prst="line">
            <a:avLst/>
          </a:prstGeom>
          <a:ln w="12700">
            <a:solidFill>
              <a:srgbClr val="F8AF6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3520440" y="4142232"/>
            <a:ext cx="411480" cy="731520"/>
          </a:xfrm>
          <a:prstGeom prst="line">
            <a:avLst/>
          </a:prstGeom>
          <a:ln w="12700">
            <a:solidFill>
              <a:srgbClr val="F8AF6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3520440" y="4142232"/>
            <a:ext cx="411480" cy="1463040"/>
          </a:xfrm>
          <a:prstGeom prst="line">
            <a:avLst/>
          </a:prstGeom>
          <a:ln w="12700">
            <a:solidFill>
              <a:srgbClr val="F8AF6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3977639" y="2377440"/>
            <a:ext cx="2377440" cy="3529584"/>
          </a:xfrm>
          <a:prstGeom prst="roundRect">
            <a:avLst>
              <a:gd name="adj" fmla="val 6000"/>
            </a:avLst>
          </a:prstGeom>
          <a:solidFill>
            <a:srgbClr val="2A2622"/>
          </a:solidFill>
          <a:ln>
            <a:noFill/>
          </a:ln>
          <a:effectLst>
            <a:outerShdw blurRad="152400" algn="ctr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4892040" y="2606040"/>
            <a:ext cx="548640" cy="548640"/>
          </a:xfrm>
          <a:prstGeom prst="ellipse">
            <a:avLst/>
          </a:prstGeom>
          <a:solidFill>
            <a:srgbClr val="FDE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9" name="Picture 28" descr="FaDatabase_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4686" y="2748686"/>
            <a:ext cx="263347" cy="263347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4114800" y="3291840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나눔스퀘어 ExtraBold"/>
                <a:ea typeface="나눔스퀘어 ExtraBold"/>
              </a:rPr>
              <a:t>MSSQL 메타DB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3749039"/>
            <a:ext cx="20116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15000"/>
              </a:lnSpc>
              <a:spcAft>
                <a:spcPts val="400"/>
              </a:spcAft>
              <a:buClr>
                <a:srgbClr val="FD8204"/>
              </a:buClr>
              <a:buChar char="•"/>
            </a:pPr>
            <a:r>
              <a:rPr sz="1050" b="0">
                <a:solidFill>
                  <a:srgbClr val="E7E4DE"/>
                </a:solidFill>
                <a:latin typeface="나눔스퀘어"/>
                <a:ea typeface="나눔스퀘어"/>
              </a:rPr>
              <a:t>스마트 파서 · ETL</a:t>
            </a:r>
          </a:p>
          <a:p>
            <a:pPr algn="l" marL="146304" indent="-146304">
              <a:lnSpc>
                <a:spcPct val="115000"/>
              </a:lnSpc>
              <a:spcAft>
                <a:spcPts val="400"/>
              </a:spcAft>
              <a:buClr>
                <a:srgbClr val="FD8204"/>
              </a:buClr>
              <a:buChar char="•"/>
            </a:pPr>
            <a:r>
              <a:rPr sz="1050" b="0">
                <a:solidFill>
                  <a:srgbClr val="E7E4DE"/>
                </a:solidFill>
                <a:latin typeface="나눔스퀘어"/>
                <a:ea typeface="나눔스퀘어"/>
              </a:rPr>
              <a:t>Tag/Equipment 공통 마스터</a:t>
            </a:r>
          </a:p>
          <a:p>
            <a:pPr algn="l" marL="146304" indent="-146304">
              <a:lnSpc>
                <a:spcPct val="115000"/>
              </a:lnSpc>
              <a:spcAft>
                <a:spcPts val="400"/>
              </a:spcAft>
              <a:buClr>
                <a:srgbClr val="FD8204"/>
              </a:buClr>
              <a:buChar char="•"/>
            </a:pPr>
            <a:r>
              <a:rPr sz="1050" b="0">
                <a:solidFill>
                  <a:srgbClr val="E7E4DE"/>
                </a:solidFill>
                <a:latin typeface="나눔스퀘어"/>
                <a:ea typeface="나눔스퀘어"/>
              </a:rPr>
              <a:t>교차 정합성 검증</a:t>
            </a:r>
          </a:p>
          <a:p>
            <a:pPr algn="l" marL="146304" indent="-146304">
              <a:lnSpc>
                <a:spcPct val="115000"/>
              </a:lnSpc>
              <a:spcAft>
                <a:spcPts val="400"/>
              </a:spcAft>
              <a:buClr>
                <a:srgbClr val="FD8204"/>
              </a:buClr>
              <a:buChar char="•"/>
            </a:pPr>
            <a:r>
              <a:rPr sz="1050" b="0">
                <a:solidFill>
                  <a:srgbClr val="E7E4DE"/>
                </a:solidFill>
                <a:latin typeface="나눔스퀘어"/>
                <a:ea typeface="나눔스퀘어"/>
              </a:rPr>
              <a:t>검증자 예외 처리</a:t>
            </a:r>
          </a:p>
          <a:p>
            <a:pPr algn="l" marL="146304" indent="-146304">
              <a:lnSpc>
                <a:spcPct val="115000"/>
              </a:lnSpc>
              <a:spcAft>
                <a:spcPts val="400"/>
              </a:spcAft>
              <a:buClr>
                <a:srgbClr val="FD8204"/>
              </a:buClr>
              <a:buChar char="•"/>
            </a:pPr>
            <a:r>
              <a:rPr sz="1050" b="0">
                <a:solidFill>
                  <a:srgbClr val="E7E4DE"/>
                </a:solidFill>
                <a:latin typeface="나눔스퀘어"/>
                <a:ea typeface="나눔스퀘어"/>
              </a:rPr>
              <a:t>원천 위치(시트·행) 보존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400800" y="4142232"/>
            <a:ext cx="411480" cy="0"/>
          </a:xfrm>
          <a:prstGeom prst="line">
            <a:avLst/>
          </a:prstGeom>
          <a:ln w="19050">
            <a:solidFill>
              <a:srgbClr val="FD820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858000" y="2377440"/>
            <a:ext cx="2560320" cy="35295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52400" algn="ctr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040880" y="254203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A1714"/>
                </a:solidFill>
                <a:latin typeface="나눔스퀘어 ExtraBold"/>
                <a:ea typeface="나눔스퀘어 ExtraBold"/>
              </a:rPr>
              <a:t>하이브리드 RAG 포털</a:t>
            </a:r>
          </a:p>
        </p:txBody>
      </p:sp>
      <p:sp>
        <p:nvSpPr>
          <p:cNvPr id="35" name="Oval 34"/>
          <p:cNvSpPr/>
          <p:nvPr/>
        </p:nvSpPr>
        <p:spPr>
          <a:xfrm>
            <a:off x="7040880" y="2971800"/>
            <a:ext cx="457200" cy="457200"/>
          </a:xfrm>
          <a:prstGeom prst="ellipse">
            <a:avLst/>
          </a:prstGeom>
          <a:solidFill>
            <a:srgbClr val="FDE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6" name="Picture 35" descr="FaCalculator_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9752" y="3090672"/>
            <a:ext cx="219456" cy="219456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7607808" y="2971800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1A1714"/>
                </a:solidFill>
                <a:latin typeface="나눔스퀘어 ExtraBold"/>
                <a:ea typeface="나눔스퀘어 ExtraBold"/>
              </a:rPr>
              <a:t>정량 스펙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07808" y="3218688"/>
            <a:ext cx="1783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3A362F"/>
                </a:solidFill>
                <a:latin typeface="나눔스퀘어"/>
                <a:ea typeface="나눔스퀘어"/>
              </a:rPr>
              <a:t>Text-to-SQL로 DB 원값 조회</a:t>
            </a:r>
          </a:p>
        </p:txBody>
      </p:sp>
      <p:sp>
        <p:nvSpPr>
          <p:cNvPr id="39" name="Oval 38"/>
          <p:cNvSpPr/>
          <p:nvPr/>
        </p:nvSpPr>
        <p:spPr>
          <a:xfrm>
            <a:off x="7040880" y="3886200"/>
            <a:ext cx="457200" cy="457200"/>
          </a:xfrm>
          <a:prstGeom prst="ellipse">
            <a:avLst/>
          </a:prstGeom>
          <a:solidFill>
            <a:srgbClr val="FDE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0" name="Picture 39" descr="FaSearch_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9752" y="4005072"/>
            <a:ext cx="219456" cy="219456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7607808" y="3886200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1A1714"/>
                </a:solidFill>
                <a:latin typeface="나눔스퀘어 ExtraBold"/>
                <a:ea typeface="나눔스퀘어 ExtraBold"/>
              </a:rPr>
              <a:t>과거 교훈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07808" y="4133087"/>
            <a:ext cx="1783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3A362F"/>
                </a:solidFill>
                <a:latin typeface="나눔스퀘어"/>
                <a:ea typeface="나눔스퀘어"/>
              </a:rPr>
              <a:t>L/L·시방서 벡터 검색</a:t>
            </a:r>
          </a:p>
        </p:txBody>
      </p:sp>
      <p:sp>
        <p:nvSpPr>
          <p:cNvPr id="43" name="Oval 42"/>
          <p:cNvSpPr/>
          <p:nvPr/>
        </p:nvSpPr>
        <p:spPr>
          <a:xfrm>
            <a:off x="7040880" y="4800600"/>
            <a:ext cx="457200" cy="457200"/>
          </a:xfrm>
          <a:prstGeom prst="ellipse">
            <a:avLst/>
          </a:prstGeom>
          <a:solidFill>
            <a:srgbClr val="FDE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4" name="Picture 43" descr="FaMapMarkerAlt_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9752" y="4919472"/>
            <a:ext cx="219456" cy="219456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7607808" y="4800600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1A1714"/>
                </a:solidFill>
                <a:latin typeface="나눔스퀘어 ExtraBold"/>
                <a:ea typeface="나눔스퀘어 ExtraBold"/>
              </a:rPr>
              <a:t>근거 위치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07808" y="5047488"/>
            <a:ext cx="1783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3A362F"/>
                </a:solidFill>
                <a:latin typeface="나눔스퀘어"/>
                <a:ea typeface="나눔스퀘어"/>
              </a:rPr>
              <a:t>파일·시트·행 링크 제시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0467CE0-9CA5-1A81-CC61-627D44FD67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316148F-D84E-47A3-B267-E08DF939B7C4}" type="slidenum">
              <a:rPr lang="ko-KR" altLang="en-US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pPr/>
              <a:t>12</a:t>
            </a:fld>
            <a:r>
              <a:rPr lang="en-US" altLang="ko-KR">
                <a:latin typeface="나눔스퀘어" panose="020B0600000101010101" pitchFamily="50" charset="-127"/>
                <a:ea typeface="나눔스퀘어" panose="020B0600000101010101" pitchFamily="50" charset="-127"/>
              </a:rPr>
              <a:t>/28</a:t>
            </a:r>
            <a:endParaRPr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" name="Title"/>
          <p:cNvSpPr txBox="1"/>
          <p:nvPr/>
        </p:nvSpPr>
        <p:spPr>
          <a:xfrm>
            <a:off x="448056" y="777240"/>
            <a:ext cx="8961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1">
                <a:solidFill>
                  <a:srgbClr val="1A1714"/>
                </a:solidFill>
                <a:latin typeface="나눔스퀘어 ExtraBold"/>
                <a:ea typeface="나눔스퀘어 ExtraBold"/>
              </a:rPr>
              <a:t>네 가지 핵심 과제와 해결 방향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448056" y="1298448"/>
            <a:ext cx="8961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3A362F"/>
                </a:solidFill>
                <a:latin typeface="나눔스퀘어"/>
                <a:ea typeface="나눔스퀘어"/>
              </a:rPr>
              <a:t>엔지니어링 데이터의 특성과 폐쇄망 환경에서 오는 과제를, 검증된 플랫폼 기능과 맞춤 개발의 조합으로 해결합니다.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057400"/>
            <a:ext cx="429768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52400" algn="ctr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31520" y="2286000"/>
            <a:ext cx="502920" cy="502920"/>
          </a:xfrm>
          <a:prstGeom prst="ellipse">
            <a:avLst/>
          </a:prstGeom>
          <a:solidFill>
            <a:srgbClr val="FDE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FaFileExcel_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279" y="2416759"/>
            <a:ext cx="241401" cy="24140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71600" y="231343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A1714"/>
                </a:solidFill>
                <a:latin typeface="나눔스퀘어 ExtraBold"/>
                <a:ea typeface="나눔스퀘어 ExtraBold"/>
              </a:rPr>
              <a:t>제각각인 문서 서식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62432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8A867E"/>
                </a:solidFill>
                <a:latin typeface="나눔스퀘어"/>
                <a:ea typeface="나눔스퀘어"/>
              </a:rPr>
              <a:t>프로젝트마다 다른 병합셀·다단 헤더·PDF 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044952"/>
            <a:ext cx="3840480" cy="685800"/>
          </a:xfrm>
          <a:prstGeom prst="roundRect">
            <a:avLst>
              <a:gd name="adj" fmla="val 12000"/>
            </a:avLst>
          </a:prstGeom>
          <a:solidFill>
            <a:srgbClr val="FDE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86968" y="3090672"/>
            <a:ext cx="4572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592A"/>
                </a:solidFill>
                <a:latin typeface="나눔스퀘어 ExtraBold"/>
                <a:ea typeface="나눔스퀘어 ExtraBold"/>
              </a:rPr>
              <a:t>해결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090672"/>
            <a:ext cx="31089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A1714"/>
                </a:solidFill>
                <a:latin typeface="나눔스퀘어"/>
                <a:ea typeface="나눔스퀘어"/>
              </a:rPr>
              <a:t>서식 매핑 규칙 기반 스마트 파서 + 도메인 검증자 예외 처리 UI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01768" y="2057400"/>
            <a:ext cx="429768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52400" algn="ctr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5230368" y="2286000"/>
            <a:ext cx="502920" cy="502920"/>
          </a:xfrm>
          <a:prstGeom prst="ellipse">
            <a:avLst/>
          </a:prstGeom>
          <a:solidFill>
            <a:srgbClr val="FDE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FaProjectDiagram_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1127" y="2416759"/>
            <a:ext cx="241401" cy="24140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870448" y="231343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A1714"/>
                </a:solidFill>
                <a:latin typeface="나눔스퀘어 ExtraBold"/>
                <a:ea typeface="나눔스퀘어 ExtraBold"/>
              </a:rPr>
              <a:t>산출물 간 불일치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70448" y="262432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8A867E"/>
                </a:solidFill>
                <a:latin typeface="나눔스퀘어"/>
                <a:ea typeface="나눔스퀘어"/>
              </a:rPr>
              <a:t>PDS ↔ MDS, Index ↔ Datasheet·P&amp;ID 간 값 차이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30368" y="3044952"/>
            <a:ext cx="3840480" cy="685800"/>
          </a:xfrm>
          <a:prstGeom prst="roundRect">
            <a:avLst>
              <a:gd name="adj" fmla="val 12000"/>
            </a:avLst>
          </a:prstGeom>
          <a:solidFill>
            <a:srgbClr val="FDE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385816" y="3090672"/>
            <a:ext cx="4572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592A"/>
                </a:solidFill>
                <a:latin typeface="나눔스퀘어 ExtraBold"/>
                <a:ea typeface="나눔스퀘어 ExtraBold"/>
              </a:rPr>
              <a:t>해결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70448" y="3090672"/>
            <a:ext cx="31089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A1714"/>
                </a:solidFill>
                <a:latin typeface="나눔스퀘어"/>
                <a:ea typeface="나눔스퀘어"/>
              </a:rPr>
              <a:t>Tag/Equipment 공통 마스터 + TFT 정의 교차 정합성 룰 엔진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160520"/>
            <a:ext cx="429768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52400" algn="ctr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731520" y="4389120"/>
            <a:ext cx="502920" cy="502920"/>
          </a:xfrm>
          <a:prstGeom prst="ellipse">
            <a:avLst/>
          </a:prstGeom>
          <a:solidFill>
            <a:srgbClr val="FDE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" name="Picture 23" descr="FaCalculator_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279" y="4519879"/>
            <a:ext cx="241401" cy="241401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371600" y="441655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A1714"/>
                </a:solidFill>
                <a:latin typeface="나눔스퀘어 ExtraBold"/>
                <a:ea typeface="나눔스퀘어 ExtraBold"/>
              </a:rPr>
              <a:t>수치 답변의 정확성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72744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8A867E"/>
                </a:solidFill>
                <a:latin typeface="나눔스퀘어"/>
                <a:ea typeface="나눔스퀘어"/>
              </a:rPr>
              <a:t>온도·압력·유량·재질은 틀리면 안 되는 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148072"/>
            <a:ext cx="3840480" cy="685800"/>
          </a:xfrm>
          <a:prstGeom prst="roundRect">
            <a:avLst>
              <a:gd name="adj" fmla="val 12000"/>
            </a:avLst>
          </a:prstGeom>
          <a:solidFill>
            <a:srgbClr val="FDE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86968" y="5193792"/>
            <a:ext cx="4572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592A"/>
                </a:solidFill>
                <a:latin typeface="나눔스퀘어 ExtraBold"/>
                <a:ea typeface="나눔스퀘어 ExtraBold"/>
              </a:rPr>
              <a:t>해결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5193792"/>
            <a:ext cx="31089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A1714"/>
                </a:solidFill>
                <a:latin typeface="나눔스퀘어"/>
                <a:ea typeface="나눔스퀘어"/>
              </a:rPr>
              <a:t>Text-to-SQL로 DB 원값 조회 + 답변 수치 대조 가드레일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01768" y="4160520"/>
            <a:ext cx="429768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52400" algn="ctr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5230368" y="4389120"/>
            <a:ext cx="502920" cy="502920"/>
          </a:xfrm>
          <a:prstGeom prst="ellipse">
            <a:avLst/>
          </a:prstGeom>
          <a:solidFill>
            <a:srgbClr val="FDE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2" name="Picture 31" descr="FaMicrochip_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1127" y="4519879"/>
            <a:ext cx="241401" cy="241401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870448" y="441655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A1714"/>
                </a:solidFill>
                <a:latin typeface="나눔스퀘어 ExtraBold"/>
                <a:ea typeface="나눔스퀘어 ExtraBold"/>
              </a:rPr>
              <a:t>폐쇄망 · 한정된 GPU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70448" y="472744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8A867E"/>
                </a:solidFill>
                <a:latin typeface="나눔스퀘어"/>
                <a:ea typeface="나눔스퀘어"/>
              </a:rPr>
              <a:t>외부 클라우드 불가, L40S 2장(96GB)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230368" y="5148072"/>
            <a:ext cx="3840480" cy="685800"/>
          </a:xfrm>
          <a:prstGeom prst="roundRect">
            <a:avLst>
              <a:gd name="adj" fmla="val 12000"/>
            </a:avLst>
          </a:prstGeom>
          <a:solidFill>
            <a:srgbClr val="FDE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5385816" y="5193792"/>
            <a:ext cx="4572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592A"/>
                </a:solidFill>
                <a:latin typeface="나눔스퀘어 ExtraBold"/>
                <a:ea typeface="나눔스퀘어 ExtraBold"/>
              </a:rPr>
              <a:t>해결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70448" y="5193792"/>
            <a:ext cx="31089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A1714"/>
                </a:solidFill>
                <a:latin typeface="나눔스퀘어"/>
                <a:ea typeface="나눔스퀘어"/>
              </a:rPr>
              <a:t>vLLM 양자화 서빙 + GPU 파티셔닝, 100% 온프레미스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0467CE0-9CA5-1A81-CC61-627D44FD67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316148F-D84E-47A3-B267-E08DF939B7C4}" type="slidenum">
              <a:rPr lang="ko-KR" altLang="en-US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pPr/>
              <a:t>12</a:t>
            </a:fld>
            <a:r>
              <a:rPr lang="en-US" altLang="ko-KR">
                <a:latin typeface="나눔스퀘어" panose="020B0600000101010101" pitchFamily="50" charset="-127"/>
                <a:ea typeface="나눔스퀘어" panose="020B0600000101010101" pitchFamily="50" charset="-127"/>
              </a:rPr>
              <a:t>/28</a:t>
            </a:r>
            <a:endParaRPr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" name="Title"/>
          <p:cNvSpPr txBox="1"/>
          <p:nvPr/>
        </p:nvSpPr>
        <p:spPr>
          <a:xfrm>
            <a:off x="448056" y="777240"/>
            <a:ext cx="8961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1">
                <a:solidFill>
                  <a:srgbClr val="1A1714"/>
                </a:solidFill>
                <a:latin typeface="나눔스퀘어 ExtraBold"/>
                <a:ea typeface="나눔스퀘어 ExtraBold"/>
              </a:rPr>
              <a:t>목표 아키텍처 — Agent-X 위에 엔지니어링 데이터 계층을 더합니다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448056" y="1298448"/>
            <a:ext cx="8961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3A362F"/>
                </a:solidFill>
                <a:latin typeface="나눔스퀘어"/>
                <a:ea typeface="나눔스퀘어"/>
              </a:rPr>
              <a:t>AI 서비스와 운영 체계는 검증된 Agent-X로, 파서·메타DB·정합성·화면은 당사 도메인에 맞춰 개발합니다.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65960"/>
            <a:ext cx="1188720" cy="841248"/>
          </a:xfrm>
          <a:prstGeom prst="roundRect">
            <a:avLst>
              <a:gd name="adj" fmla="val 6000"/>
            </a:avLst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02920" y="1965960"/>
            <a:ext cx="109728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나눔스퀘어 ExtraBold"/>
                <a:ea typeface="나눔스퀘어 ExtraBold"/>
              </a:rPr>
              <a:t>사용자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55648" y="1965960"/>
            <a:ext cx="1581912" cy="841248"/>
          </a:xfrm>
          <a:prstGeom prst="roundRect">
            <a:avLst>
              <a:gd name="adj" fmla="val 6000"/>
            </a:avLst>
          </a:prstGeom>
          <a:solidFill>
            <a:srgbClr val="FDEBD9"/>
          </a:solidFill>
          <a:ln w="9525">
            <a:solidFill>
              <a:srgbClr val="F8AF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810512" y="1965960"/>
            <a:ext cx="1472184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1A1714"/>
                </a:solidFill>
                <a:latin typeface="나눔스퀘어"/>
                <a:ea typeface="나눔스퀘어"/>
              </a:rPr>
              <a:t>엔지니어 질의응답 포털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965960"/>
            <a:ext cx="1581912" cy="841248"/>
          </a:xfrm>
          <a:prstGeom prst="roundRect">
            <a:avLst>
              <a:gd name="adj" fmla="val 6000"/>
            </a:avLst>
          </a:prstGeom>
          <a:solidFill>
            <a:srgbClr val="F5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483864" y="1965960"/>
            <a:ext cx="1472184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1A1714"/>
                </a:solidFill>
                <a:latin typeface="나눔스퀘어"/>
                <a:ea typeface="나눔스퀘어"/>
              </a:rPr>
              <a:t>메타DB 검색·조회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02352" y="1965960"/>
            <a:ext cx="1581912" cy="841248"/>
          </a:xfrm>
          <a:prstGeom prst="roundRect">
            <a:avLst>
              <a:gd name="adj" fmla="val 6000"/>
            </a:avLst>
          </a:prstGeom>
          <a:solidFill>
            <a:srgbClr val="F5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157216" y="1965960"/>
            <a:ext cx="1472184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1A1714"/>
                </a:solidFill>
                <a:latin typeface="나눔스퀘어"/>
                <a:ea typeface="나눔스퀘어"/>
              </a:rPr>
              <a:t>검증자 예외 처리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75704" y="1965960"/>
            <a:ext cx="1581912" cy="841248"/>
          </a:xfrm>
          <a:prstGeom prst="roundRect">
            <a:avLst>
              <a:gd name="adj" fmla="val 6000"/>
            </a:avLst>
          </a:prstGeom>
          <a:solidFill>
            <a:srgbClr val="FDEBD9"/>
          </a:solidFill>
          <a:ln w="9525">
            <a:solidFill>
              <a:srgbClr val="F8AF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830568" y="1965960"/>
            <a:ext cx="1472184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1A1714"/>
                </a:solidFill>
                <a:latin typeface="나눔스퀘어"/>
                <a:ea typeface="나눔스퀘어"/>
              </a:rPr>
              <a:t>관리자 운영 콘솔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953512"/>
            <a:ext cx="1188720" cy="841248"/>
          </a:xfrm>
          <a:prstGeom prst="roundRect">
            <a:avLst>
              <a:gd name="adj" fmla="val 6000"/>
            </a:avLst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02920" y="2953512"/>
            <a:ext cx="109728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나눔스퀘어 ExtraBold"/>
                <a:ea typeface="나눔스퀘어 ExtraBold"/>
              </a:rPr>
              <a:t>AI 서비스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755648" y="2953512"/>
            <a:ext cx="1581912" cy="841248"/>
          </a:xfrm>
          <a:prstGeom prst="roundRect">
            <a:avLst>
              <a:gd name="adj" fmla="val 6000"/>
            </a:avLst>
          </a:prstGeom>
          <a:solidFill>
            <a:srgbClr val="FDEBD9"/>
          </a:solidFill>
          <a:ln w="9525">
            <a:solidFill>
              <a:srgbClr val="F8AF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810512" y="2953512"/>
            <a:ext cx="1472184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1A1714"/>
                </a:solidFill>
                <a:latin typeface="나눔스퀘어"/>
                <a:ea typeface="나눔스퀘어"/>
              </a:rPr>
              <a:t>Agent 오케스트레이션</a:t>
            </a:r>
          </a:p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1A1714"/>
                </a:solidFill>
                <a:latin typeface="나눔스퀘어"/>
                <a:ea typeface="나눔스퀘어"/>
              </a:rPr>
              <a:t>(질의 라우팅)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29000" y="2953512"/>
            <a:ext cx="1581912" cy="841248"/>
          </a:xfrm>
          <a:prstGeom prst="roundRect">
            <a:avLst>
              <a:gd name="adj" fmla="val 6000"/>
            </a:avLst>
          </a:prstGeom>
          <a:solidFill>
            <a:srgbClr val="FDEBD9"/>
          </a:solidFill>
          <a:ln w="9525">
            <a:solidFill>
              <a:srgbClr val="F8AF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3483864" y="2953512"/>
            <a:ext cx="1472184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1A1714"/>
                </a:solidFill>
                <a:latin typeface="나눔스퀘어"/>
                <a:ea typeface="나눔스퀘어"/>
              </a:rPr>
              <a:t>NL2SQL Agent</a:t>
            </a:r>
          </a:p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1A1714"/>
                </a:solidFill>
                <a:latin typeface="나눔스퀘어"/>
                <a:ea typeface="나눔스퀘어"/>
              </a:rPr>
              <a:t>(Text-to-SQL)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02352" y="2953512"/>
            <a:ext cx="1581912" cy="841248"/>
          </a:xfrm>
          <a:prstGeom prst="roundRect">
            <a:avLst>
              <a:gd name="adj" fmla="val 6000"/>
            </a:avLst>
          </a:prstGeom>
          <a:solidFill>
            <a:srgbClr val="FDEBD9"/>
          </a:solidFill>
          <a:ln w="9525">
            <a:solidFill>
              <a:srgbClr val="F8AF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157216" y="2953512"/>
            <a:ext cx="1472184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1A1714"/>
                </a:solidFill>
                <a:latin typeface="나눔스퀘어"/>
                <a:ea typeface="나눔스퀘어"/>
              </a:rPr>
              <a:t>RAG Agent · GraphRAG</a:t>
            </a:r>
          </a:p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1A1714"/>
                </a:solidFill>
                <a:latin typeface="나눔스퀘어"/>
                <a:ea typeface="나눔스퀘어"/>
              </a:rPr>
              <a:t>(벡터+키워드 검색)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75704" y="2953512"/>
            <a:ext cx="1581912" cy="841248"/>
          </a:xfrm>
          <a:prstGeom prst="roundRect">
            <a:avLst>
              <a:gd name="adj" fmla="val 6000"/>
            </a:avLst>
          </a:prstGeom>
          <a:solidFill>
            <a:srgbClr val="F5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830568" y="2953512"/>
            <a:ext cx="1472184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1A1714"/>
                </a:solidFill>
                <a:latin typeface="나눔스퀘어"/>
                <a:ea typeface="나눔스퀘어"/>
              </a:rPr>
              <a:t>신뢰성 가드레일</a:t>
            </a:r>
          </a:p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1A1714"/>
                </a:solidFill>
                <a:latin typeface="나눔스퀘어"/>
                <a:ea typeface="나눔스퀘어"/>
              </a:rPr>
              <a:t>(수치 대조·근거)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941064"/>
            <a:ext cx="1188720" cy="841248"/>
          </a:xfrm>
          <a:prstGeom prst="roundRect">
            <a:avLst>
              <a:gd name="adj" fmla="val 6000"/>
            </a:avLst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02920" y="3941064"/>
            <a:ext cx="109728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나눔스퀘어 ExtraBold"/>
                <a:ea typeface="나눔스퀘어 ExtraBold"/>
              </a:rPr>
              <a:t>데이터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755648" y="3941064"/>
            <a:ext cx="1581912" cy="841248"/>
          </a:xfrm>
          <a:prstGeom prst="roundRect">
            <a:avLst>
              <a:gd name="adj" fmla="val 6000"/>
            </a:avLst>
          </a:prstGeom>
          <a:solidFill>
            <a:srgbClr val="F5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810512" y="3941064"/>
            <a:ext cx="1472184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1A1714"/>
                </a:solidFill>
                <a:latin typeface="나눔스퀘어"/>
                <a:ea typeface="나눔스퀘어"/>
              </a:rPr>
              <a:t>스마트 파서 · ETL</a:t>
            </a:r>
          </a:p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1A1714"/>
                </a:solidFill>
                <a:latin typeface="나눔스퀘어"/>
                <a:ea typeface="나눔스퀘어"/>
              </a:rPr>
              <a:t>(Excel·Word·PDF·OCR)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29000" y="3941064"/>
            <a:ext cx="1581912" cy="841248"/>
          </a:xfrm>
          <a:prstGeom prst="roundRect">
            <a:avLst>
              <a:gd name="adj" fmla="val 6000"/>
            </a:avLst>
          </a:prstGeom>
          <a:solidFill>
            <a:srgbClr val="E9E7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3483864" y="3941064"/>
            <a:ext cx="1472184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1A1714"/>
                </a:solidFill>
                <a:latin typeface="나눔스퀘어"/>
                <a:ea typeface="나눔스퀘어"/>
              </a:rPr>
              <a:t>MSSQL 메타DB</a:t>
            </a:r>
          </a:p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1A1714"/>
                </a:solidFill>
                <a:latin typeface="나눔스퀘어"/>
                <a:ea typeface="나눔스퀘어"/>
              </a:rPr>
              <a:t>(정형 스펙)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102352" y="3941064"/>
            <a:ext cx="1581912" cy="841248"/>
          </a:xfrm>
          <a:prstGeom prst="roundRect">
            <a:avLst>
              <a:gd name="adj" fmla="val 6000"/>
            </a:avLst>
          </a:prstGeom>
          <a:solidFill>
            <a:srgbClr val="FDEBD9"/>
          </a:solidFill>
          <a:ln w="9525">
            <a:solidFill>
              <a:srgbClr val="F8AF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157216" y="3941064"/>
            <a:ext cx="1472184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1A1714"/>
                </a:solidFill>
                <a:latin typeface="나눔스퀘어"/>
                <a:ea typeface="나눔스퀘어"/>
              </a:rPr>
              <a:t>벡터·검색 색인</a:t>
            </a:r>
          </a:p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1A1714"/>
                </a:solidFill>
                <a:latin typeface="나눔스퀘어"/>
                <a:ea typeface="나눔스퀘어"/>
              </a:rPr>
              <a:t>(비정형 텍스트)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775704" y="3941064"/>
            <a:ext cx="1581912" cy="841248"/>
          </a:xfrm>
          <a:prstGeom prst="roundRect">
            <a:avLst>
              <a:gd name="adj" fmla="val 6000"/>
            </a:avLst>
          </a:prstGeom>
          <a:solidFill>
            <a:srgbClr val="F5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830568" y="3941064"/>
            <a:ext cx="1472184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1A1714"/>
                </a:solidFill>
                <a:latin typeface="나눔스퀘어"/>
                <a:ea typeface="나눔스퀘어"/>
              </a:rPr>
              <a:t>정합성 검증 엔진</a:t>
            </a:r>
          </a:p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1A1714"/>
                </a:solidFill>
                <a:latin typeface="나눔스퀘어"/>
                <a:ea typeface="나눔스퀘어"/>
              </a:rPr>
              <a:t>(교차 룰)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4928616"/>
            <a:ext cx="1188720" cy="841248"/>
          </a:xfrm>
          <a:prstGeom prst="roundRect">
            <a:avLst>
              <a:gd name="adj" fmla="val 6000"/>
            </a:avLst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502920" y="4928616"/>
            <a:ext cx="109728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나눔스퀘어 ExtraBold"/>
                <a:ea typeface="나눔스퀘어 ExtraBold"/>
              </a:rPr>
              <a:t>플랫폼 · 인프라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755648" y="4928616"/>
            <a:ext cx="1581912" cy="841248"/>
          </a:xfrm>
          <a:prstGeom prst="roundRect">
            <a:avLst>
              <a:gd name="adj" fmla="val 6000"/>
            </a:avLst>
          </a:prstGeom>
          <a:solidFill>
            <a:srgbClr val="FDEBD9"/>
          </a:solidFill>
          <a:ln w="9525">
            <a:solidFill>
              <a:srgbClr val="F8AF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1810512" y="4928616"/>
            <a:ext cx="1472184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1A1714"/>
                </a:solidFill>
                <a:latin typeface="나눔스퀘어"/>
                <a:ea typeface="나눔스퀘어"/>
              </a:rPr>
              <a:t>AgentOps · LLMOps</a:t>
            </a:r>
          </a:p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1A1714"/>
                </a:solidFill>
                <a:latin typeface="나눔스퀘어"/>
                <a:ea typeface="나눔스퀘어"/>
              </a:rPr>
              <a:t>· RAGOps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429000" y="4928616"/>
            <a:ext cx="1581912" cy="841248"/>
          </a:xfrm>
          <a:prstGeom prst="roundRect">
            <a:avLst>
              <a:gd name="adj" fmla="val 6000"/>
            </a:avLst>
          </a:prstGeom>
          <a:solidFill>
            <a:srgbClr val="FDEBD9"/>
          </a:solidFill>
          <a:ln w="9525">
            <a:solidFill>
              <a:srgbClr val="F8AF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3483864" y="4928616"/>
            <a:ext cx="1472184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1A1714"/>
                </a:solidFill>
                <a:latin typeface="나눔스퀘어"/>
                <a:ea typeface="나눔스퀘어"/>
              </a:rPr>
              <a:t>MLOps · vLLM 서빙</a:t>
            </a:r>
          </a:p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1A1714"/>
                </a:solidFill>
                <a:latin typeface="나눔스퀘어"/>
                <a:ea typeface="나눔스퀘어"/>
              </a:rPr>
              <a:t>(SLM · LLM)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102352" y="4928616"/>
            <a:ext cx="1581912" cy="841248"/>
          </a:xfrm>
          <a:prstGeom prst="roundRect">
            <a:avLst>
              <a:gd name="adj" fmla="val 6000"/>
            </a:avLst>
          </a:prstGeom>
          <a:solidFill>
            <a:srgbClr val="FDEBD9"/>
          </a:solidFill>
          <a:ln w="9525">
            <a:solidFill>
              <a:srgbClr val="F8AF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5157216" y="4928616"/>
            <a:ext cx="1472184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1A1714"/>
                </a:solidFill>
                <a:latin typeface="나눔스퀘어"/>
                <a:ea typeface="나눔스퀘어"/>
              </a:rPr>
              <a:t>모니터링 · 로그</a:t>
            </a:r>
          </a:p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1A1714"/>
                </a:solidFill>
                <a:latin typeface="나눔스퀘어"/>
                <a:ea typeface="나눔스퀘어"/>
              </a:rPr>
              <a:t>· 트레이스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775704" y="4928616"/>
            <a:ext cx="1581912" cy="841248"/>
          </a:xfrm>
          <a:prstGeom prst="roundRect">
            <a:avLst>
              <a:gd name="adj" fmla="val 6000"/>
            </a:avLst>
          </a:prstGeom>
          <a:solidFill>
            <a:srgbClr val="E9E7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6830568" y="4928616"/>
            <a:ext cx="1472184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1A1714"/>
                </a:solidFill>
                <a:latin typeface="나눔스퀘어"/>
                <a:ea typeface="나눔스퀘어"/>
              </a:rPr>
              <a:t>GPU L40S × 2</a:t>
            </a:r>
          </a:p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1A1714"/>
                </a:solidFill>
                <a:latin typeface="나눔스퀘어"/>
                <a:ea typeface="나눔스퀘어"/>
              </a:rPr>
              <a:t>(폐쇄망 서버)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522208" y="1965960"/>
            <a:ext cx="914400" cy="3803904"/>
          </a:xfrm>
          <a:prstGeom prst="roundRect">
            <a:avLst>
              <a:gd name="adj" fmla="val 6000"/>
            </a:avLst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7" name="Picture 46" descr="FaShieldAlt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0" y="2194560"/>
            <a:ext cx="402336" cy="402336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8558784" y="2743200"/>
            <a:ext cx="841248" cy="283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FFFFFF"/>
                </a:solidFill>
                <a:latin typeface="나눔스퀘어"/>
                <a:ea typeface="나눔스퀘어"/>
              </a:rPr>
              <a:t>보안</a:t>
            </a:r>
          </a:p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FFFFFF"/>
                </a:solidFill>
                <a:latin typeface="나눔스퀘어"/>
                <a:ea typeface="나눔스퀘어"/>
              </a:rPr>
              <a:t> </a:t>
            </a:r>
          </a:p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FFFFFF"/>
                </a:solidFill>
                <a:latin typeface="나눔스퀘어"/>
                <a:ea typeface="나눔스퀘어"/>
              </a:rPr>
              <a:t>SSO</a:t>
            </a:r>
          </a:p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FFFFFF"/>
                </a:solidFill>
                <a:latin typeface="나눔스퀘어"/>
                <a:ea typeface="나눔스퀘어"/>
              </a:rPr>
              <a:t>RBAC</a:t>
            </a:r>
          </a:p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FFFFFF"/>
                </a:solidFill>
                <a:latin typeface="나눔스퀘어"/>
                <a:ea typeface="나눔스퀘어"/>
              </a:rPr>
              <a:t>감사 로그</a:t>
            </a:r>
          </a:p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FFFFFF"/>
                </a:solidFill>
                <a:latin typeface="나눔스퀘어"/>
                <a:ea typeface="나눔스퀘어"/>
              </a:rPr>
              <a:t>외부 전송</a:t>
            </a:r>
          </a:p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FFFFFF"/>
                </a:solidFill>
                <a:latin typeface="나눔스퀘어"/>
                <a:ea typeface="나눔스퀘어"/>
              </a:rPr>
              <a:t>차단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755648" y="5989320"/>
            <a:ext cx="201168" cy="164592"/>
          </a:xfrm>
          <a:prstGeom prst="roundRect">
            <a:avLst>
              <a:gd name="adj" fmla="val 20000"/>
            </a:avLst>
          </a:prstGeom>
          <a:solidFill>
            <a:srgbClr val="FDEBD9"/>
          </a:solidFill>
          <a:ln w="9525">
            <a:solidFill>
              <a:srgbClr val="F8AF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2029967" y="5961888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3A362F"/>
                </a:solidFill>
                <a:latin typeface="나눔스퀘어"/>
                <a:ea typeface="나눔스퀘어"/>
              </a:rPr>
              <a:t>Agent-X 제품 기능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767328" y="5989320"/>
            <a:ext cx="201168" cy="164592"/>
          </a:xfrm>
          <a:prstGeom prst="roundRect">
            <a:avLst>
              <a:gd name="adj" fmla="val 20000"/>
            </a:avLst>
          </a:prstGeom>
          <a:solidFill>
            <a:srgbClr val="F5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4041648" y="5961888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3A362F"/>
                </a:solidFill>
                <a:latin typeface="나눔스퀘어"/>
                <a:ea typeface="나눔스퀘어"/>
              </a:rPr>
              <a:t>맞춤 개발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779008" y="5989320"/>
            <a:ext cx="201168" cy="164592"/>
          </a:xfrm>
          <a:prstGeom prst="roundRect">
            <a:avLst>
              <a:gd name="adj" fmla="val 20000"/>
            </a:avLst>
          </a:prstGeom>
          <a:solidFill>
            <a:srgbClr val="E9E7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6053328" y="5961888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3A362F"/>
                </a:solidFill>
                <a:latin typeface="나눔스퀘어"/>
                <a:ea typeface="나눔스퀘어"/>
              </a:rPr>
              <a:t>발주사 제공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META DB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0467CE0-9CA5-1A81-CC61-627D44FD67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316148F-D84E-47A3-B267-E08DF939B7C4}" type="slidenum">
              <a:rPr lang="ko-KR" altLang="en-US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pPr/>
              <a:t>12</a:t>
            </a:fld>
            <a:r>
              <a:rPr lang="en-US" altLang="ko-KR">
                <a:latin typeface="나눔스퀘어" panose="020B0600000101010101" pitchFamily="50" charset="-127"/>
                <a:ea typeface="나눔스퀘어" panose="020B0600000101010101" pitchFamily="50" charset="-127"/>
              </a:rPr>
              <a:t>/28</a:t>
            </a:r>
            <a:endParaRPr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" name="Title"/>
          <p:cNvSpPr txBox="1"/>
          <p:nvPr/>
        </p:nvSpPr>
        <p:spPr>
          <a:xfrm>
            <a:off x="448056" y="777240"/>
            <a:ext cx="8961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1">
                <a:solidFill>
                  <a:srgbClr val="1A1714"/>
                </a:solidFill>
                <a:latin typeface="나눔스퀘어 ExtraBold"/>
                <a:ea typeface="나눔스퀘어 ExtraBold"/>
              </a:rPr>
              <a:t>메타DB 설계와 산출물별 스마트 파서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448056" y="1298448"/>
            <a:ext cx="8961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3A362F"/>
                </a:solidFill>
                <a:latin typeface="나눔스퀘어"/>
                <a:ea typeface="나눔스퀘어"/>
              </a:rPr>
              <a:t>Tag·Equipment를 축으로 5대 산출물을 연결하고, 모든 값에 단위와 원천 위치를 함께 저장합니다.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65960"/>
            <a:ext cx="384048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52400" algn="ctr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A1714"/>
                </a:solidFill>
                <a:latin typeface="나눔스퀘어 ExtraBold"/>
                <a:ea typeface="나눔스퀘어 ExtraBold"/>
              </a:rPr>
              <a:t>메타DB 개념 구조 (TFT 공동 설계)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00200" y="3520440"/>
            <a:ext cx="1554480" cy="868680"/>
          </a:xfrm>
          <a:prstGeom prst="roundRect">
            <a:avLst>
              <a:gd name="adj" fmla="val 18000"/>
            </a:avLst>
          </a:prstGeom>
          <a:solidFill>
            <a:srgbClr val="FD82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600200" y="3520440"/>
            <a:ext cx="15544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나눔스퀘어"/>
                <a:ea typeface="나눔스퀘어"/>
              </a:rPr>
              <a:t>공통 마스터</a:t>
            </a:r>
          </a:p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나눔스퀘어"/>
                <a:ea typeface="나눔스퀘어"/>
              </a:rPr>
              <a:t>Project · Unit</a:t>
            </a:r>
          </a:p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나눔스퀘어"/>
                <a:ea typeface="나눔스퀘어"/>
              </a:rPr>
              <a:t>Equipment · Tag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1234440" cy="457200"/>
          </a:xfrm>
          <a:prstGeom prst="roundRect">
            <a:avLst>
              <a:gd name="adj" fmla="val 20000"/>
            </a:avLst>
          </a:prstGeom>
          <a:solidFill>
            <a:srgbClr val="F5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85800" y="2606040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1A1714"/>
                </a:solidFill>
                <a:latin typeface="나눔스퀘어 ExtraBold"/>
                <a:ea typeface="나눔스퀘어 ExtraBold"/>
              </a:rPr>
              <a:t>PDS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80360" y="2606040"/>
            <a:ext cx="1234440" cy="457200"/>
          </a:xfrm>
          <a:prstGeom prst="roundRect">
            <a:avLst>
              <a:gd name="adj" fmla="val 20000"/>
            </a:avLst>
          </a:prstGeom>
          <a:solidFill>
            <a:srgbClr val="F5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880360" y="2606040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1A1714"/>
                </a:solidFill>
                <a:latin typeface="나눔스퀘어 ExtraBold"/>
                <a:ea typeface="나눔스퀘어 ExtraBold"/>
              </a:rPr>
              <a:t>MDS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572000"/>
            <a:ext cx="1234440" cy="457200"/>
          </a:xfrm>
          <a:prstGeom prst="roundRect">
            <a:avLst>
              <a:gd name="adj" fmla="val 20000"/>
            </a:avLst>
          </a:prstGeom>
          <a:solidFill>
            <a:srgbClr val="F5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85800" y="4572000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1A1714"/>
                </a:solidFill>
                <a:latin typeface="나눔스퀘어 ExtraBold"/>
                <a:ea typeface="나눔스퀘어 ExtraBold"/>
              </a:rPr>
              <a:t>Inst. Index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88920" y="457200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F5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2788920" y="457200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1A1714"/>
                </a:solidFill>
                <a:latin typeface="나눔스퀘어 ExtraBold"/>
                <a:ea typeface="나눔스퀘어 ExtraBold"/>
              </a:rPr>
              <a:t>Inst. Datasheet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691640" y="5257800"/>
            <a:ext cx="1234440" cy="457200"/>
          </a:xfrm>
          <a:prstGeom prst="roundRect">
            <a:avLst>
              <a:gd name="adj" fmla="val 20000"/>
            </a:avLst>
          </a:prstGeom>
          <a:solidFill>
            <a:srgbClr val="F5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691640" y="5257800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1A1714"/>
                </a:solidFill>
                <a:latin typeface="나눔스퀘어 ExtraBold"/>
                <a:ea typeface="나눔스퀘어 ExtraBold"/>
              </a:rPr>
              <a:t>Lesson Learned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325880" y="3063240"/>
            <a:ext cx="457200" cy="457200"/>
          </a:xfrm>
          <a:prstGeom prst="line">
            <a:avLst/>
          </a:prstGeom>
          <a:ln w="15875">
            <a:solidFill>
              <a:srgbClr val="F8AF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2971800" y="3063240"/>
            <a:ext cx="457200" cy="457200"/>
          </a:xfrm>
          <a:prstGeom prst="line">
            <a:avLst/>
          </a:prstGeom>
          <a:ln w="15875">
            <a:solidFill>
              <a:srgbClr val="F8AF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325880" y="4389120"/>
            <a:ext cx="457200" cy="182880"/>
          </a:xfrm>
          <a:prstGeom prst="line">
            <a:avLst/>
          </a:prstGeom>
          <a:ln w="15875">
            <a:solidFill>
              <a:srgbClr val="F8AF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2971800" y="4389120"/>
            <a:ext cx="411480" cy="182880"/>
          </a:xfrm>
          <a:prstGeom prst="line">
            <a:avLst/>
          </a:prstGeom>
          <a:ln w="15875">
            <a:solidFill>
              <a:srgbClr val="F8AF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331720" y="4389120"/>
            <a:ext cx="45720" cy="868680"/>
          </a:xfrm>
          <a:prstGeom prst="line">
            <a:avLst/>
          </a:prstGeom>
          <a:ln w="15875">
            <a:solidFill>
              <a:srgbClr val="F8AF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40080" y="576072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8A867E"/>
                </a:solidFill>
                <a:latin typeface="나눔스퀘어"/>
                <a:ea typeface="나눔스퀘어"/>
              </a:rPr>
              <a:t>모든 레코드: 값 · 단위 · SI 환산값 · 파일/시트/행 · 리비전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526280" y="1965960"/>
          <a:ext cx="4892040" cy="3401568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1234440"/>
                <a:gridCol w="1234440"/>
                <a:gridCol w="242316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나눔스퀘어 ExtraBold"/>
                          <a:ea typeface="나눔스퀘어 ExtraBold"/>
                        </a:rPr>
                        <a:t>산출물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7E4DE"/>
                      </a:solidFill>
                    </a:lnL>
                    <a:lnR w="9525">
                      <a:solidFill>
                        <a:srgbClr val="E7E4DE"/>
                      </a:solidFill>
                    </a:lnR>
                    <a:lnT w="9525">
                      <a:solidFill>
                        <a:srgbClr val="E7E4DE"/>
                      </a:solidFill>
                    </a:lnT>
                    <a:lnB w="9525">
                      <a:solidFill>
                        <a:srgbClr val="E7E4DE"/>
                      </a:solidFill>
                    </a:lnB>
                    <a:solidFill>
                      <a:srgbClr val="2A26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나눔스퀘어 ExtraBold"/>
                          <a:ea typeface="나눔스퀘어 ExtraBold"/>
                        </a:rPr>
                        <a:t>원천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7E4DE"/>
                      </a:solidFill>
                    </a:lnL>
                    <a:lnR w="9525">
                      <a:solidFill>
                        <a:srgbClr val="E7E4DE"/>
                      </a:solidFill>
                    </a:lnR>
                    <a:lnT w="9525">
                      <a:solidFill>
                        <a:srgbClr val="E7E4DE"/>
                      </a:solidFill>
                    </a:lnT>
                    <a:lnB w="9525">
                      <a:solidFill>
                        <a:srgbClr val="E7E4DE"/>
                      </a:solidFill>
                    </a:lnB>
                    <a:solidFill>
                      <a:srgbClr val="2A26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나눔스퀘어 ExtraBold"/>
                          <a:ea typeface="나눔스퀘어 ExtraBold"/>
                        </a:rPr>
                        <a:t>파싱 방식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7E4DE"/>
                      </a:solidFill>
                    </a:lnL>
                    <a:lnR w="9525">
                      <a:solidFill>
                        <a:srgbClr val="E7E4DE"/>
                      </a:solidFill>
                    </a:lnR>
                    <a:lnT w="9525">
                      <a:solidFill>
                        <a:srgbClr val="E7E4DE"/>
                      </a:solidFill>
                    </a:lnT>
                    <a:lnB w="9525">
                      <a:solidFill>
                        <a:srgbClr val="E7E4DE"/>
                      </a:solidFill>
                    </a:lnB>
                    <a:solidFill>
                      <a:srgbClr val="2A262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714"/>
                          </a:solidFill>
                          <a:latin typeface="나눔스퀘어 ExtraBold"/>
                          <a:ea typeface="나눔스퀘어 ExtraBold"/>
                        </a:rPr>
                        <a:t>PDS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7E4DE"/>
                      </a:solidFill>
                    </a:lnL>
                    <a:lnR w="9525">
                      <a:solidFill>
                        <a:srgbClr val="E7E4DE"/>
                      </a:solidFill>
                    </a:lnR>
                    <a:lnT w="9525">
                      <a:solidFill>
                        <a:srgbClr val="E7E4DE"/>
                      </a:solidFill>
                    </a:lnT>
                    <a:lnB w="9525">
                      <a:solidFill>
                        <a:srgbClr val="E7E4DE"/>
                      </a:solidFill>
                    </a:lnB>
                    <a:solidFill>
                      <a:srgbClr val="F5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A362F"/>
                          </a:solidFill>
                          <a:latin typeface="나눔스퀘어"/>
                          <a:ea typeface="나눔스퀘어"/>
                        </a:rPr>
                        <a:t>Excel · PDF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7E4DE"/>
                      </a:solidFill>
                    </a:lnL>
                    <a:lnR w="9525">
                      <a:solidFill>
                        <a:srgbClr val="E7E4DE"/>
                      </a:solidFill>
                    </a:lnR>
                    <a:lnT w="9525">
                      <a:solidFill>
                        <a:srgbClr val="E7E4DE"/>
                      </a:solidFill>
                    </a:lnT>
                    <a:lnB w="9525">
                      <a:solidFill>
                        <a:srgbClr val="E7E4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A362F"/>
                          </a:solidFill>
                          <a:latin typeface="나눔스퀘어"/>
                          <a:ea typeface="나눔스퀘어"/>
                        </a:rPr>
                        <a:t>다단 헤더 평탄화, PDF 표 추출, 스캔본 OCR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7E4DE"/>
                      </a:solidFill>
                    </a:lnL>
                    <a:lnR w="9525">
                      <a:solidFill>
                        <a:srgbClr val="E7E4DE"/>
                      </a:solidFill>
                    </a:lnR>
                    <a:lnT w="9525">
                      <a:solidFill>
                        <a:srgbClr val="E7E4DE"/>
                      </a:solidFill>
                    </a:lnT>
                    <a:lnB w="9525">
                      <a:solidFill>
                        <a:srgbClr val="E7E4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714"/>
                          </a:solidFill>
                          <a:latin typeface="나눔스퀘어 ExtraBold"/>
                          <a:ea typeface="나눔스퀘어 ExtraBold"/>
                        </a:rPr>
                        <a:t>MDS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7E4DE"/>
                      </a:solidFill>
                    </a:lnL>
                    <a:lnR w="9525">
                      <a:solidFill>
                        <a:srgbClr val="E7E4DE"/>
                      </a:solidFill>
                    </a:lnR>
                    <a:lnT w="9525">
                      <a:solidFill>
                        <a:srgbClr val="E7E4DE"/>
                      </a:solidFill>
                    </a:lnT>
                    <a:lnB w="9525">
                      <a:solidFill>
                        <a:srgbClr val="E7E4DE"/>
                      </a:solidFill>
                    </a:lnB>
                    <a:solidFill>
                      <a:srgbClr val="F5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A362F"/>
                          </a:solidFill>
                          <a:latin typeface="나눔스퀘어"/>
                          <a:ea typeface="나눔스퀘어"/>
                        </a:rPr>
                        <a:t>Excel · Word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7E4DE"/>
                      </a:solidFill>
                    </a:lnL>
                    <a:lnR w="9525">
                      <a:solidFill>
                        <a:srgbClr val="E7E4DE"/>
                      </a:solidFill>
                    </a:lnR>
                    <a:lnT w="9525">
                      <a:solidFill>
                        <a:srgbClr val="E7E4DE"/>
                      </a:solidFill>
                    </a:lnT>
                    <a:lnB w="9525">
                      <a:solidFill>
                        <a:srgbClr val="E7E4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A362F"/>
                          </a:solidFill>
                          <a:latin typeface="나눔스퀘어"/>
                          <a:ea typeface="나눔스퀘어"/>
                        </a:rPr>
                        <a:t>장비 유형별 템플릿, 병합셀 해제, 노즐 1:N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7E4DE"/>
                      </a:solidFill>
                    </a:lnL>
                    <a:lnR w="9525">
                      <a:solidFill>
                        <a:srgbClr val="E7E4DE"/>
                      </a:solidFill>
                    </a:lnR>
                    <a:lnT w="9525">
                      <a:solidFill>
                        <a:srgbClr val="E7E4DE"/>
                      </a:solidFill>
                    </a:lnT>
                    <a:lnB w="9525">
                      <a:solidFill>
                        <a:srgbClr val="E7E4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714"/>
                          </a:solidFill>
                          <a:latin typeface="나눔스퀘어 ExtraBold"/>
                          <a:ea typeface="나눔스퀘어 ExtraBold"/>
                        </a:rPr>
                        <a:t>Inst. Index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7E4DE"/>
                      </a:solidFill>
                    </a:lnL>
                    <a:lnR w="9525">
                      <a:solidFill>
                        <a:srgbClr val="E7E4DE"/>
                      </a:solidFill>
                    </a:lnR>
                    <a:lnT w="9525">
                      <a:solidFill>
                        <a:srgbClr val="E7E4DE"/>
                      </a:solidFill>
                    </a:lnT>
                    <a:lnB w="9525">
                      <a:solidFill>
                        <a:srgbClr val="E7E4DE"/>
                      </a:solidFill>
                    </a:lnB>
                    <a:solidFill>
                      <a:srgbClr val="F5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A362F"/>
                          </a:solidFill>
                          <a:latin typeface="나눔스퀘어"/>
                          <a:ea typeface="나눔스퀘어"/>
                        </a:rPr>
                        <a:t>Excel(대용량)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7E4DE"/>
                      </a:solidFill>
                    </a:lnL>
                    <a:lnR w="9525">
                      <a:solidFill>
                        <a:srgbClr val="E7E4DE"/>
                      </a:solidFill>
                    </a:lnR>
                    <a:lnT w="9525">
                      <a:solidFill>
                        <a:srgbClr val="E7E4DE"/>
                      </a:solidFill>
                    </a:lnT>
                    <a:lnB w="9525">
                      <a:solidFill>
                        <a:srgbClr val="E7E4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A362F"/>
                          </a:solidFill>
                          <a:latin typeface="나눔스퀘어"/>
                          <a:ea typeface="나눔스퀘어"/>
                        </a:rPr>
                        <a:t>대량 적재, Tag 표기 표준화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7E4DE"/>
                      </a:solidFill>
                    </a:lnL>
                    <a:lnR w="9525">
                      <a:solidFill>
                        <a:srgbClr val="E7E4DE"/>
                      </a:solidFill>
                    </a:lnR>
                    <a:lnT w="9525">
                      <a:solidFill>
                        <a:srgbClr val="E7E4DE"/>
                      </a:solidFill>
                    </a:lnT>
                    <a:lnB w="9525">
                      <a:solidFill>
                        <a:srgbClr val="E7E4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714"/>
                          </a:solidFill>
                          <a:latin typeface="나눔스퀘어 ExtraBold"/>
                          <a:ea typeface="나눔스퀘어 ExtraBold"/>
                        </a:rPr>
                        <a:t>Inst. Datasheet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7E4DE"/>
                      </a:solidFill>
                    </a:lnL>
                    <a:lnR w="9525">
                      <a:solidFill>
                        <a:srgbClr val="E7E4DE"/>
                      </a:solidFill>
                    </a:lnR>
                    <a:lnT w="9525">
                      <a:solidFill>
                        <a:srgbClr val="E7E4DE"/>
                      </a:solidFill>
                    </a:lnT>
                    <a:lnB w="9525">
                      <a:solidFill>
                        <a:srgbClr val="E7E4DE"/>
                      </a:solidFill>
                    </a:lnB>
                    <a:solidFill>
                      <a:srgbClr val="F5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A362F"/>
                          </a:solidFill>
                          <a:latin typeface="나눔스퀘어"/>
                          <a:ea typeface="나눔스퀘어"/>
                        </a:rPr>
                        <a:t>Excel · Form PDF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7E4DE"/>
                      </a:solidFill>
                    </a:lnL>
                    <a:lnR w="9525">
                      <a:solidFill>
                        <a:srgbClr val="E7E4DE"/>
                      </a:solidFill>
                    </a:lnR>
                    <a:lnT w="9525">
                      <a:solidFill>
                        <a:srgbClr val="E7E4DE"/>
                      </a:solidFill>
                    </a:lnT>
                    <a:lnB w="9525">
                      <a:solidFill>
                        <a:srgbClr val="E7E4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A362F"/>
                          </a:solidFill>
                          <a:latin typeface="나눔스퀘어"/>
                          <a:ea typeface="나눔스퀘어"/>
                        </a:rPr>
                        <a:t>폼 필드 직접 추출, OCR 폴백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7E4DE"/>
                      </a:solidFill>
                    </a:lnL>
                    <a:lnR w="9525">
                      <a:solidFill>
                        <a:srgbClr val="E7E4DE"/>
                      </a:solidFill>
                    </a:lnR>
                    <a:lnT w="9525">
                      <a:solidFill>
                        <a:srgbClr val="E7E4DE"/>
                      </a:solidFill>
                    </a:lnT>
                    <a:lnB w="9525">
                      <a:solidFill>
                        <a:srgbClr val="E7E4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714"/>
                          </a:solidFill>
                          <a:latin typeface="나눔스퀘어 ExtraBold"/>
                          <a:ea typeface="나눔스퀘어 ExtraBold"/>
                        </a:rPr>
                        <a:t>Lesson Learned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7E4DE"/>
                      </a:solidFill>
                    </a:lnL>
                    <a:lnR w="9525">
                      <a:solidFill>
                        <a:srgbClr val="E7E4DE"/>
                      </a:solidFill>
                    </a:lnR>
                    <a:lnT w="9525">
                      <a:solidFill>
                        <a:srgbClr val="E7E4DE"/>
                      </a:solidFill>
                    </a:lnT>
                    <a:lnB w="9525">
                      <a:solidFill>
                        <a:srgbClr val="E7E4DE"/>
                      </a:solidFill>
                    </a:lnB>
                    <a:solidFill>
                      <a:srgbClr val="F5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A362F"/>
                          </a:solidFill>
                          <a:latin typeface="나눔스퀘어"/>
                          <a:ea typeface="나눔스퀘어"/>
                        </a:rPr>
                        <a:t>Excel · Word · Report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7E4DE"/>
                      </a:solidFill>
                    </a:lnL>
                    <a:lnR w="9525">
                      <a:solidFill>
                        <a:srgbClr val="E7E4DE"/>
                      </a:solidFill>
                    </a:lnR>
                    <a:lnT w="9525">
                      <a:solidFill>
                        <a:srgbClr val="E7E4DE"/>
                      </a:solidFill>
                    </a:lnT>
                    <a:lnB w="9525">
                      <a:solidFill>
                        <a:srgbClr val="E7E4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A362F"/>
                          </a:solidFill>
                          <a:latin typeface="나눔스퀘어"/>
                          <a:ea typeface="나눔스퀘어"/>
                        </a:rPr>
                        <a:t>LLM 구조화 추출 + 검증자 확인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7E4DE"/>
                      </a:solidFill>
                    </a:lnL>
                    <a:lnR w="9525">
                      <a:solidFill>
                        <a:srgbClr val="E7E4DE"/>
                      </a:solidFill>
                    </a:lnR>
                    <a:lnT w="9525">
                      <a:solidFill>
                        <a:srgbClr val="E7E4DE"/>
                      </a:solidFill>
                    </a:lnT>
                    <a:lnB w="9525">
                      <a:solidFill>
                        <a:srgbClr val="E7E4D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4526280" y="5532120"/>
            <a:ext cx="4892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3A362F"/>
                </a:solidFill>
                <a:latin typeface="나눔스퀘어"/>
                <a:ea typeface="나눔스퀘어"/>
              </a:rPr>
              <a:t>Python(pandas·openpyxl·python-docx·PyMuPDF) 기반, </a:t>
            </a:r>
            <a:r>
              <a:rPr sz="1000" b="1">
                <a:solidFill>
                  <a:srgbClr val="1A1714"/>
                </a:solidFill>
                <a:latin typeface="나눔스퀘어 ExtraBold"/>
                <a:ea typeface="나눔스퀘어 ExtraBold"/>
              </a:rPr>
              <a:t>서식별 매핑 규칙</a:t>
            </a:r>
            <a:r>
              <a:rPr sz="1000" b="0">
                <a:solidFill>
                  <a:srgbClr val="3A362F"/>
                </a:solidFill>
                <a:latin typeface="나눔스퀘어"/>
                <a:ea typeface="나눔스퀘어"/>
              </a:rPr>
              <a:t>으로 새 서식은 코드 수정 없이 규칙 추가로 대응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DATA QUALITY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0467CE0-9CA5-1A81-CC61-627D44FD67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316148F-D84E-47A3-B267-E08DF939B7C4}" type="slidenum">
              <a:rPr lang="ko-KR" altLang="en-US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pPr/>
              <a:t>12</a:t>
            </a:fld>
            <a:r>
              <a:rPr lang="en-US" altLang="ko-KR">
                <a:latin typeface="나눔스퀘어" panose="020B0600000101010101" pitchFamily="50" charset="-127"/>
                <a:ea typeface="나눔스퀘어" panose="020B0600000101010101" pitchFamily="50" charset="-127"/>
              </a:rPr>
              <a:t>/28</a:t>
            </a:r>
            <a:endParaRPr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" name="Title"/>
          <p:cNvSpPr txBox="1"/>
          <p:nvPr/>
        </p:nvSpPr>
        <p:spPr>
          <a:xfrm>
            <a:off x="448056" y="777240"/>
            <a:ext cx="8961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1">
                <a:solidFill>
                  <a:srgbClr val="1A1714"/>
                </a:solidFill>
                <a:latin typeface="나눔스퀘어 ExtraBold"/>
                <a:ea typeface="나눔스퀘어 ExtraBold"/>
              </a:rPr>
              <a:t>교차 정합성 검증과 도메인 검증자 예외 처리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448056" y="1298448"/>
            <a:ext cx="8961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3A362F"/>
                </a:solidFill>
                <a:latin typeface="나눔스퀘어"/>
                <a:ea typeface="나눔스퀘어"/>
              </a:rPr>
              <a:t>TFT가 정의한 룰로 산출물 간 불일치를 자동으로 찾고, 검증자가 원본과 대조해 확정한 값만 메타DB에 반영합니다.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65960"/>
            <a:ext cx="283464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52400" algn="ctr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658368" y="2148840"/>
            <a:ext cx="384048" cy="384048"/>
          </a:xfrm>
          <a:prstGeom prst="ellipse">
            <a:avLst/>
          </a:prstGeom>
          <a:solidFill>
            <a:srgbClr val="FD82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나눔스퀘어 ExtraBol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2194560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A1714"/>
                </a:solidFill>
                <a:latin typeface="나눔스퀘어 ExtraBold"/>
                <a:ea typeface="나눔스퀘어 ExtraBold"/>
              </a:rPr>
              <a:t>PDS ↔ MDS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97480"/>
            <a:ext cx="24688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A362F"/>
                </a:solidFill>
                <a:latin typeface="나눔스퀘어"/>
                <a:ea typeface="나눔스퀘어"/>
              </a:rPr>
              <a:t>설계 압력·온도 ≥ 운전 Max + 여유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3A362F"/>
                </a:solidFill>
                <a:latin typeface="나눔스퀘어"/>
                <a:ea typeface="나눔스퀘어"/>
              </a:rPr>
              <a:t>유량·용량·동력 일치, 재질-부식 여유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965960"/>
            <a:ext cx="283464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52400" algn="ctr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3675887" y="2148840"/>
            <a:ext cx="384048" cy="384048"/>
          </a:xfrm>
          <a:prstGeom prst="ellipse">
            <a:avLst/>
          </a:prstGeom>
          <a:solidFill>
            <a:srgbClr val="FD82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나눔스퀘어 ExtraBold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87952" y="2194560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A1714"/>
                </a:solidFill>
                <a:latin typeface="나눔스퀘어 ExtraBold"/>
                <a:ea typeface="나눔스퀘어 ExtraBold"/>
              </a:rPr>
              <a:t>Index ↔ Datasheet · P&amp;ID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697480"/>
            <a:ext cx="24688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A362F"/>
                </a:solidFill>
                <a:latin typeface="나눔스퀘어"/>
                <a:ea typeface="나눔스퀘어"/>
              </a:rPr>
              <a:t>계기 Tag 누락·중복·불일치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3A362F"/>
                </a:solidFill>
                <a:latin typeface="나눔스퀘어"/>
                <a:ea typeface="나눔스퀘어"/>
              </a:rPr>
              <a:t>P&amp;ID 도면 번호 매핑 무결성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1965960"/>
            <a:ext cx="283464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52400" algn="ctr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6693407" y="2148840"/>
            <a:ext cx="384048" cy="384048"/>
          </a:xfrm>
          <a:prstGeom prst="ellipse">
            <a:avLst/>
          </a:prstGeom>
          <a:solidFill>
            <a:srgbClr val="FD82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나눔스퀘어 ExtraBold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05472" y="2194560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A1714"/>
                </a:solidFill>
                <a:latin typeface="나눔스퀘어 ExtraBold"/>
                <a:ea typeface="나눔스퀘어 ExtraBold"/>
              </a:rPr>
              <a:t>L/L ↔ PDS · MDS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2697480"/>
            <a:ext cx="24688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A362F"/>
                </a:solidFill>
                <a:latin typeface="나눔스퀘어"/>
                <a:ea typeface="나눔스퀘어"/>
              </a:rPr>
              <a:t>설비 유형·Tag·키워드 기준 연계 태깅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3A362F"/>
                </a:solidFill>
                <a:latin typeface="나눔스퀘어"/>
                <a:ea typeface="나눔스퀘어"/>
              </a:rPr>
              <a:t>과거 이슈를 설계 파라미터에 연결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79476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D8204"/>
                </a:solidFill>
                <a:latin typeface="나눔스퀘어 ExtraBold"/>
                <a:ea typeface="나눔스퀘어 ExtraBold"/>
              </a:rPr>
              <a:t>예외 처리 흐름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160520"/>
            <a:ext cx="1572768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52400" algn="ctr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48640" y="4297680"/>
            <a:ext cx="13898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>
                <a:solidFill>
                  <a:srgbClr val="FD8204"/>
                </a:solidFill>
                <a:latin typeface="나눔스퀘어 ExtraBold"/>
                <a:ea typeface="나눔스퀘어 ExtraBold"/>
              </a:rPr>
              <a:t>STEP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572000"/>
            <a:ext cx="138988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1A1714"/>
                </a:solidFill>
                <a:latin typeface="나눔스퀘어 ExtraBold"/>
                <a:ea typeface="나눔스퀘어 ExtraBold"/>
              </a:rPr>
              <a:t>파싱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983480"/>
            <a:ext cx="138988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3A362F"/>
                </a:solidFill>
                <a:latin typeface="나눔스퀘어"/>
                <a:ea typeface="나눔스퀘어"/>
              </a:rPr>
              <a:t>서식 규칙 적용</a:t>
            </a:r>
          </a:p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3A362F"/>
                </a:solidFill>
                <a:latin typeface="나눔스퀘어"/>
                <a:ea typeface="나눔스퀘어"/>
              </a:rPr>
              <a:t>오류 실시간 로깅</a:t>
            </a:r>
          </a:p>
        </p:txBody>
      </p:sp>
      <p:sp>
        <p:nvSpPr>
          <p:cNvPr id="23" name="Chevron 22"/>
          <p:cNvSpPr/>
          <p:nvPr/>
        </p:nvSpPr>
        <p:spPr>
          <a:xfrm>
            <a:off x="2075688" y="4910328"/>
            <a:ext cx="146304" cy="237744"/>
          </a:xfrm>
          <a:prstGeom prst="chevron">
            <a:avLst/>
          </a:prstGeom>
          <a:solidFill>
            <a:srgbClr val="FD82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2267712" y="4160520"/>
            <a:ext cx="1572768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52400" algn="ctr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2359152" y="4297680"/>
            <a:ext cx="13898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>
                <a:solidFill>
                  <a:srgbClr val="FD8204"/>
                </a:solidFill>
                <a:latin typeface="나눔스퀘어 ExtraBold"/>
                <a:ea typeface="나눔스퀘어 ExtraBold"/>
              </a:rPr>
              <a:t>STEP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59152" y="4572000"/>
            <a:ext cx="138988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1A1714"/>
                </a:solidFill>
                <a:latin typeface="나눔스퀘어 ExtraBold"/>
                <a:ea typeface="나눔스퀘어 ExtraBold"/>
              </a:rPr>
              <a:t>자동 검증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59152" y="4983480"/>
            <a:ext cx="138988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3A362F"/>
                </a:solidFill>
                <a:latin typeface="나눔스퀘어"/>
                <a:ea typeface="나눔스퀘어"/>
              </a:rPr>
              <a:t>결측·형식·단위</a:t>
            </a:r>
          </a:p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3A362F"/>
                </a:solidFill>
                <a:latin typeface="나눔스퀘어"/>
                <a:ea typeface="나눔스퀘어"/>
              </a:rPr>
              <a:t>교차 룰 점검</a:t>
            </a:r>
          </a:p>
        </p:txBody>
      </p:sp>
      <p:sp>
        <p:nvSpPr>
          <p:cNvPr id="28" name="Chevron 27"/>
          <p:cNvSpPr/>
          <p:nvPr/>
        </p:nvSpPr>
        <p:spPr>
          <a:xfrm>
            <a:off x="3886200" y="4910328"/>
            <a:ext cx="146304" cy="237744"/>
          </a:xfrm>
          <a:prstGeom prst="chevron">
            <a:avLst/>
          </a:prstGeom>
          <a:solidFill>
            <a:srgbClr val="FD82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4078224" y="4160520"/>
            <a:ext cx="1572768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52400" algn="ctr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169663" y="4297680"/>
            <a:ext cx="13898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>
                <a:solidFill>
                  <a:srgbClr val="FD8204"/>
                </a:solidFill>
                <a:latin typeface="나눔스퀘어 ExtraBold"/>
                <a:ea typeface="나눔스퀘어 ExtraBold"/>
              </a:rPr>
              <a:t>STEP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9663" y="4572000"/>
            <a:ext cx="138988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1A1714"/>
                </a:solidFill>
                <a:latin typeface="나눔스퀘어 ExtraBold"/>
                <a:ea typeface="나눔스퀘어 ExtraBold"/>
              </a:rPr>
              <a:t>예외 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69663" y="4983480"/>
            <a:ext cx="138988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3A362F"/>
                </a:solidFill>
                <a:latin typeface="나눔스퀘어"/>
                <a:ea typeface="나눔스퀘어"/>
              </a:rPr>
              <a:t>오류 유형별 분류</a:t>
            </a:r>
          </a:p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3A362F"/>
                </a:solidFill>
                <a:latin typeface="나눔스퀘어"/>
                <a:ea typeface="나눔스퀘어"/>
              </a:rPr>
              <a:t>담당 분야 배정</a:t>
            </a:r>
          </a:p>
        </p:txBody>
      </p:sp>
      <p:sp>
        <p:nvSpPr>
          <p:cNvPr id="33" name="Chevron 32"/>
          <p:cNvSpPr/>
          <p:nvPr/>
        </p:nvSpPr>
        <p:spPr>
          <a:xfrm>
            <a:off x="5696712" y="4910328"/>
            <a:ext cx="146304" cy="237744"/>
          </a:xfrm>
          <a:prstGeom prst="chevron">
            <a:avLst/>
          </a:prstGeom>
          <a:solidFill>
            <a:srgbClr val="FD82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ounded Rectangle 33"/>
          <p:cNvSpPr/>
          <p:nvPr/>
        </p:nvSpPr>
        <p:spPr>
          <a:xfrm>
            <a:off x="5888736" y="4160520"/>
            <a:ext cx="1572768" cy="1737360"/>
          </a:xfrm>
          <a:prstGeom prst="roundRect">
            <a:avLst>
              <a:gd name="adj" fmla="val 6000"/>
            </a:avLst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5980175" y="4297680"/>
            <a:ext cx="13898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>
                <a:solidFill>
                  <a:srgbClr val="FD8204"/>
                </a:solidFill>
                <a:latin typeface="나눔스퀘어 ExtraBold"/>
                <a:ea typeface="나눔스퀘어 ExtraBold"/>
              </a:rPr>
              <a:t>STEP 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80175" y="4572000"/>
            <a:ext cx="138988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FFFFFF"/>
                </a:solidFill>
                <a:latin typeface="나눔스퀘어 ExtraBold"/>
                <a:ea typeface="나눔스퀘어 ExtraBold"/>
              </a:rPr>
              <a:t>검증자 확정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80175" y="4983480"/>
            <a:ext cx="138988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E7E4DE"/>
                </a:solidFill>
                <a:latin typeface="나눔스퀘어"/>
                <a:ea typeface="나눔스퀘어"/>
              </a:rPr>
              <a:t>원본 셀 대조 화면</a:t>
            </a:r>
          </a:p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E7E4DE"/>
                </a:solidFill>
                <a:latin typeface="나눔스퀘어"/>
                <a:ea typeface="나눔스퀘어"/>
              </a:rPr>
              <a:t>수정·승인·반려</a:t>
            </a:r>
          </a:p>
        </p:txBody>
      </p:sp>
      <p:sp>
        <p:nvSpPr>
          <p:cNvPr id="38" name="Chevron 37"/>
          <p:cNvSpPr/>
          <p:nvPr/>
        </p:nvSpPr>
        <p:spPr>
          <a:xfrm>
            <a:off x="7507223" y="4910328"/>
            <a:ext cx="146304" cy="237744"/>
          </a:xfrm>
          <a:prstGeom prst="chevron">
            <a:avLst/>
          </a:prstGeom>
          <a:solidFill>
            <a:srgbClr val="FD82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ounded Rectangle 38"/>
          <p:cNvSpPr/>
          <p:nvPr/>
        </p:nvSpPr>
        <p:spPr>
          <a:xfrm>
            <a:off x="7699248" y="4160520"/>
            <a:ext cx="1572768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52400" algn="ctr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790688" y="4297680"/>
            <a:ext cx="13898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>
                <a:solidFill>
                  <a:srgbClr val="FD8204"/>
                </a:solidFill>
                <a:latin typeface="나눔스퀘어 ExtraBold"/>
                <a:ea typeface="나눔스퀘어 ExtraBold"/>
              </a:rPr>
              <a:t>STEP 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90688" y="4572000"/>
            <a:ext cx="138988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1A1714"/>
                </a:solidFill>
                <a:latin typeface="나눔스퀘어 ExtraBold"/>
                <a:ea typeface="나눔스퀘어 ExtraBold"/>
              </a:rPr>
              <a:t>메타DB 반영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90688" y="4983480"/>
            <a:ext cx="138988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3A362F"/>
                </a:solidFill>
                <a:latin typeface="나눔스퀘어"/>
                <a:ea typeface="나눔스퀘어"/>
              </a:rPr>
              <a:t>사람 수정값 우선</a:t>
            </a:r>
          </a:p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3A362F"/>
                </a:solidFill>
                <a:latin typeface="나눔스퀘어"/>
                <a:ea typeface="나눔스퀘어"/>
              </a:rPr>
              <a:t>변경 이력 보관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HYBRID RAG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0467CE0-9CA5-1A81-CC61-627D44FD67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316148F-D84E-47A3-B267-E08DF939B7C4}" type="slidenum">
              <a:rPr lang="ko-KR" altLang="en-US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pPr/>
              <a:t>12</a:t>
            </a:fld>
            <a:r>
              <a:rPr lang="en-US" altLang="ko-KR">
                <a:latin typeface="나눔스퀘어" panose="020B0600000101010101" pitchFamily="50" charset="-127"/>
                <a:ea typeface="나눔스퀘어" panose="020B0600000101010101" pitchFamily="50" charset="-127"/>
              </a:rPr>
              <a:t>/28</a:t>
            </a:r>
            <a:endParaRPr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" name="Title"/>
          <p:cNvSpPr txBox="1"/>
          <p:nvPr/>
        </p:nvSpPr>
        <p:spPr>
          <a:xfrm>
            <a:off x="448056" y="777240"/>
            <a:ext cx="8961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1">
                <a:solidFill>
                  <a:srgbClr val="1A1714"/>
                </a:solidFill>
                <a:latin typeface="나눔스퀘어 ExtraBold"/>
                <a:ea typeface="나눔스퀘어 ExtraBold"/>
              </a:rPr>
              <a:t>하이브리드 RAG — 정량 스펙과 과거 교훈을 한 번에 답합니다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448056" y="1298448"/>
            <a:ext cx="8961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3A362F"/>
                </a:solidFill>
                <a:latin typeface="나눔스퀘어"/>
                <a:ea typeface="나눔스퀘어"/>
              </a:rPr>
              <a:t>질문 의도를 나눠 수치는 메타DB에서 SQL로, 경험 지식은 L/L·시방서에서 벡터 검색으로 찾은 뒤 하나의 답변으로 통합합니다.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65960"/>
            <a:ext cx="8961120" cy="566928"/>
          </a:xfrm>
          <a:prstGeom prst="roundRect">
            <a:avLst>
              <a:gd name="adj" fmla="val 20000"/>
            </a:avLst>
          </a:prstGeom>
          <a:solidFill>
            <a:srgbClr val="F5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FaComments_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03120"/>
            <a:ext cx="292608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51560" y="1965960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D8204"/>
                </a:solidFill>
                <a:latin typeface="나눔스퀘어 ExtraBold"/>
                <a:ea typeface="나눔스퀘어 ExtraBold"/>
              </a:rPr>
              <a:t>질의 예시  </a:t>
            </a:r>
            <a:r>
              <a:rPr sz="1200" b="0">
                <a:solidFill>
                  <a:srgbClr val="1A1714"/>
                </a:solidFill>
                <a:latin typeface="나눔스퀘어"/>
                <a:ea typeface="나눔스퀘어"/>
              </a:rPr>
              <a:t>“P-101A 펌프의 설계 압력과 정격 유량은? 같은 유형 펌프의 과거 문제 사례도 알려줘”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926080"/>
            <a:ext cx="1417320" cy="2377440"/>
          </a:xfrm>
          <a:prstGeom prst="roundRect">
            <a:avLst>
              <a:gd name="adj" fmla="val 6000"/>
            </a:avLst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FaRobot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3154680"/>
            <a:ext cx="457200" cy="457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3749039"/>
            <a:ext cx="13258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FFFFFF"/>
                </a:solidFill>
                <a:latin typeface="나눔스퀘어"/>
                <a:ea typeface="나눔스퀘어"/>
              </a:rPr>
              <a:t>의도 분류</a:t>
            </a:r>
          </a:p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FFFFFF"/>
                </a:solidFill>
                <a:latin typeface="나눔스퀘어"/>
                <a:ea typeface="나눔스퀘어"/>
              </a:rPr>
              <a:t>(Agent 라우팅)</a:t>
            </a:r>
          </a:p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FFFFFF"/>
                </a:solidFill>
                <a:latin typeface="나눔스퀘어"/>
                <a:ea typeface="나눔스퀘어"/>
              </a:rPr>
              <a:t> </a:t>
            </a:r>
          </a:p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FFFFFF"/>
                </a:solidFill>
                <a:latin typeface="나눔스퀘어"/>
                <a:ea typeface="나눔스퀘어"/>
              </a:rPr>
              <a:t>정량 / 비정형</a:t>
            </a:r>
          </a:p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FFFFFF"/>
                </a:solidFill>
                <a:latin typeface="나눔스퀘어"/>
                <a:ea typeface="나눔스퀘어"/>
              </a:rPr>
              <a:t>/ 복합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1874519" y="3474720"/>
            <a:ext cx="274321" cy="640080"/>
          </a:xfrm>
          <a:prstGeom prst="line">
            <a:avLst/>
          </a:prstGeom>
          <a:ln w="19050">
            <a:solidFill>
              <a:srgbClr val="FD820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194560" y="2926080"/>
            <a:ext cx="1920240" cy="1097280"/>
          </a:xfrm>
          <a:prstGeom prst="roundRect">
            <a:avLst>
              <a:gd name="adj" fmla="val 6000"/>
            </a:avLst>
          </a:prstGeom>
          <a:solidFill>
            <a:srgbClr val="FDEBD9"/>
          </a:solidFill>
          <a:ln w="9525">
            <a:solidFill>
              <a:srgbClr val="F8AF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286000" y="2999232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E8592A"/>
                </a:solidFill>
                <a:latin typeface="나눔스퀘어 ExtraBold"/>
                <a:ea typeface="나눔스퀘어 ExtraBold"/>
              </a:rPr>
              <a:t>정량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3227832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A1714"/>
                </a:solidFill>
                <a:latin typeface="나눔스퀘어 ExtraBold"/>
                <a:ea typeface="나눔스퀘어 ExtraBold"/>
              </a:rPr>
              <a:t>NL2SQL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3529584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3A362F"/>
                </a:solidFill>
                <a:latin typeface="나눔스퀘어"/>
                <a:ea typeface="나눔스퀘어"/>
              </a:rPr>
              <a:t>자연어 → SQL</a:t>
            </a:r>
          </a:p>
          <a:p>
            <a:pPr algn="l">
              <a:lnSpc>
                <a:spcPct val="115000"/>
              </a:lnSpc>
            </a:pPr>
            <a:r>
              <a:rPr sz="950" b="0">
                <a:solidFill>
                  <a:srgbClr val="3A362F"/>
                </a:solidFill>
                <a:latin typeface="나눔스퀘어"/>
                <a:ea typeface="나눔스퀘어"/>
              </a:rPr>
              <a:t>읽기 전용 실행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160520" y="3474720"/>
            <a:ext cx="274320" cy="0"/>
          </a:xfrm>
          <a:prstGeom prst="line">
            <a:avLst/>
          </a:prstGeom>
          <a:ln w="19050">
            <a:solidFill>
              <a:srgbClr val="FD820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480560" y="2926080"/>
            <a:ext cx="1600200" cy="1097280"/>
          </a:xfrm>
          <a:prstGeom prst="roundRect">
            <a:avLst>
              <a:gd name="adj" fmla="val 6000"/>
            </a:avLst>
          </a:prstGeom>
          <a:solidFill>
            <a:srgbClr val="F5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572000" y="310896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714"/>
                </a:solidFill>
                <a:latin typeface="나눔스퀘어 ExtraBold"/>
                <a:ea typeface="나눔스퀘어 ExtraBold"/>
              </a:rPr>
              <a:t>MSSQL 메타DB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47472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>
                <a:solidFill>
                  <a:srgbClr val="3A362F"/>
                </a:solidFill>
                <a:latin typeface="나눔스퀘어"/>
                <a:ea typeface="나눔스퀘어"/>
              </a:rPr>
              <a:t>설계 압력·유량 원값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126480" y="3474720"/>
            <a:ext cx="274320" cy="640080"/>
          </a:xfrm>
          <a:prstGeom prst="line">
            <a:avLst/>
          </a:prstGeom>
          <a:ln w="19050">
            <a:solidFill>
              <a:srgbClr val="FD820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74519" y="4114800"/>
            <a:ext cx="274321" cy="640079"/>
          </a:xfrm>
          <a:prstGeom prst="line">
            <a:avLst/>
          </a:prstGeom>
          <a:ln w="19050">
            <a:solidFill>
              <a:srgbClr val="FD820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2194560" y="4206240"/>
            <a:ext cx="1920240" cy="1097280"/>
          </a:xfrm>
          <a:prstGeom prst="roundRect">
            <a:avLst>
              <a:gd name="adj" fmla="val 6000"/>
            </a:avLst>
          </a:prstGeom>
          <a:solidFill>
            <a:srgbClr val="FDEBD9"/>
          </a:solidFill>
          <a:ln w="9525">
            <a:solidFill>
              <a:srgbClr val="F8AF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2286000" y="4279392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E8592A"/>
                </a:solidFill>
                <a:latin typeface="나눔스퀘어 ExtraBold"/>
                <a:ea typeface="나눔스퀘어 ExtraBold"/>
              </a:rPr>
              <a:t>비정형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4507992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A1714"/>
                </a:solidFill>
                <a:latin typeface="나눔스퀘어 ExtraBold"/>
                <a:ea typeface="나눔스퀘어 ExtraBold"/>
              </a:rPr>
              <a:t>RAG Agent · GraphRAG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4809744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3A362F"/>
                </a:solidFill>
                <a:latin typeface="나눔스퀘어"/>
                <a:ea typeface="나눔스퀘어"/>
              </a:rPr>
              <a:t>벡터 + 키워드</a:t>
            </a:r>
          </a:p>
          <a:p>
            <a:pPr algn="l">
              <a:lnSpc>
                <a:spcPct val="115000"/>
              </a:lnSpc>
            </a:pPr>
            <a:r>
              <a:rPr sz="950" b="0">
                <a:solidFill>
                  <a:srgbClr val="3A362F"/>
                </a:solidFill>
                <a:latin typeface="나눔스퀘어"/>
                <a:ea typeface="나눔스퀘어"/>
              </a:rPr>
              <a:t>설비-이슈 연계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160520" y="4754879"/>
            <a:ext cx="274320" cy="0"/>
          </a:xfrm>
          <a:prstGeom prst="line">
            <a:avLst/>
          </a:prstGeom>
          <a:ln w="19050">
            <a:solidFill>
              <a:srgbClr val="FD820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4480560" y="4206240"/>
            <a:ext cx="1600200" cy="1097280"/>
          </a:xfrm>
          <a:prstGeom prst="roundRect">
            <a:avLst>
              <a:gd name="adj" fmla="val 6000"/>
            </a:avLst>
          </a:prstGeom>
          <a:solidFill>
            <a:srgbClr val="F5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572000" y="438912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714"/>
                </a:solidFill>
                <a:latin typeface="나눔스퀘어 ExtraBold"/>
                <a:ea typeface="나눔스퀘어 ExtraBold"/>
              </a:rPr>
              <a:t>L/L · 시방서 색인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4754879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>
                <a:solidFill>
                  <a:srgbClr val="3A362F"/>
                </a:solidFill>
                <a:latin typeface="나눔스퀘어"/>
                <a:ea typeface="나눔스퀘어"/>
              </a:rPr>
              <a:t>유사 펌프 이슈·대책</a:t>
            </a:r>
          </a:p>
        </p:txBody>
      </p:sp>
      <p:cxnSp>
        <p:nvCxnSpPr>
          <p:cNvPr id="31" name="Connector 30"/>
          <p:cNvCxnSpPr/>
          <p:nvPr/>
        </p:nvCxnSpPr>
        <p:spPr>
          <a:xfrm flipV="1">
            <a:off x="6126480" y="4114800"/>
            <a:ext cx="274320" cy="640079"/>
          </a:xfrm>
          <a:prstGeom prst="line">
            <a:avLst/>
          </a:prstGeom>
          <a:ln w="19050">
            <a:solidFill>
              <a:srgbClr val="FD820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446520" y="2926080"/>
            <a:ext cx="297180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52400" algn="ctr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601968" y="3035808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1A1714"/>
                </a:solidFill>
                <a:latin typeface="나눔스퀘어 ExtraBold"/>
                <a:ea typeface="나눔스퀘어 ExtraBold"/>
              </a:rPr>
              <a:t>통합 답변 (예시)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01968" y="3364992"/>
            <a:ext cx="269748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15000"/>
              </a:lnSpc>
              <a:spcAft>
                <a:spcPts val="300"/>
              </a:spcAft>
              <a:buClr>
                <a:srgbClr val="FD8204"/>
              </a:buClr>
              <a:buChar char="•"/>
            </a:pPr>
            <a:r>
              <a:rPr sz="1000" b="1">
                <a:solidFill>
                  <a:srgbClr val="1A1714"/>
                </a:solidFill>
                <a:latin typeface="나눔스퀘어 ExtraBold"/>
                <a:ea typeface="나눔스퀘어 ExtraBold"/>
              </a:rPr>
              <a:t>설계 압력 ○○ barg · 정격 유량 ○○ m³/h</a:t>
            </a:r>
          </a:p>
          <a:p>
            <a:pPr algn="l" marL="146304" indent="-146304">
              <a:lnSpc>
                <a:spcPct val="115000"/>
              </a:lnSpc>
              <a:spcAft>
                <a:spcPts val="300"/>
              </a:spcAft>
              <a:buClr>
                <a:srgbClr val="FD8204"/>
              </a:buClr>
              <a:buChar char="•"/>
            </a:pPr>
            <a:r>
              <a:rPr sz="1000" b="0">
                <a:solidFill>
                  <a:srgbClr val="3A362F"/>
                </a:solidFill>
                <a:latin typeface="나눔스퀘어"/>
                <a:ea typeface="나눔스퀘어"/>
              </a:rPr>
              <a:t>근거: MDS_P-101A.xlsx › Datasheet › 14행</a:t>
            </a:r>
          </a:p>
          <a:p>
            <a:pPr algn="l" marL="146304" indent="-146304">
              <a:lnSpc>
                <a:spcPct val="115000"/>
              </a:lnSpc>
              <a:spcAft>
                <a:spcPts val="300"/>
              </a:spcAft>
              <a:buClr>
                <a:srgbClr val="FD8204"/>
              </a:buClr>
              <a:buChar char="•"/>
            </a:pPr>
            <a:r>
              <a:rPr sz="1000" b="0">
                <a:solidFill>
                  <a:srgbClr val="3A362F"/>
                </a:solidFill>
                <a:latin typeface="나눔스퀘어"/>
                <a:ea typeface="나눔스퀘어"/>
              </a:rPr>
              <a:t>유사 사례: 씰 누설 — 원인·재발 방지 권고</a:t>
            </a:r>
          </a:p>
          <a:p>
            <a:pPr algn="l" marL="146304" indent="-146304">
              <a:lnSpc>
                <a:spcPct val="115000"/>
              </a:lnSpc>
              <a:spcAft>
                <a:spcPts val="300"/>
              </a:spcAft>
              <a:buClr>
                <a:srgbClr val="FD8204"/>
              </a:buClr>
              <a:buChar char="•"/>
            </a:pPr>
            <a:r>
              <a:rPr sz="1000" b="0">
                <a:solidFill>
                  <a:srgbClr val="3A362F"/>
                </a:solidFill>
                <a:latin typeface="나눔스퀘어"/>
                <a:ea typeface="나눔스퀘어"/>
              </a:rPr>
              <a:t>근거: L/L 보고서 p.12</a:t>
            </a:r>
          </a:p>
          <a:p>
            <a:pPr algn="l" marL="146304" indent="-146304">
              <a:lnSpc>
                <a:spcPct val="115000"/>
              </a:lnSpc>
              <a:spcAft>
                <a:spcPts val="300"/>
              </a:spcAft>
              <a:buClr>
                <a:srgbClr val="FD8204"/>
              </a:buClr>
              <a:buChar char="•"/>
            </a:pPr>
            <a:r>
              <a:rPr sz="1000" b="1">
                <a:solidFill>
                  <a:srgbClr val="E8592A"/>
                </a:solidFill>
                <a:latin typeface="나눔스퀘어 ExtraBold"/>
                <a:ea typeface="나눔스퀘어 ExtraBold"/>
              </a:rPr>
              <a:t>수치 가드레일 통과 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715000"/>
            <a:ext cx="8961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8A867E"/>
                </a:solidFill>
                <a:latin typeface="나눔스퀘어"/>
                <a:ea typeface="나눔스퀘어"/>
              </a:rPr>
              <a:t>※ 화면·값은 이해를 돕기 위한 예시입니다. 실제 답변은 메타DB 원값과 원천 문서 위치를 그대로 표시합니다.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TRUST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0467CE0-9CA5-1A81-CC61-627D44FD67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316148F-D84E-47A3-B267-E08DF939B7C4}" type="slidenum">
              <a:rPr lang="ko-KR" altLang="en-US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pPr/>
              <a:t>12</a:t>
            </a:fld>
            <a:r>
              <a:rPr lang="en-US" altLang="ko-KR">
                <a:latin typeface="나눔스퀘어" panose="020B0600000101010101" pitchFamily="50" charset="-127"/>
                <a:ea typeface="나눔스퀘어" panose="020B0600000101010101" pitchFamily="50" charset="-127"/>
              </a:rPr>
              <a:t>/28</a:t>
            </a:r>
            <a:endParaRPr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" name="Title"/>
          <p:cNvSpPr txBox="1"/>
          <p:nvPr/>
        </p:nvSpPr>
        <p:spPr>
          <a:xfrm>
            <a:off x="448056" y="777240"/>
            <a:ext cx="8961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1">
                <a:solidFill>
                  <a:srgbClr val="1A1714"/>
                </a:solidFill>
                <a:latin typeface="나눔스퀘어 ExtraBold"/>
                <a:ea typeface="나눔스퀘어 ExtraBold"/>
              </a:rPr>
              <a:t>엔지니어링 수치를 위한 3중 신뢰성 장치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448056" y="1298448"/>
            <a:ext cx="8961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3A362F"/>
                </a:solidFill>
                <a:latin typeface="나눔스퀘어"/>
                <a:ea typeface="나눔스퀘어"/>
              </a:rPr>
              <a:t>온도·압력·유량·재질처럼 틀리면 안 되는 값은 생성하지 않고 조회하며, 답변에 나온 수치는 다시 한번 DB와 대조합니다.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65960"/>
            <a:ext cx="2834640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52400" algn="ctr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685800" y="2148840"/>
            <a:ext cx="548640" cy="548640"/>
          </a:xfrm>
          <a:prstGeom prst="ellipse">
            <a:avLst/>
          </a:prstGeom>
          <a:solidFill>
            <a:srgbClr val="FDE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FaDatabase_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446" y="2291486"/>
            <a:ext cx="263347" cy="26334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283464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A1714"/>
                </a:solidFill>
                <a:latin typeface="나눔스퀘어 ExtraBold"/>
                <a:ea typeface="나눔스퀘어 ExtraBold"/>
              </a:rPr>
              <a:t>① 조회한 값만 답한다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246120"/>
            <a:ext cx="25146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15000"/>
              </a:lnSpc>
              <a:spcAft>
                <a:spcPts val="400"/>
              </a:spcAft>
              <a:buClr>
                <a:srgbClr val="FD8204"/>
              </a:buClr>
              <a:buChar char="•"/>
            </a:pPr>
            <a:r>
              <a:rPr sz="1050" b="0">
                <a:solidFill>
                  <a:srgbClr val="3A362F"/>
                </a:solidFill>
                <a:latin typeface="나눔스퀘어"/>
                <a:ea typeface="나눔스퀘어"/>
              </a:rPr>
              <a:t>SQL 결과 원값을 가공 없이 표로 표시</a:t>
            </a:r>
          </a:p>
          <a:p>
            <a:pPr algn="l" marL="146304" indent="-146304">
              <a:lnSpc>
                <a:spcPct val="115000"/>
              </a:lnSpc>
              <a:spcAft>
                <a:spcPts val="400"/>
              </a:spcAft>
              <a:buClr>
                <a:srgbClr val="FD8204"/>
              </a:buClr>
              <a:buChar char="•"/>
            </a:pPr>
            <a:r>
              <a:rPr sz="1050" b="0">
                <a:solidFill>
                  <a:srgbClr val="3A362F"/>
                </a:solidFill>
                <a:latin typeface="나눔스퀘어"/>
                <a:ea typeface="나눔스퀘어"/>
              </a:rPr>
              <a:t>읽기 전용 계정 · SELECT만 허용</a:t>
            </a:r>
          </a:p>
          <a:p>
            <a:pPr algn="l" marL="146304" indent="-146304">
              <a:lnSpc>
                <a:spcPct val="115000"/>
              </a:lnSpc>
              <a:spcAft>
                <a:spcPts val="400"/>
              </a:spcAft>
              <a:buClr>
                <a:srgbClr val="FD8204"/>
              </a:buClr>
              <a:buChar char="•"/>
            </a:pPr>
            <a:r>
              <a:rPr sz="1050" b="0">
                <a:solidFill>
                  <a:srgbClr val="3A362F"/>
                </a:solidFill>
                <a:latin typeface="나눔스퀘어"/>
                <a:ea typeface="나눔스퀘어"/>
              </a:rPr>
              <a:t>타임아웃 · 행 수 제한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965960"/>
            <a:ext cx="2834640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52400" algn="ctr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3703320" y="2148840"/>
            <a:ext cx="548640" cy="548640"/>
          </a:xfrm>
          <a:prstGeom prst="ellipse">
            <a:avLst/>
          </a:prstGeom>
          <a:solidFill>
            <a:srgbClr val="FDE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icture 12" descr="FaCheckCircle_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5966" y="2291486"/>
            <a:ext cx="263347" cy="26334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703320" y="283464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A1714"/>
                </a:solidFill>
                <a:latin typeface="나눔스퀘어 ExtraBold"/>
                <a:ea typeface="나눔스퀘어 ExtraBold"/>
              </a:rPr>
              <a:t>② 답변 수치를 대조한다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3246120"/>
            <a:ext cx="25146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15000"/>
              </a:lnSpc>
              <a:spcAft>
                <a:spcPts val="400"/>
              </a:spcAft>
              <a:buClr>
                <a:srgbClr val="FD8204"/>
              </a:buClr>
              <a:buChar char="•"/>
            </a:pPr>
            <a:r>
              <a:rPr sz="1050" b="0">
                <a:solidFill>
                  <a:srgbClr val="3A362F"/>
                </a:solidFill>
                <a:latin typeface="나눔스퀘어"/>
                <a:ea typeface="나눔스퀘어"/>
              </a:rPr>
              <a:t>답변 속 수치·단위·재질 자동 추출</a:t>
            </a:r>
          </a:p>
          <a:p>
            <a:pPr algn="l" marL="146304" indent="-146304">
              <a:lnSpc>
                <a:spcPct val="115000"/>
              </a:lnSpc>
              <a:spcAft>
                <a:spcPts val="400"/>
              </a:spcAft>
              <a:buClr>
                <a:srgbClr val="FD8204"/>
              </a:buClr>
              <a:buChar char="•"/>
            </a:pPr>
            <a:r>
              <a:rPr sz="1050" b="0">
                <a:solidFill>
                  <a:srgbClr val="3A362F"/>
                </a:solidFill>
                <a:latin typeface="나눔스퀘어"/>
                <a:ea typeface="나눔스퀘어"/>
              </a:rPr>
              <a:t>단위 환산 후 MSSQL 원값과 비교</a:t>
            </a:r>
          </a:p>
          <a:p>
            <a:pPr algn="l" marL="146304" indent="-146304">
              <a:lnSpc>
                <a:spcPct val="115000"/>
              </a:lnSpc>
              <a:spcAft>
                <a:spcPts val="400"/>
              </a:spcAft>
              <a:buClr>
                <a:srgbClr val="FD8204"/>
              </a:buClr>
              <a:buChar char="•"/>
            </a:pPr>
            <a:r>
              <a:rPr sz="1050" b="0">
                <a:solidFill>
                  <a:srgbClr val="3A362F"/>
                </a:solidFill>
                <a:latin typeface="나눔스퀘어"/>
                <a:ea typeface="나눔스퀘어"/>
              </a:rPr>
              <a:t>불일치 시 경고 또는 답변 차단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1965960"/>
            <a:ext cx="2834640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52400" algn="ctr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6720840" y="2148840"/>
            <a:ext cx="548640" cy="548640"/>
          </a:xfrm>
          <a:prstGeom prst="ellipse">
            <a:avLst/>
          </a:prstGeom>
          <a:solidFill>
            <a:srgbClr val="FDE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FaMapMarkerAlt_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3486" y="2291486"/>
            <a:ext cx="263347" cy="26334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720840" y="283464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A1714"/>
                </a:solidFill>
                <a:latin typeface="나눔스퀘어 ExtraBold"/>
                <a:ea typeface="나눔스퀘어 ExtraBold"/>
              </a:rPr>
              <a:t>③ 근거를 보여준다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3246120"/>
            <a:ext cx="25146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15000"/>
              </a:lnSpc>
              <a:spcAft>
                <a:spcPts val="400"/>
              </a:spcAft>
              <a:buClr>
                <a:srgbClr val="FD8204"/>
              </a:buClr>
              <a:buChar char="•"/>
            </a:pPr>
            <a:r>
              <a:rPr sz="1050" b="0">
                <a:solidFill>
                  <a:srgbClr val="3A362F"/>
                </a:solidFill>
                <a:latin typeface="나눔스퀘어"/>
                <a:ea typeface="나눔스퀘어"/>
              </a:rPr>
              <a:t>파일 · 시트 · 행 / 문서 페이지 링크</a:t>
            </a:r>
          </a:p>
          <a:p>
            <a:pPr algn="l" marL="146304" indent="-146304">
              <a:lnSpc>
                <a:spcPct val="115000"/>
              </a:lnSpc>
              <a:spcAft>
                <a:spcPts val="400"/>
              </a:spcAft>
              <a:buClr>
                <a:srgbClr val="FD8204"/>
              </a:buClr>
              <a:buChar char="•"/>
            </a:pPr>
            <a:r>
              <a:rPr sz="1050" b="0">
                <a:solidFill>
                  <a:srgbClr val="3A362F"/>
                </a:solidFill>
                <a:latin typeface="나눔스퀘어"/>
                <a:ea typeface="나눔스퀘어"/>
              </a:rPr>
              <a:t>근거 없는 수치는 표시하지 않음</a:t>
            </a:r>
          </a:p>
          <a:p>
            <a:pPr algn="l" marL="146304" indent="-146304">
              <a:lnSpc>
                <a:spcPct val="115000"/>
              </a:lnSpc>
              <a:spcAft>
                <a:spcPts val="400"/>
              </a:spcAft>
              <a:buClr>
                <a:srgbClr val="FD8204"/>
              </a:buClr>
              <a:buChar char="•"/>
            </a:pPr>
            <a:r>
              <a:rPr sz="1050" b="0">
                <a:solidFill>
                  <a:srgbClr val="3A362F"/>
                </a:solidFill>
                <a:latin typeface="나눔스퀘어"/>
                <a:ea typeface="나눔스퀘어"/>
              </a:rPr>
              <a:t>원천 파일로 바로 이동해 확인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7091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D8204"/>
                </a:solidFill>
                <a:latin typeface="나눔스퀘어 ExtraBold"/>
                <a:ea typeface="나눔스퀘어 ExtraBold"/>
              </a:rPr>
              <a:t>가드레일 판정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029200"/>
            <a:ext cx="2834640" cy="566928"/>
          </a:xfrm>
          <a:prstGeom prst="roundRect">
            <a:avLst>
              <a:gd name="adj" fmla="val 30000"/>
            </a:avLst>
          </a:prstGeom>
          <a:solidFill>
            <a:srgbClr val="FFF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40080" y="5029200"/>
            <a:ext cx="6400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A1714"/>
                </a:solidFill>
                <a:latin typeface="나눔스퀘어 ExtraBold"/>
                <a:ea typeface="나눔스퀘어 ExtraBold"/>
              </a:rPr>
              <a:t>통과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029200"/>
            <a:ext cx="187451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714"/>
                </a:solidFill>
                <a:latin typeface="나눔스퀘어"/>
                <a:ea typeface="나눔스퀘어"/>
              </a:rPr>
              <a:t>DB 원값과 일치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74720" y="5029200"/>
            <a:ext cx="2834640" cy="566928"/>
          </a:xfrm>
          <a:prstGeom prst="roundRect">
            <a:avLst>
              <a:gd name="adj" fmla="val 30000"/>
            </a:avLst>
          </a:prstGeom>
          <a:solidFill>
            <a:srgbClr val="FDD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3657600" y="5029200"/>
            <a:ext cx="6400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A1714"/>
                </a:solidFill>
                <a:latin typeface="나눔스퀘어 ExtraBold"/>
                <a:ea typeface="나눔스퀘어 ExtraBold"/>
              </a:rPr>
              <a:t>경고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5029200"/>
            <a:ext cx="187451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714"/>
                </a:solidFill>
                <a:latin typeface="나눔스퀘어"/>
                <a:ea typeface="나눔스퀘어"/>
              </a:rPr>
              <a:t>허용 오차 내 차이 · 근거 일부 누락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92240" y="5029200"/>
            <a:ext cx="2834640" cy="566928"/>
          </a:xfrm>
          <a:prstGeom prst="roundRect">
            <a:avLst>
              <a:gd name="adj" fmla="val 30000"/>
            </a:avLst>
          </a:prstGeom>
          <a:solidFill>
            <a:srgbClr val="E85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675120" y="5029200"/>
            <a:ext cx="6400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FFFFFF"/>
                </a:solidFill>
                <a:latin typeface="나눔스퀘어 ExtraBold"/>
                <a:ea typeface="나눔스퀘어 ExtraBold"/>
              </a:rPr>
              <a:t>차단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60919" y="5029200"/>
            <a:ext cx="187451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나눔스퀘어"/>
                <a:ea typeface="나눔스퀘어"/>
              </a:rPr>
              <a:t>불일치 또는 근거 없는 임계 수치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779008"/>
            <a:ext cx="8961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3A362F"/>
                </a:solidFill>
                <a:latin typeface="나눔스퀘어"/>
                <a:ea typeface="나눔스퀘어"/>
              </a:rPr>
              <a:t>허용 오차·단위 기준·차단 범위는 TFT와 함께 정의하고, Golden Set으로 Text-to-SQL 실행 정확도와 RAG 답변 정확도를 정량 검증합니다.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INFRA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0467CE0-9CA5-1A81-CC61-627D44FD67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316148F-D84E-47A3-B267-E08DF939B7C4}" type="slidenum">
              <a:rPr lang="ko-KR" altLang="en-US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pPr/>
              <a:t>12</a:t>
            </a:fld>
            <a:r>
              <a:rPr lang="en-US" altLang="ko-KR">
                <a:latin typeface="나눔스퀘어" panose="020B0600000101010101" pitchFamily="50" charset="-127"/>
                <a:ea typeface="나눔스퀘어" panose="020B0600000101010101" pitchFamily="50" charset="-127"/>
              </a:rPr>
              <a:t>/28</a:t>
            </a:r>
            <a:endParaRPr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" name="Title"/>
          <p:cNvSpPr txBox="1"/>
          <p:nvPr/>
        </p:nvSpPr>
        <p:spPr>
          <a:xfrm>
            <a:off x="448056" y="777240"/>
            <a:ext cx="8961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1">
                <a:solidFill>
                  <a:srgbClr val="1A1714"/>
                </a:solidFill>
                <a:latin typeface="나눔스퀘어 ExtraBold"/>
                <a:ea typeface="나눔스퀘어 ExtraBold"/>
              </a:rPr>
              <a:t>L40S 2장에서 SLM과 LLM을 함께 운영하는 GPU 분할안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448056" y="1298448"/>
            <a:ext cx="8961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3A362F"/>
                </a:solidFill>
                <a:latin typeface="나눔스퀘어"/>
                <a:ea typeface="나눔스퀘어"/>
              </a:rPr>
              <a:t>L40S는 MIG를 지원하지 않아 vLLM 메모리 할당과 텐서 병렬(TP)로 나눕니다. 동시 사용자 목표에 따라 두 안 중 선택하고 M1 PoC에서 실측해 확정합니다.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896112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52400" algn="ctr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080" y="2240279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A1714"/>
                </a:solidFill>
                <a:latin typeface="나눔스퀘어 ExtraBold"/>
                <a:ea typeface="나눔스퀘어 ExtraBold"/>
              </a:rPr>
              <a:t>1안 — LLM 상시 구동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32887"/>
            <a:ext cx="8503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867E"/>
                </a:solidFill>
                <a:latin typeface="나눔스퀘어"/>
                <a:ea typeface="나눔스퀘어"/>
              </a:rPr>
              <a:t>70B INT4를 두 GPU에 나눠(TP=2) 상시 서빙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07791"/>
            <a:ext cx="7315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A1714"/>
                </a:solidFill>
                <a:latin typeface="나눔스퀘어 ExtraBold"/>
                <a:ea typeface="나눔스퀘어 ExtraBold"/>
              </a:rPr>
              <a:t>GPU 0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2907791"/>
            <a:ext cx="3602735" cy="347472"/>
          </a:xfrm>
          <a:prstGeom prst="rect">
            <a:avLst/>
          </a:prstGeom>
          <a:solidFill>
            <a:srgbClr val="FD82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426464" y="2907791"/>
            <a:ext cx="351129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FFFFF"/>
                </a:solidFill>
                <a:latin typeface="나눔스퀘어"/>
                <a:ea typeface="나눔스퀘어"/>
              </a:rPr>
              <a:t>Llama-3.1-70B INT4 (TP 0) 28.8GB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92623" y="2907791"/>
            <a:ext cx="736091" cy="347472"/>
          </a:xfrm>
          <a:prstGeom prst="rect">
            <a:avLst/>
          </a:prstGeom>
          <a:solidFill>
            <a:srgbClr val="F8AF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047487" y="2907791"/>
            <a:ext cx="644651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A1714"/>
                </a:solidFill>
                <a:latin typeface="나눔스퀘어"/>
                <a:ea typeface="나눔스퀘어"/>
              </a:rPr>
              <a:t>임베딩 6GB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47003" y="2907791"/>
            <a:ext cx="1641347" cy="347472"/>
          </a:xfrm>
          <a:prstGeom prst="rect">
            <a:avLst/>
          </a:prstGeom>
          <a:solidFill>
            <a:srgbClr val="E7E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801867" y="2907791"/>
            <a:ext cx="1549907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A1714"/>
                </a:solidFill>
                <a:latin typeface="나눔스퀘어"/>
                <a:ea typeface="나눔스퀘어"/>
              </a:rPr>
              <a:t>여유 13.2GB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2907791"/>
            <a:ext cx="5486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867E"/>
                </a:solidFill>
                <a:latin typeface="나눔스퀘어"/>
                <a:ea typeface="나눔스퀘어"/>
              </a:rPr>
              <a:t>48GB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364991"/>
            <a:ext cx="7315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A1714"/>
                </a:solidFill>
                <a:latin typeface="나눔스퀘어 ExtraBold"/>
                <a:ea typeface="나눔스퀘어 ExtraBold"/>
              </a:rPr>
              <a:t>GPU 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0" y="3364991"/>
            <a:ext cx="3602735" cy="347472"/>
          </a:xfrm>
          <a:prstGeom prst="rect">
            <a:avLst/>
          </a:prstGeom>
          <a:solidFill>
            <a:srgbClr val="FD82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426464" y="3364991"/>
            <a:ext cx="351129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FFFFF"/>
                </a:solidFill>
                <a:latin typeface="나눔스퀘어"/>
                <a:ea typeface="나눔스퀘어"/>
              </a:rPr>
              <a:t>Llama-3.1-70B INT4 (TP 1) 28.8GB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92623" y="3364991"/>
            <a:ext cx="2093976" cy="347472"/>
          </a:xfrm>
          <a:prstGeom prst="rect">
            <a:avLst/>
          </a:prstGeom>
          <a:solidFill>
            <a:srgbClr val="E85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047487" y="3364991"/>
            <a:ext cx="20025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FFFFF"/>
                </a:solidFill>
                <a:latin typeface="나눔스퀘어"/>
                <a:ea typeface="나눔스퀘어"/>
              </a:rPr>
              <a:t>Qwen2.5-14B 16.8GB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04888" y="3364991"/>
            <a:ext cx="283463" cy="347472"/>
          </a:xfrm>
          <a:prstGeom prst="rect">
            <a:avLst/>
          </a:prstGeom>
          <a:solidFill>
            <a:srgbClr val="E7E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452360" y="3364991"/>
            <a:ext cx="5486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867E"/>
                </a:solidFill>
                <a:latin typeface="나눔스퀘어"/>
                <a:ea typeface="나눔스퀘어"/>
              </a:rPr>
              <a:t>48GB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0" y="2907791"/>
            <a:ext cx="13258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3A362F"/>
                </a:solidFill>
                <a:latin typeface="나눔스퀘어"/>
                <a:ea typeface="나눔스퀘어"/>
              </a:rPr>
              <a:t>고품질 종합 답변 상시 제공 · 동시 사용자 수는 제한적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069079"/>
            <a:ext cx="896112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52400" algn="ctr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40080" y="420624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A1714"/>
                </a:solidFill>
                <a:latin typeface="나눔스퀘어 ExtraBold"/>
                <a:ea typeface="나눔스퀘어 ExtraBold"/>
              </a:rPr>
              <a:t>2안 — SLM 주력 + LLM 필요 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498847"/>
            <a:ext cx="8503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867E"/>
                </a:solidFill>
                <a:latin typeface="나눔스퀘어"/>
                <a:ea typeface="나눔스퀘어"/>
              </a:rPr>
              <a:t>32B INT4를 주력으로, 70B는 배치·필요 시 로드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873751"/>
            <a:ext cx="7315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A1714"/>
                </a:solidFill>
                <a:latin typeface="나눔스퀘어 ExtraBold"/>
                <a:ea typeface="나눔스퀘어 ExtraBold"/>
              </a:rPr>
              <a:t>GPU 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71600" y="4873751"/>
            <a:ext cx="5111496" cy="347472"/>
          </a:xfrm>
          <a:prstGeom prst="rect">
            <a:avLst/>
          </a:prstGeom>
          <a:solidFill>
            <a:srgbClr val="FD82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426464" y="4873751"/>
            <a:ext cx="502005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FFFFF"/>
                </a:solidFill>
                <a:latin typeface="나눔스퀘어"/>
                <a:ea typeface="나눔스퀘어"/>
              </a:rPr>
              <a:t>Qwen2.5-32B INT4 40.8GB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01383" y="4873751"/>
            <a:ext cx="886967" cy="347472"/>
          </a:xfrm>
          <a:prstGeom prst="rect">
            <a:avLst/>
          </a:prstGeom>
          <a:solidFill>
            <a:srgbClr val="E7E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556247" y="4873751"/>
            <a:ext cx="795527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A1714"/>
                </a:solidFill>
                <a:latin typeface="나눔스퀘어"/>
                <a:ea typeface="나눔스퀘어"/>
              </a:rPr>
              <a:t>여유 7.2GB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52360" y="4873751"/>
            <a:ext cx="5486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867E"/>
                </a:solidFill>
                <a:latin typeface="나눔스퀘어"/>
                <a:ea typeface="나눔스퀘어"/>
              </a:rPr>
              <a:t>48GB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330951"/>
            <a:ext cx="7315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A1714"/>
                </a:solidFill>
                <a:latin typeface="나눔스퀘어 ExtraBold"/>
                <a:ea typeface="나눔스퀘어 ExtraBold"/>
              </a:rPr>
              <a:t>GPU 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371600" y="5330951"/>
            <a:ext cx="2093976" cy="347472"/>
          </a:xfrm>
          <a:prstGeom prst="rect">
            <a:avLst/>
          </a:prstGeom>
          <a:solidFill>
            <a:srgbClr val="E85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1426464" y="5330951"/>
            <a:ext cx="20025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FFFFF"/>
                </a:solidFill>
                <a:latin typeface="나눔스퀘어"/>
                <a:ea typeface="나눔스퀘어"/>
              </a:rPr>
              <a:t>Qwen2.5-14B 16.8GB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83864" y="5330951"/>
            <a:ext cx="2496312" cy="347472"/>
          </a:xfrm>
          <a:prstGeom prst="rect">
            <a:avLst/>
          </a:prstGeom>
          <a:solidFill>
            <a:srgbClr val="F8AF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3538728" y="5330951"/>
            <a:ext cx="24048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A1714"/>
                </a:solidFill>
                <a:latin typeface="나눔스퀘어"/>
                <a:ea typeface="나눔스퀘어"/>
              </a:rPr>
              <a:t>임베딩·리랭커·OCR 20GB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98464" y="5330951"/>
            <a:ext cx="1389887" cy="347472"/>
          </a:xfrm>
          <a:prstGeom prst="rect">
            <a:avLst/>
          </a:prstGeom>
          <a:solidFill>
            <a:srgbClr val="E7E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6053328" y="5330951"/>
            <a:ext cx="129844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A1714"/>
                </a:solidFill>
                <a:latin typeface="나눔스퀘어"/>
                <a:ea typeface="나눔스퀘어"/>
              </a:rPr>
              <a:t>여유 11.2GB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52360" y="5330951"/>
            <a:ext cx="5486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867E"/>
                </a:solidFill>
                <a:latin typeface="나눔스퀘어"/>
                <a:ea typeface="나눔스퀘어"/>
              </a:rPr>
              <a:t>48GB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01000" y="4873751"/>
            <a:ext cx="13258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3A362F"/>
                </a:solidFill>
                <a:latin typeface="나눔스퀘어"/>
                <a:ea typeface="나눔스퀘어"/>
              </a:rPr>
              <a:t>KV 캐시 여유가 커서 동시 사용자 대응 유리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5989320"/>
            <a:ext cx="8961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867E"/>
                </a:solidFill>
                <a:latin typeface="나눔스퀘어"/>
                <a:ea typeface="나눔스퀘어"/>
              </a:rPr>
              <a:t>※ 할당량은 공개 체크포인트 크기 기반 추정치(vLLM gpu-memory-utilization 기준). 모델은 RFP 예시 기준이며 최신 동급 오픈소스 모델도 비교 제시합니다.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SECURITY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0467CE0-9CA5-1A81-CC61-627D44FD67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316148F-D84E-47A3-B267-E08DF939B7C4}" type="slidenum">
              <a:rPr lang="ko-KR" altLang="en-US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pPr/>
              <a:t>12</a:t>
            </a:fld>
            <a:r>
              <a:rPr lang="en-US" altLang="ko-KR">
                <a:latin typeface="나눔스퀘어" panose="020B0600000101010101" pitchFamily="50" charset="-127"/>
                <a:ea typeface="나눔스퀘어" panose="020B0600000101010101" pitchFamily="50" charset="-127"/>
              </a:rPr>
              <a:t>/28</a:t>
            </a:r>
            <a:endParaRPr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" name="Title"/>
          <p:cNvSpPr txBox="1"/>
          <p:nvPr/>
        </p:nvSpPr>
        <p:spPr>
          <a:xfrm>
            <a:off x="448056" y="777240"/>
            <a:ext cx="8961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1">
                <a:solidFill>
                  <a:srgbClr val="1A1714"/>
                </a:solidFill>
                <a:latin typeface="나눔스퀘어 ExtraBold"/>
                <a:ea typeface="나눔스퀘어 ExtraBold"/>
              </a:rPr>
              <a:t>폐쇄망 원칙과 접근 통제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448056" y="1298448"/>
            <a:ext cx="8961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3A362F"/>
                </a:solidFill>
                <a:latin typeface="나눔스퀘어"/>
                <a:ea typeface="나눔스퀘어"/>
              </a:rPr>
              <a:t>모든 SW·데이터·모델은 사내 인프라에서만 동작하며, 누가 어떤 데이터에 접근하고 무엇을 물었는지 남깁니다.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896112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52400" algn="ctr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685800" y="2194560"/>
            <a:ext cx="502920" cy="502920"/>
          </a:xfrm>
          <a:prstGeom prst="ellipse">
            <a:avLst/>
          </a:prstGeom>
          <a:solidFill>
            <a:srgbClr val="FDE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FaServer_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559" y="2325319"/>
            <a:ext cx="241401" cy="24140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71600" y="2011680"/>
            <a:ext cx="23774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A1714"/>
                </a:solidFill>
                <a:latin typeface="나눔스퀘어 ExtraBold"/>
                <a:ea typeface="나눔스퀘어 ExtraBold"/>
              </a:rPr>
              <a:t>100% 온프레미스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2011680"/>
            <a:ext cx="54864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3A362F"/>
                </a:solidFill>
                <a:latin typeface="나눔스퀘어"/>
                <a:ea typeface="나눔스퀘어"/>
              </a:rPr>
              <a:t>모델 가중치·패키지 사내 반입, 외부 퍼블릭 클라우드 전송 없음. 웹 검색·외부 API 기능은 비활성화하고 호출 대상을 허용 목록으로 제한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035808"/>
            <a:ext cx="896112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52400" algn="ctr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685800" y="3218688"/>
            <a:ext cx="502920" cy="502920"/>
          </a:xfrm>
          <a:prstGeom prst="ellipse">
            <a:avLst/>
          </a:prstGeom>
          <a:solidFill>
            <a:srgbClr val="FDE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icture 12" descr="FaIdBadge_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59" y="3349447"/>
            <a:ext cx="241401" cy="24140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71600" y="3035808"/>
            <a:ext cx="23774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A1714"/>
                </a:solidFill>
                <a:latin typeface="나눔스퀘어 ExtraBold"/>
                <a:ea typeface="나눔스퀘어 ExtraBold"/>
              </a:rPr>
              <a:t>사내 계정 체계 연동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3035808"/>
            <a:ext cx="54864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3A362F"/>
                </a:solidFill>
                <a:latin typeface="나눔스퀘어"/>
                <a:ea typeface="나눔스퀘어"/>
              </a:rPr>
              <a:t>AD/LDAP·SSO와 연동해 별도 계정 없이 로그인, 퇴직·부서 이동이 권한에 자동 반영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059936"/>
            <a:ext cx="896112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52400" algn="ctr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685800" y="4242816"/>
            <a:ext cx="502920" cy="502920"/>
          </a:xfrm>
          <a:prstGeom prst="ellipse">
            <a:avLst/>
          </a:prstGeom>
          <a:solidFill>
            <a:srgbClr val="FDE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FaUsersCog_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559" y="4373575"/>
            <a:ext cx="241401" cy="24140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371600" y="4059936"/>
            <a:ext cx="23774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A1714"/>
                </a:solidFill>
                <a:latin typeface="나눔스퀘어 ExtraBold"/>
                <a:ea typeface="나눔스퀘어 ExtraBold"/>
              </a:rPr>
              <a:t>부서·프로젝트별 권한(RBAC)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39" y="4059936"/>
            <a:ext cx="54864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3A362F"/>
                </a:solidFill>
                <a:latin typeface="나눔스퀘어"/>
                <a:ea typeface="나눔스퀘어"/>
              </a:rPr>
              <a:t>문서 컬렉션 단위 검색 범위 분리 + MSSQL 행 수준 보안으로 질의 결과까지 같은 권한 모델 적용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084064"/>
            <a:ext cx="896112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52400" algn="ctr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685800" y="5266944"/>
            <a:ext cx="502920" cy="502920"/>
          </a:xfrm>
          <a:prstGeom prst="ellipse">
            <a:avLst/>
          </a:prstGeom>
          <a:solidFill>
            <a:srgbClr val="FDE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FaClipboardList_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559" y="5397703"/>
            <a:ext cx="241401" cy="24140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371600" y="5084064"/>
            <a:ext cx="23774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A1714"/>
                </a:solidFill>
                <a:latin typeface="나눔스퀘어 ExtraBold"/>
                <a:ea typeface="나눔스퀘어 ExtraBold"/>
              </a:rPr>
              <a:t>감사 로그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39" y="5084064"/>
            <a:ext cx="54864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3A362F"/>
                </a:solidFill>
                <a:latin typeface="나눔스퀘어"/>
                <a:ea typeface="나눔스퀘어"/>
              </a:rPr>
              <a:t>질의·답변·실행 SQL·조회 테이블·검증자 수정 이력을 기록하고 관리자 화면에서 검색·추적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FIT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0467CE0-9CA5-1A81-CC61-627D44FD67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316148F-D84E-47A3-B267-E08DF939B7C4}" type="slidenum">
              <a:rPr lang="ko-KR" altLang="en-US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pPr/>
              <a:t>12</a:t>
            </a:fld>
            <a:r>
              <a:rPr lang="en-US" altLang="ko-KR">
                <a:latin typeface="나눔스퀘어" panose="020B0600000101010101" pitchFamily="50" charset="-127"/>
                <a:ea typeface="나눔스퀘어" panose="020B0600000101010101" pitchFamily="50" charset="-127"/>
              </a:rPr>
              <a:t>/28</a:t>
            </a:r>
            <a:endParaRPr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" name="Title"/>
          <p:cNvSpPr txBox="1"/>
          <p:nvPr/>
        </p:nvSpPr>
        <p:spPr>
          <a:xfrm>
            <a:off x="448056" y="777240"/>
            <a:ext cx="8961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1">
                <a:solidFill>
                  <a:srgbClr val="1A1714"/>
                </a:solidFill>
                <a:latin typeface="나눔스퀘어 ExtraBold"/>
                <a:ea typeface="나눔스퀘어 ExtraBold"/>
              </a:rPr>
              <a:t>RFP 요구사항별 Agent-X 적용 범위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448056" y="1298448"/>
            <a:ext cx="8961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3A362F"/>
                </a:solidFill>
                <a:latin typeface="나눔스퀘어"/>
                <a:ea typeface="나눔스퀘어"/>
              </a:rPr>
              <a:t>검증된 제품 기능을 최대한 활용해 개발 리스크를 줄이고, 개발 역량은 엔지니어링 도메인 특화 영역에 집중합니다.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965960"/>
          <a:ext cx="8961120" cy="411480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2103120"/>
                <a:gridCol w="4069080"/>
                <a:gridCol w="278892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나눔스퀘어 ExtraBold"/>
                          <a:ea typeface="나눔스퀘어 ExtraBold"/>
                        </a:rPr>
                        <a:t>RFP 요구사항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7E4DE"/>
                      </a:solidFill>
                    </a:lnL>
                    <a:lnR w="9525">
                      <a:solidFill>
                        <a:srgbClr val="E7E4DE"/>
                      </a:solidFill>
                    </a:lnR>
                    <a:lnT w="9525">
                      <a:solidFill>
                        <a:srgbClr val="E7E4DE"/>
                      </a:solidFill>
                    </a:lnT>
                    <a:lnB w="9525">
                      <a:solidFill>
                        <a:srgbClr val="E7E4DE"/>
                      </a:solidFill>
                    </a:lnB>
                    <a:solidFill>
                      <a:srgbClr val="2A26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나눔스퀘어 ExtraBold"/>
                          <a:ea typeface="나눔스퀘어 ExtraBold"/>
                        </a:rPr>
                        <a:t>Agent-X 적용 (제품)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7E4DE"/>
                      </a:solidFill>
                    </a:lnL>
                    <a:lnR w="9525">
                      <a:solidFill>
                        <a:srgbClr val="E7E4DE"/>
                      </a:solidFill>
                    </a:lnR>
                    <a:lnT w="9525">
                      <a:solidFill>
                        <a:srgbClr val="E7E4DE"/>
                      </a:solidFill>
                    </a:lnT>
                    <a:lnB w="9525">
                      <a:solidFill>
                        <a:srgbClr val="E7E4DE"/>
                      </a:solidFill>
                    </a:lnB>
                    <a:solidFill>
                      <a:srgbClr val="2A26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나눔스퀘어 ExtraBold"/>
                          <a:ea typeface="나눔스퀘어 ExtraBold"/>
                        </a:rPr>
                        <a:t>맞춤 개발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7E4DE"/>
                      </a:solidFill>
                    </a:lnL>
                    <a:lnR w="9525">
                      <a:solidFill>
                        <a:srgbClr val="E7E4DE"/>
                      </a:solidFill>
                    </a:lnR>
                    <a:lnT w="9525">
                      <a:solidFill>
                        <a:srgbClr val="E7E4DE"/>
                      </a:solidFill>
                    </a:lnT>
                    <a:lnB w="9525">
                      <a:solidFill>
                        <a:srgbClr val="E7E4DE"/>
                      </a:solidFill>
                    </a:lnB>
                    <a:solidFill>
                      <a:srgbClr val="2A262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714"/>
                          </a:solidFill>
                          <a:latin typeface="나눔스퀘어 ExtraBold"/>
                          <a:ea typeface="나눔스퀘어 ExtraBold"/>
                        </a:rPr>
                        <a:t>오픈소스 SLM/LLM 서빙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7E4DE"/>
                      </a:solidFill>
                    </a:lnL>
                    <a:lnR w="9525">
                      <a:solidFill>
                        <a:srgbClr val="E7E4DE"/>
                      </a:solidFill>
                    </a:lnR>
                    <a:lnT w="9525">
                      <a:solidFill>
                        <a:srgbClr val="E7E4DE"/>
                      </a:solidFill>
                    </a:lnT>
                    <a:lnB w="9525">
                      <a:solidFill>
                        <a:srgbClr val="E7E4DE"/>
                      </a:solidFill>
                    </a:lnB>
                    <a:solidFill>
                      <a:srgbClr val="F5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A362F"/>
                          </a:solidFill>
                          <a:latin typeface="나눔스퀘어"/>
                          <a:ea typeface="나눔스퀘어"/>
                        </a:rPr>
                        <a:t>MLOps 추론 서비스·모델 게이트웨이, LLMOps 다중 모델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7E4DE"/>
                      </a:solidFill>
                    </a:lnL>
                    <a:lnR w="9525">
                      <a:solidFill>
                        <a:srgbClr val="E7E4DE"/>
                      </a:solidFill>
                    </a:lnR>
                    <a:lnT w="9525">
                      <a:solidFill>
                        <a:srgbClr val="E7E4DE"/>
                      </a:solidFill>
                    </a:lnT>
                    <a:lnB w="9525">
                      <a:solidFill>
                        <a:srgbClr val="E7E4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A362F"/>
                          </a:solidFill>
                          <a:latin typeface="나눔스퀘어"/>
                          <a:ea typeface="나눔스퀘어"/>
                        </a:rPr>
                        <a:t>GPU 분할·양자화 최적화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7E4DE"/>
                      </a:solidFill>
                    </a:lnL>
                    <a:lnR w="9525">
                      <a:solidFill>
                        <a:srgbClr val="E7E4DE"/>
                      </a:solidFill>
                    </a:lnR>
                    <a:lnT w="9525">
                      <a:solidFill>
                        <a:srgbClr val="E7E4DE"/>
                      </a:solidFill>
                    </a:lnT>
                    <a:lnB w="9525">
                      <a:solidFill>
                        <a:srgbClr val="E7E4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714"/>
                          </a:solidFill>
                          <a:latin typeface="나눔스퀘어 ExtraBold"/>
                          <a:ea typeface="나눔스퀘어 ExtraBold"/>
                        </a:rPr>
                        <a:t>Text-to-SQL (MSSQL)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7E4DE"/>
                      </a:solidFill>
                    </a:lnL>
                    <a:lnR w="9525">
                      <a:solidFill>
                        <a:srgbClr val="E7E4DE"/>
                      </a:solidFill>
                    </a:lnR>
                    <a:lnT w="9525">
                      <a:solidFill>
                        <a:srgbClr val="E7E4DE"/>
                      </a:solidFill>
                    </a:lnT>
                    <a:lnB w="9525">
                      <a:solidFill>
                        <a:srgbClr val="E7E4DE"/>
                      </a:solidFill>
                    </a:lnB>
                    <a:solidFill>
                      <a:srgbClr val="F5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A362F"/>
                          </a:solidFill>
                          <a:latin typeface="나눔스퀘어"/>
                          <a:ea typeface="나눔스퀘어"/>
                        </a:rPr>
                        <a:t>NL2SQL Agent — MSSQL 지원, 읽기 전용 SQL 가드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7E4DE"/>
                      </a:solidFill>
                    </a:lnL>
                    <a:lnR w="9525">
                      <a:solidFill>
                        <a:srgbClr val="E7E4DE"/>
                      </a:solidFill>
                    </a:lnR>
                    <a:lnT w="9525">
                      <a:solidFill>
                        <a:srgbClr val="E7E4DE"/>
                      </a:solidFill>
                    </a:lnT>
                    <a:lnB w="9525">
                      <a:solidFill>
                        <a:srgbClr val="E7E4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A362F"/>
                          </a:solidFill>
                          <a:latin typeface="나눔스퀘어"/>
                          <a:ea typeface="나눔스퀘어"/>
                        </a:rPr>
                        <a:t>공학 용어·단위 스키마 설명, 행 수준 권한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7E4DE"/>
                      </a:solidFill>
                    </a:lnL>
                    <a:lnR w="9525">
                      <a:solidFill>
                        <a:srgbClr val="E7E4DE"/>
                      </a:solidFill>
                    </a:lnR>
                    <a:lnT w="9525">
                      <a:solidFill>
                        <a:srgbClr val="E7E4DE"/>
                      </a:solidFill>
                    </a:lnT>
                    <a:lnB w="9525">
                      <a:solidFill>
                        <a:srgbClr val="E7E4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714"/>
                          </a:solidFill>
                          <a:latin typeface="나눔스퀘어 ExtraBold"/>
                          <a:ea typeface="나눔스퀘어 ExtraBold"/>
                        </a:rPr>
                        <a:t>비정형 벡터 검색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7E4DE"/>
                      </a:solidFill>
                    </a:lnL>
                    <a:lnR w="9525">
                      <a:solidFill>
                        <a:srgbClr val="E7E4DE"/>
                      </a:solidFill>
                    </a:lnR>
                    <a:lnT w="9525">
                      <a:solidFill>
                        <a:srgbClr val="E7E4DE"/>
                      </a:solidFill>
                    </a:lnT>
                    <a:lnB w="9525">
                      <a:solidFill>
                        <a:srgbClr val="E7E4DE"/>
                      </a:solidFill>
                    </a:lnB>
                    <a:solidFill>
                      <a:srgbClr val="F5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A362F"/>
                          </a:solidFill>
                          <a:latin typeface="나눔스퀘어"/>
                          <a:ea typeface="나눔스퀘어"/>
                        </a:rPr>
                        <a:t>RAGOps 색인 파이프라인, RAG Agent 하이브리드 검색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7E4DE"/>
                      </a:solidFill>
                    </a:lnL>
                    <a:lnR w="9525">
                      <a:solidFill>
                        <a:srgbClr val="E7E4DE"/>
                      </a:solidFill>
                    </a:lnR>
                    <a:lnT w="9525">
                      <a:solidFill>
                        <a:srgbClr val="E7E4DE"/>
                      </a:solidFill>
                    </a:lnT>
                    <a:lnB w="9525">
                      <a:solidFill>
                        <a:srgbClr val="E7E4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A362F"/>
                          </a:solidFill>
                          <a:latin typeface="나눔스퀘어"/>
                          <a:ea typeface="나눔스퀘어"/>
                        </a:rPr>
                        <a:t>MSSQL 텍스트 연계, 벡터DB 구성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7E4DE"/>
                      </a:solidFill>
                    </a:lnL>
                    <a:lnR w="9525">
                      <a:solidFill>
                        <a:srgbClr val="E7E4DE"/>
                      </a:solidFill>
                    </a:lnR>
                    <a:lnT w="9525">
                      <a:solidFill>
                        <a:srgbClr val="E7E4DE"/>
                      </a:solidFill>
                    </a:lnT>
                    <a:lnB w="9525">
                      <a:solidFill>
                        <a:srgbClr val="E7E4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714"/>
                          </a:solidFill>
                          <a:latin typeface="나눔스퀘어 ExtraBold"/>
                          <a:ea typeface="나눔스퀘어 ExtraBold"/>
                        </a:rPr>
                        <a:t>L/L ↔ 설비 연계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7E4DE"/>
                      </a:solidFill>
                    </a:lnL>
                    <a:lnR w="9525">
                      <a:solidFill>
                        <a:srgbClr val="E7E4DE"/>
                      </a:solidFill>
                    </a:lnR>
                    <a:lnT w="9525">
                      <a:solidFill>
                        <a:srgbClr val="E7E4DE"/>
                      </a:solidFill>
                    </a:lnT>
                    <a:lnB w="9525">
                      <a:solidFill>
                        <a:srgbClr val="E7E4DE"/>
                      </a:solidFill>
                    </a:lnB>
                    <a:solidFill>
                      <a:srgbClr val="F5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A362F"/>
                          </a:solidFill>
                          <a:latin typeface="나눔스퀘어"/>
                          <a:ea typeface="나눔스퀘어"/>
                        </a:rPr>
                        <a:t>GraphRAG 엔터티·인과 관계 추출, 멀티홉 탐색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7E4DE"/>
                      </a:solidFill>
                    </a:lnL>
                    <a:lnR w="9525">
                      <a:solidFill>
                        <a:srgbClr val="E7E4DE"/>
                      </a:solidFill>
                    </a:lnR>
                    <a:lnT w="9525">
                      <a:solidFill>
                        <a:srgbClr val="E7E4DE"/>
                      </a:solidFill>
                    </a:lnT>
                    <a:lnB w="9525">
                      <a:solidFill>
                        <a:srgbClr val="E7E4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A362F"/>
                          </a:solidFill>
                          <a:latin typeface="나눔스퀘어"/>
                          <a:ea typeface="나눔스퀘어"/>
                        </a:rPr>
                        <a:t>메타DB 매핑 테이블 연계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7E4DE"/>
                      </a:solidFill>
                    </a:lnL>
                    <a:lnR w="9525">
                      <a:solidFill>
                        <a:srgbClr val="E7E4DE"/>
                      </a:solidFill>
                    </a:lnR>
                    <a:lnT w="9525">
                      <a:solidFill>
                        <a:srgbClr val="E7E4DE"/>
                      </a:solidFill>
                    </a:lnT>
                    <a:lnB w="9525">
                      <a:solidFill>
                        <a:srgbClr val="E7E4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714"/>
                          </a:solidFill>
                          <a:latin typeface="나눔스퀘어 ExtraBold"/>
                          <a:ea typeface="나눔스퀘어 ExtraBold"/>
                        </a:rPr>
                        <a:t>질의응답 포털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7E4DE"/>
                      </a:solidFill>
                    </a:lnL>
                    <a:lnR w="9525">
                      <a:solidFill>
                        <a:srgbClr val="E7E4DE"/>
                      </a:solidFill>
                    </a:lnR>
                    <a:lnT w="9525">
                      <a:solidFill>
                        <a:srgbClr val="E7E4DE"/>
                      </a:solidFill>
                    </a:lnT>
                    <a:lnB w="9525">
                      <a:solidFill>
                        <a:srgbClr val="E7E4DE"/>
                      </a:solidFill>
                    </a:lnB>
                    <a:solidFill>
                      <a:srgbClr val="F5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A362F"/>
                          </a:solidFill>
                          <a:latin typeface="나눔스퀘어"/>
                          <a:ea typeface="나눔스퀘어"/>
                        </a:rPr>
                        <a:t>서비스 포털 — 멀티턴·출처·대화 이력·평가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7E4DE"/>
                      </a:solidFill>
                    </a:lnL>
                    <a:lnR w="9525">
                      <a:solidFill>
                        <a:srgbClr val="E7E4DE"/>
                      </a:solidFill>
                    </a:lnR>
                    <a:lnT w="9525">
                      <a:solidFill>
                        <a:srgbClr val="E7E4DE"/>
                      </a:solidFill>
                    </a:lnT>
                    <a:lnB w="9525">
                      <a:solidFill>
                        <a:srgbClr val="E7E4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A362F"/>
                          </a:solidFill>
                          <a:latin typeface="나눔스퀘어"/>
                          <a:ea typeface="나눔스퀘어"/>
                        </a:rPr>
                        <a:t>시트·행 근거 표시, 스펙 표 화면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7E4DE"/>
                      </a:solidFill>
                    </a:lnL>
                    <a:lnR w="9525">
                      <a:solidFill>
                        <a:srgbClr val="E7E4DE"/>
                      </a:solidFill>
                    </a:lnR>
                    <a:lnT w="9525">
                      <a:solidFill>
                        <a:srgbClr val="E7E4DE"/>
                      </a:solidFill>
                    </a:lnT>
                    <a:lnB w="9525">
                      <a:solidFill>
                        <a:srgbClr val="E7E4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714"/>
                          </a:solidFill>
                          <a:latin typeface="나눔스퀘어 ExtraBold"/>
                          <a:ea typeface="나눔스퀘어 ExtraBold"/>
                        </a:rPr>
                        <a:t>환각 방지 가드레일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7E4DE"/>
                      </a:solidFill>
                    </a:lnL>
                    <a:lnR w="9525">
                      <a:solidFill>
                        <a:srgbClr val="E7E4DE"/>
                      </a:solidFill>
                    </a:lnR>
                    <a:lnT w="9525">
                      <a:solidFill>
                        <a:srgbClr val="E7E4DE"/>
                      </a:solidFill>
                    </a:lnT>
                    <a:lnB w="9525">
                      <a:solidFill>
                        <a:srgbClr val="E7E4DE"/>
                      </a:solidFill>
                    </a:lnB>
                    <a:solidFill>
                      <a:srgbClr val="F5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A362F"/>
                          </a:solidFill>
                          <a:latin typeface="나눔스퀘어"/>
                          <a:ea typeface="나눔스퀘어"/>
                        </a:rPr>
                        <a:t>할루시네이션 최소화, 출처 표기, 가드레일 설정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7E4DE"/>
                      </a:solidFill>
                    </a:lnL>
                    <a:lnR w="9525">
                      <a:solidFill>
                        <a:srgbClr val="E7E4DE"/>
                      </a:solidFill>
                    </a:lnR>
                    <a:lnT w="9525">
                      <a:solidFill>
                        <a:srgbClr val="E7E4DE"/>
                      </a:solidFill>
                    </a:lnT>
                    <a:lnB w="9525">
                      <a:solidFill>
                        <a:srgbClr val="E7E4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A362F"/>
                          </a:solidFill>
                          <a:latin typeface="나눔스퀘어"/>
                          <a:ea typeface="나눔스퀘어"/>
                        </a:rPr>
                        <a:t>수치 대조·차단 모듈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7E4DE"/>
                      </a:solidFill>
                    </a:lnL>
                    <a:lnR w="9525">
                      <a:solidFill>
                        <a:srgbClr val="E7E4DE"/>
                      </a:solidFill>
                    </a:lnR>
                    <a:lnT w="9525">
                      <a:solidFill>
                        <a:srgbClr val="E7E4DE"/>
                      </a:solidFill>
                    </a:lnT>
                    <a:lnB w="9525">
                      <a:solidFill>
                        <a:srgbClr val="E7E4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714"/>
                          </a:solidFill>
                          <a:latin typeface="나눔스퀘어 ExtraBold"/>
                          <a:ea typeface="나눔스퀘어 ExtraBold"/>
                        </a:rPr>
                        <a:t>보안·감사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7E4DE"/>
                      </a:solidFill>
                    </a:lnL>
                    <a:lnR w="9525">
                      <a:solidFill>
                        <a:srgbClr val="E7E4DE"/>
                      </a:solidFill>
                    </a:lnR>
                    <a:lnT w="9525">
                      <a:solidFill>
                        <a:srgbClr val="E7E4DE"/>
                      </a:solidFill>
                    </a:lnT>
                    <a:lnB w="9525">
                      <a:solidFill>
                        <a:srgbClr val="E7E4DE"/>
                      </a:solidFill>
                    </a:lnB>
                    <a:solidFill>
                      <a:srgbClr val="F5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A362F"/>
                          </a:solidFill>
                          <a:latin typeface="나눔스퀘어"/>
                          <a:ea typeface="나눔스퀘어"/>
                        </a:rPr>
                        <a:t>RBAC, 대화 이력·작업 이력·감사 로그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7E4DE"/>
                      </a:solidFill>
                    </a:lnL>
                    <a:lnR w="9525">
                      <a:solidFill>
                        <a:srgbClr val="E7E4DE"/>
                      </a:solidFill>
                    </a:lnR>
                    <a:lnT w="9525">
                      <a:solidFill>
                        <a:srgbClr val="E7E4DE"/>
                      </a:solidFill>
                    </a:lnT>
                    <a:lnB w="9525">
                      <a:solidFill>
                        <a:srgbClr val="E7E4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A362F"/>
                          </a:solidFill>
                          <a:latin typeface="나눔스퀘어"/>
                          <a:ea typeface="나눔스퀘어"/>
                        </a:rPr>
                        <a:t>사내 계정 연동, SQL 감사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7E4DE"/>
                      </a:solidFill>
                    </a:lnL>
                    <a:lnR w="9525">
                      <a:solidFill>
                        <a:srgbClr val="E7E4DE"/>
                      </a:solidFill>
                    </a:lnR>
                    <a:lnT w="9525">
                      <a:solidFill>
                        <a:srgbClr val="E7E4DE"/>
                      </a:solidFill>
                    </a:lnT>
                    <a:lnB w="9525">
                      <a:solidFill>
                        <a:srgbClr val="E7E4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714"/>
                          </a:solidFill>
                          <a:latin typeface="나눔스퀘어 ExtraBold"/>
                          <a:ea typeface="나눔스퀘어 ExtraBold"/>
                        </a:rPr>
                        <a:t>파서·메타DB·정합성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7E4DE"/>
                      </a:solidFill>
                    </a:lnL>
                    <a:lnR w="9525">
                      <a:solidFill>
                        <a:srgbClr val="E7E4DE"/>
                      </a:solidFill>
                    </a:lnR>
                    <a:lnT w="9525">
                      <a:solidFill>
                        <a:srgbClr val="E7E4DE"/>
                      </a:solidFill>
                    </a:lnT>
                    <a:lnB w="9525">
                      <a:solidFill>
                        <a:srgbClr val="E7E4DE"/>
                      </a:solidFill>
                    </a:lnB>
                    <a:solidFill>
                      <a:srgbClr val="F5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A362F"/>
                          </a:solidFill>
                          <a:latin typeface="나눔스퀘어"/>
                          <a:ea typeface="나눔스퀘어"/>
                        </a:rPr>
                        <a:t>파이프라인·스케줄·재시도 (오케스트레이션)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7E4DE"/>
                      </a:solidFill>
                    </a:lnL>
                    <a:lnR w="9525">
                      <a:solidFill>
                        <a:srgbClr val="E7E4DE"/>
                      </a:solidFill>
                    </a:lnR>
                    <a:lnT w="9525">
                      <a:solidFill>
                        <a:srgbClr val="E7E4DE"/>
                      </a:solidFill>
                    </a:lnT>
                    <a:lnB w="9525">
                      <a:solidFill>
                        <a:srgbClr val="E7E4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A362F"/>
                          </a:solidFill>
                          <a:latin typeface="나눔스퀘어"/>
                          <a:ea typeface="나눔스퀘어"/>
                        </a:rPr>
                        <a:t>5종 파서·ERD·룰 엔진·예외 UI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7E4DE"/>
                      </a:solidFill>
                    </a:lnL>
                    <a:lnR w="9525">
                      <a:solidFill>
                        <a:srgbClr val="E7E4DE"/>
                      </a:solidFill>
                    </a:lnR>
                    <a:lnT w="9525">
                      <a:solidFill>
                        <a:srgbClr val="E7E4DE"/>
                      </a:solidFill>
                    </a:lnT>
                    <a:lnB w="9525">
                      <a:solidFill>
                        <a:srgbClr val="E7E4D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04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WORK BREAKDOWN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0467CE0-9CA5-1A81-CC61-627D44FD67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316148F-D84E-47A3-B267-E08DF939B7C4}" type="slidenum">
              <a:rPr lang="ko-KR" altLang="en-US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pPr/>
              <a:t>12</a:t>
            </a:fld>
            <a:r>
              <a:rPr lang="en-US" altLang="ko-KR">
                <a:latin typeface="나눔스퀘어" panose="020B0600000101010101" pitchFamily="50" charset="-127"/>
                <a:ea typeface="나눔스퀘어" panose="020B0600000101010101" pitchFamily="50" charset="-127"/>
              </a:rPr>
              <a:t>/28</a:t>
            </a:r>
            <a:endParaRPr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" name="Title"/>
          <p:cNvSpPr txBox="1"/>
          <p:nvPr/>
        </p:nvSpPr>
        <p:spPr>
          <a:xfrm>
            <a:off x="448056" y="777240"/>
            <a:ext cx="8961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1">
                <a:solidFill>
                  <a:srgbClr val="1A1714"/>
                </a:solidFill>
                <a:latin typeface="나눔스퀘어 ExtraBold"/>
                <a:ea typeface="나눔스퀘어 ExtraBold"/>
              </a:rPr>
              <a:t>58개 세부 과업으로 나눈 수행 범위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448056" y="1298448"/>
            <a:ext cx="8961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3A362F"/>
                </a:solidFill>
                <a:latin typeface="나눔스퀘어"/>
                <a:ea typeface="나눔스퀘어"/>
              </a:rPr>
              <a:t>RFP를 13개 영역 58개 과업으로 분해했습니다. 세부 목록과 기능 매핑은 별첨 요구사항 매핑표에 정리했습니다.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228600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52400" algn="ctr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080" y="2121408"/>
            <a:ext cx="1920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A1714"/>
                </a:solidFill>
                <a:latin typeface="나눔스퀘어 ExtraBold"/>
                <a:ea typeface="나눔스퀘어 ExtraBold"/>
              </a:rPr>
              <a:t>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16352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A362F"/>
                </a:solidFill>
                <a:latin typeface="나눔스퀘어"/>
                <a:ea typeface="나눔스퀘어"/>
              </a:rPr>
              <a:t>세부 과업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383280"/>
            <a:ext cx="228600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52400" algn="ctr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0080" y="3493008"/>
            <a:ext cx="1920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D8204"/>
                </a:solidFill>
                <a:latin typeface="나눔스퀘어 ExtraBold"/>
                <a:ea typeface="나눔스퀘어 ExtraBold"/>
              </a:rPr>
              <a:t>36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187952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A362F"/>
                </a:solidFill>
                <a:latin typeface="나눔스퀘어"/>
                <a:ea typeface="나눔스퀘어"/>
              </a:rPr>
              <a:t>Agent-X 활용·확장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754880"/>
            <a:ext cx="228600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52400" algn="ctr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0080" y="4864608"/>
            <a:ext cx="1920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8A867E"/>
                </a:solidFill>
                <a:latin typeface="나눔스퀘어 ExtraBold"/>
                <a:ea typeface="나눔스퀘어 ExtraBold"/>
              </a:rPr>
              <a:t>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559552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A362F"/>
                </a:solidFill>
                <a:latin typeface="나눔스퀘어"/>
                <a:ea typeface="나눔스퀘어"/>
              </a:rPr>
              <a:t>도메인 맞춤 구축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71800" y="2011680"/>
            <a:ext cx="644652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52400" algn="ctr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3108960" y="2103120"/>
          <a:ext cx="6217920" cy="37490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04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SCHEDULE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0467CE0-9CA5-1A81-CC61-627D44FD67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316148F-D84E-47A3-B267-E08DF939B7C4}" type="slidenum">
              <a:rPr lang="ko-KR" altLang="en-US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pPr/>
              <a:t>12</a:t>
            </a:fld>
            <a:r>
              <a:rPr lang="en-US" altLang="ko-KR">
                <a:latin typeface="나눔스퀘어" panose="020B0600000101010101" pitchFamily="50" charset="-127"/>
                <a:ea typeface="나눔스퀘어" panose="020B0600000101010101" pitchFamily="50" charset="-127"/>
              </a:rPr>
              <a:t>/28</a:t>
            </a:r>
            <a:endParaRPr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" name="Title"/>
          <p:cNvSpPr txBox="1"/>
          <p:nvPr/>
        </p:nvSpPr>
        <p:spPr>
          <a:xfrm>
            <a:off x="448056" y="777240"/>
            <a:ext cx="8961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1">
                <a:solidFill>
                  <a:srgbClr val="1A1714"/>
                </a:solidFill>
                <a:latin typeface="나눔스퀘어 ExtraBold"/>
                <a:ea typeface="나눔스퀘어 ExtraBold"/>
              </a:rPr>
              <a:t>6개월 추진 일정과 단계별 산출물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448056" y="1298448"/>
            <a:ext cx="8961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3A362F"/>
                </a:solidFill>
                <a:latin typeface="나눔스퀘어"/>
                <a:ea typeface="나눔스퀘어"/>
              </a:rPr>
              <a:t>M1 공동 설계로 기준을 고정하고, 데이터 계층(M2~M3) 위에 AI 계층(M4~M5)을 올린 뒤 M6에 합동 검수합니다.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1965960"/>
            <a:ext cx="996695" cy="347472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200400" y="1965960"/>
            <a:ext cx="99669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나눔스퀘어 ExtraBold"/>
                <a:ea typeface="나눔스퀘어 ExtraBold"/>
              </a:rPr>
              <a:t>M1</a:t>
            </a:r>
          </a:p>
        </p:txBody>
      </p:sp>
      <p:sp>
        <p:nvSpPr>
          <p:cNvPr id="8" name="Rectangle 7"/>
          <p:cNvSpPr/>
          <p:nvPr/>
        </p:nvSpPr>
        <p:spPr>
          <a:xfrm>
            <a:off x="4233672" y="1965960"/>
            <a:ext cx="996695" cy="347472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233672" y="1965960"/>
            <a:ext cx="99669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나눔스퀘어 ExtraBold"/>
                <a:ea typeface="나눔스퀘어 ExtraBold"/>
              </a:rPr>
              <a:t>M2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66944" y="1965960"/>
            <a:ext cx="996695" cy="347472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266944" y="1965960"/>
            <a:ext cx="99669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나눔스퀘어 ExtraBold"/>
                <a:ea typeface="나눔스퀘어 ExtraBold"/>
              </a:rPr>
              <a:t>M3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0216" y="1965960"/>
            <a:ext cx="996695" cy="347472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300216" y="1965960"/>
            <a:ext cx="99669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나눔스퀘어 ExtraBold"/>
                <a:ea typeface="나눔스퀘어 ExtraBold"/>
              </a:rPr>
              <a:t>M4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33488" y="1965960"/>
            <a:ext cx="996695" cy="347472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333488" y="1965960"/>
            <a:ext cx="99669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나눔스퀘어 ExtraBold"/>
                <a:ea typeface="나눔스퀘어 ExtraBold"/>
              </a:rPr>
              <a:t>M5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66759" y="1965960"/>
            <a:ext cx="996695" cy="347472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366759" y="1965960"/>
            <a:ext cx="99669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나눔스퀘어 ExtraBold"/>
                <a:ea typeface="나눔스퀘어 ExtraBold"/>
              </a:rPr>
              <a:t>M6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404872"/>
            <a:ext cx="8906256" cy="310896"/>
          </a:xfrm>
          <a:prstGeom prst="rect">
            <a:avLst/>
          </a:prstGeom>
          <a:solidFill>
            <a:srgbClr val="F5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48640" y="2423160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714"/>
                </a:solidFill>
                <a:latin typeface="나눔스퀘어"/>
                <a:ea typeface="나눔스퀘어"/>
              </a:rPr>
              <a:t>착수 · 요구사항 · ERD 공동 설계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46120" y="2468879"/>
            <a:ext cx="905255" cy="182880"/>
          </a:xfrm>
          <a:prstGeom prst="roundRect">
            <a:avLst>
              <a:gd name="adj" fmla="val 50000"/>
            </a:avLst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48640" y="2724912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714"/>
                </a:solidFill>
                <a:latin typeface="나눔스퀘어"/>
                <a:ea typeface="나눔스퀘어"/>
              </a:rPr>
              <a:t>GPU·개발 환경 셋업, 폐쇄망 반입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46120" y="2770632"/>
            <a:ext cx="905255" cy="182880"/>
          </a:xfrm>
          <a:prstGeom prst="roundRect">
            <a:avLst>
              <a:gd name="adj" fmla="val 50000"/>
            </a:avLst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457200" y="3008376"/>
            <a:ext cx="8906256" cy="310896"/>
          </a:xfrm>
          <a:prstGeom prst="rect">
            <a:avLst/>
          </a:prstGeom>
          <a:solidFill>
            <a:srgbClr val="F5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48640" y="3026664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714"/>
                </a:solidFill>
                <a:latin typeface="나눔스퀘어"/>
                <a:ea typeface="나눔스퀘어"/>
              </a:rPr>
              <a:t>5대 산출물 파서 · 대량 적재 · 튜닝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79392" y="3072384"/>
            <a:ext cx="1938527" cy="182880"/>
          </a:xfrm>
          <a:prstGeom prst="roundRect">
            <a:avLst>
              <a:gd name="adj" fmla="val 50000"/>
            </a:avLst>
          </a:prstGeom>
          <a:solidFill>
            <a:srgbClr val="FD82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48640" y="3328415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714"/>
                </a:solidFill>
                <a:latin typeface="나눔스퀘어"/>
                <a:ea typeface="나눔스퀘어"/>
              </a:rPr>
              <a:t>교차 정합성 검증 엔진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79392" y="3374135"/>
            <a:ext cx="1938527" cy="182880"/>
          </a:xfrm>
          <a:prstGeom prst="roundRect">
            <a:avLst>
              <a:gd name="adj" fmla="val 50000"/>
            </a:avLst>
          </a:prstGeom>
          <a:solidFill>
            <a:srgbClr val="FD82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457200" y="3611879"/>
            <a:ext cx="8906256" cy="310896"/>
          </a:xfrm>
          <a:prstGeom prst="rect">
            <a:avLst/>
          </a:prstGeom>
          <a:solidFill>
            <a:srgbClr val="F5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48640" y="3630168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714"/>
                </a:solidFill>
                <a:latin typeface="나눔스퀘어"/>
                <a:ea typeface="나눔스퀘어"/>
              </a:rPr>
              <a:t>검증자 예외 처리 UI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12664" y="3675887"/>
            <a:ext cx="2971799" cy="182880"/>
          </a:xfrm>
          <a:prstGeom prst="roundRect">
            <a:avLst>
              <a:gd name="adj" fmla="val 50000"/>
            </a:avLst>
          </a:prstGeom>
          <a:solidFill>
            <a:srgbClr val="F8AF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48640" y="3931920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714"/>
                </a:solidFill>
                <a:latin typeface="나눔스퀘어"/>
                <a:ea typeface="나눔스퀘어"/>
              </a:rPr>
              <a:t>모델 서빙 · GPU 최적화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45936" y="3977639"/>
            <a:ext cx="905255" cy="182880"/>
          </a:xfrm>
          <a:prstGeom prst="roundRect">
            <a:avLst>
              <a:gd name="adj" fmla="val 50000"/>
            </a:avLst>
          </a:prstGeom>
          <a:solidFill>
            <a:srgbClr val="E85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457200" y="4215384"/>
            <a:ext cx="8906256" cy="310896"/>
          </a:xfrm>
          <a:prstGeom prst="rect">
            <a:avLst/>
          </a:prstGeom>
          <a:solidFill>
            <a:srgbClr val="F5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48640" y="4233672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714"/>
                </a:solidFill>
                <a:latin typeface="나눔스퀘어"/>
                <a:ea typeface="나눔스퀘어"/>
              </a:rPr>
              <a:t>Text-to-SQL · 하이브리드 RAG 엔진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45936" y="4279392"/>
            <a:ext cx="1938527" cy="182880"/>
          </a:xfrm>
          <a:prstGeom prst="roundRect">
            <a:avLst>
              <a:gd name="adj" fmla="val 50000"/>
            </a:avLst>
          </a:prstGeom>
          <a:solidFill>
            <a:srgbClr val="E85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548640" y="4535424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714"/>
                </a:solidFill>
                <a:latin typeface="나눔스퀘어"/>
                <a:ea typeface="나눔스퀘어"/>
              </a:rPr>
              <a:t>질의응답 포털 · 가드레일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79208" y="4581144"/>
            <a:ext cx="905255" cy="182880"/>
          </a:xfrm>
          <a:prstGeom prst="roundRect">
            <a:avLst>
              <a:gd name="adj" fmla="val 50000"/>
            </a:avLst>
          </a:prstGeom>
          <a:solidFill>
            <a:srgbClr val="E85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457200" y="4818888"/>
            <a:ext cx="8906256" cy="310896"/>
          </a:xfrm>
          <a:prstGeom prst="rect">
            <a:avLst/>
          </a:prstGeom>
          <a:solidFill>
            <a:srgbClr val="F5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48640" y="4837176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714"/>
                </a:solidFill>
                <a:latin typeface="나눔스퀘어"/>
                <a:ea typeface="나눔스퀘어"/>
              </a:rPr>
              <a:t>통합 검수 · 안정화 · 교육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412480" y="4882896"/>
            <a:ext cx="905255" cy="182880"/>
          </a:xfrm>
          <a:prstGeom prst="roundRect">
            <a:avLst>
              <a:gd name="adj" fmla="val 50000"/>
            </a:avLst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548640" y="5276088"/>
            <a:ext cx="260604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D8204"/>
                </a:solidFill>
                <a:latin typeface="나눔스퀘어 ExtraBold"/>
                <a:ea typeface="나눔스퀘어 ExtraBold"/>
              </a:rPr>
              <a:t>핵심 산출물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200400" y="5276088"/>
            <a:ext cx="996695" cy="713232"/>
          </a:xfrm>
          <a:prstGeom prst="roundRect">
            <a:avLst>
              <a:gd name="adj" fmla="val 10000"/>
            </a:avLst>
          </a:prstGeom>
          <a:solidFill>
            <a:srgbClr val="FDE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3246120" y="5276088"/>
            <a:ext cx="905255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1A1714"/>
                </a:solidFill>
                <a:latin typeface="나눔스퀘어"/>
                <a:ea typeface="나눔스퀘어"/>
              </a:rPr>
              <a:t>요구사항 정의서</a:t>
            </a:r>
          </a:p>
          <a:p>
            <a:pPr algn="ctr">
              <a:lnSpc>
                <a:spcPct val="115000"/>
              </a:lnSpc>
            </a:pPr>
            <a:r>
              <a:rPr sz="900" b="0">
                <a:solidFill>
                  <a:srgbClr val="1A1714"/>
                </a:solidFill>
                <a:latin typeface="나눔스퀘어"/>
                <a:ea typeface="나눔스퀘어"/>
              </a:rPr>
              <a:t>메타DB 설계서(ERD)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233672" y="5276088"/>
            <a:ext cx="2029967" cy="713232"/>
          </a:xfrm>
          <a:prstGeom prst="roundRect">
            <a:avLst>
              <a:gd name="adj" fmla="val 10000"/>
            </a:avLst>
          </a:prstGeom>
          <a:solidFill>
            <a:srgbClr val="FDE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4279392" y="5276088"/>
            <a:ext cx="1938527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1A1714"/>
                </a:solidFill>
                <a:latin typeface="나눔스퀘어"/>
                <a:ea typeface="나눔스퀘어"/>
              </a:rPr>
              <a:t>파서 소스 · 적재 완료 메타DB</a:t>
            </a:r>
          </a:p>
          <a:p>
            <a:pPr algn="ctr">
              <a:lnSpc>
                <a:spcPct val="115000"/>
              </a:lnSpc>
            </a:pPr>
            <a:r>
              <a:rPr sz="900" b="0">
                <a:solidFill>
                  <a:srgbClr val="1A1714"/>
                </a:solidFill>
                <a:latin typeface="나눔스퀘어"/>
                <a:ea typeface="나눔스퀘어"/>
              </a:rPr>
              <a:t>정합성 검증 결과서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300216" y="5276088"/>
            <a:ext cx="2029967" cy="713232"/>
          </a:xfrm>
          <a:prstGeom prst="roundRect">
            <a:avLst>
              <a:gd name="adj" fmla="val 10000"/>
            </a:avLst>
          </a:prstGeom>
          <a:solidFill>
            <a:srgbClr val="FDE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6345936" y="5276088"/>
            <a:ext cx="1938527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1A1714"/>
                </a:solidFill>
                <a:latin typeface="나눔스퀘어"/>
                <a:ea typeface="나눔스퀘어"/>
              </a:rPr>
              <a:t>모델 서빙 엔드포인트 · RAG 엔진</a:t>
            </a:r>
          </a:p>
          <a:p>
            <a:pPr algn="ctr">
              <a:lnSpc>
                <a:spcPct val="115000"/>
              </a:lnSpc>
            </a:pPr>
            <a:r>
              <a:rPr sz="900" b="0">
                <a:solidFill>
                  <a:srgbClr val="1A1714"/>
                </a:solidFill>
                <a:latin typeface="나눔스퀘어"/>
                <a:ea typeface="나눔스퀘어"/>
              </a:rPr>
              <a:t>엔지니어용 웹 포털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366759" y="5276088"/>
            <a:ext cx="996695" cy="713232"/>
          </a:xfrm>
          <a:prstGeom prst="roundRect">
            <a:avLst>
              <a:gd name="adj" fmla="val 10000"/>
            </a:avLst>
          </a:prstGeom>
          <a:solidFill>
            <a:srgbClr val="FDE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8412480" y="5276088"/>
            <a:ext cx="905255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1A1714"/>
                </a:solidFill>
                <a:latin typeface="나눔스퀘어"/>
                <a:ea typeface="나눔스퀘어"/>
              </a:rPr>
              <a:t>통합 시험 결과서</a:t>
            </a:r>
          </a:p>
          <a:p>
            <a:pPr algn="ctr">
              <a:lnSpc>
                <a:spcPct val="115000"/>
              </a:lnSpc>
            </a:pPr>
            <a:r>
              <a:rPr sz="900" b="0">
                <a:solidFill>
                  <a:srgbClr val="1A1714"/>
                </a:solidFill>
                <a:latin typeface="나눔스퀘어"/>
                <a:ea typeface="나눔스퀘어"/>
              </a:rPr>
              <a:t>매뉴얼 · 소스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04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COLLABORATION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0467CE0-9CA5-1A81-CC61-627D44FD67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316148F-D84E-47A3-B267-E08DF939B7C4}" type="slidenum">
              <a:rPr lang="ko-KR" altLang="en-US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pPr/>
              <a:t>12</a:t>
            </a:fld>
            <a:r>
              <a:rPr lang="en-US" altLang="ko-KR">
                <a:latin typeface="나눔스퀘어" panose="020B0600000101010101" pitchFamily="50" charset="-127"/>
                <a:ea typeface="나눔스퀘어" panose="020B0600000101010101" pitchFamily="50" charset="-127"/>
              </a:rPr>
              <a:t>/28</a:t>
            </a:r>
            <a:endParaRPr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" name="Title"/>
          <p:cNvSpPr txBox="1"/>
          <p:nvPr/>
        </p:nvSpPr>
        <p:spPr>
          <a:xfrm>
            <a:off x="448056" y="777240"/>
            <a:ext cx="8961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1">
                <a:solidFill>
                  <a:srgbClr val="1A1714"/>
                </a:solidFill>
                <a:latin typeface="나눔스퀘어 ExtraBold"/>
                <a:ea typeface="나눔스퀘어 ExtraBold"/>
              </a:rPr>
              <a:t>TFT와 함께 만드는 협업 체계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448056" y="1298448"/>
            <a:ext cx="8961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3A362F"/>
                </a:solidFill>
                <a:latin typeface="나눔스퀘어"/>
                <a:ea typeface="나눔스퀘어"/>
              </a:rPr>
              <a:t>개발사 단독 구축이 아닌 공동 설계 방식입니다. 도메인 규칙은 TFT가, 구현과 기술 아키텍처는 코난테크놀로지가 책임집니다.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965960"/>
            <a:ext cx="3520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1A1714"/>
                </a:solidFill>
                <a:latin typeface="나눔스퀘어 ExtraBold"/>
                <a:ea typeface="나눔스퀘어 ExtraBold"/>
              </a:rPr>
              <a:t>사내 TFT (발주사)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1965960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FD8204"/>
                </a:solidFill>
                <a:latin typeface="나눔스퀘어 ExtraBold"/>
                <a:ea typeface="나눔스퀘어 ExtraBold"/>
              </a:rPr>
              <a:t>코난테크놀로지 (수행사)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377440"/>
            <a:ext cx="1508760" cy="1078992"/>
          </a:xfrm>
          <a:prstGeom prst="roundRect">
            <a:avLst>
              <a:gd name="adj" fmla="val 6000"/>
            </a:avLst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02920" y="2377440"/>
            <a:ext cx="1417320" cy="1078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나눔스퀘어 ExtraBold"/>
                <a:ea typeface="나눔스퀘어 ExtraBold"/>
              </a:rPr>
              <a:t>TFT 리더 · PM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03120" y="2377440"/>
            <a:ext cx="3520440" cy="1078992"/>
          </a:xfrm>
          <a:prstGeom prst="roundRect">
            <a:avLst>
              <a:gd name="adj" fmla="val 6000"/>
            </a:avLst>
          </a:prstGeom>
          <a:solidFill>
            <a:srgbClr val="F5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2286000" y="2487168"/>
            <a:ext cx="3246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15000"/>
              </a:lnSpc>
              <a:spcAft>
                <a:spcPts val="200"/>
              </a:spcAft>
              <a:buClr>
                <a:srgbClr val="FD8204"/>
              </a:buClr>
              <a:buChar char="•"/>
            </a:pPr>
            <a:r>
              <a:rPr sz="1050" b="0">
                <a:solidFill>
                  <a:srgbClr val="3A362F"/>
                </a:solidFill>
                <a:latin typeface="나눔스퀘어"/>
                <a:ea typeface="나눔스퀘어"/>
              </a:rPr>
              <a:t>총괄 의사결정 · 일정/예산 통제</a:t>
            </a:r>
          </a:p>
          <a:p>
            <a:pPr algn="l" marL="146304" indent="-146304">
              <a:lnSpc>
                <a:spcPct val="115000"/>
              </a:lnSpc>
              <a:spcAft>
                <a:spcPts val="200"/>
              </a:spcAft>
              <a:buClr>
                <a:srgbClr val="FD8204"/>
              </a:buClr>
              <a:buChar char="•"/>
            </a:pPr>
            <a:r>
              <a:rPr sz="1050" b="0">
                <a:solidFill>
                  <a:srgbClr val="3A362F"/>
                </a:solidFill>
                <a:latin typeface="나눔스퀘어"/>
                <a:ea typeface="나눔스퀘어"/>
              </a:rPr>
              <a:t>GPU 서버 · MSSQL 환경 제공</a:t>
            </a:r>
          </a:p>
          <a:p>
            <a:pPr algn="l" marL="146304" indent="-146304">
              <a:lnSpc>
                <a:spcPct val="115000"/>
              </a:lnSpc>
              <a:spcAft>
                <a:spcPts val="200"/>
              </a:spcAft>
              <a:buClr>
                <a:srgbClr val="FD8204"/>
              </a:buClr>
              <a:buChar char="•"/>
            </a:pPr>
            <a:r>
              <a:rPr sz="1050" b="0">
                <a:solidFill>
                  <a:srgbClr val="3A362F"/>
                </a:solidFill>
                <a:latin typeface="나눔스퀘어"/>
                <a:ea typeface="나눔스퀘어"/>
              </a:rPr>
              <a:t>주간 회의 주관 · 단계 검수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0" y="2377440"/>
            <a:ext cx="3566160" cy="1078992"/>
          </a:xfrm>
          <a:prstGeom prst="roundRect">
            <a:avLst>
              <a:gd name="adj" fmla="val 6000"/>
            </a:avLst>
          </a:prstGeom>
          <a:solidFill>
            <a:srgbClr val="FDE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035040" y="2487168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15000"/>
              </a:lnSpc>
              <a:spcAft>
                <a:spcPts val="200"/>
              </a:spcAft>
              <a:buClr>
                <a:srgbClr val="FD8204"/>
              </a:buClr>
              <a:buChar char="•"/>
            </a:pPr>
            <a:r>
              <a:rPr sz="1050" b="0">
                <a:solidFill>
                  <a:srgbClr val="3A362F"/>
                </a:solidFill>
                <a:latin typeface="나눔스퀘어"/>
                <a:ea typeface="나눔스퀘어"/>
              </a:rPr>
              <a:t>총괄 PM · 주간/월간 공정 보고</a:t>
            </a:r>
          </a:p>
          <a:p>
            <a:pPr algn="l" marL="146304" indent="-146304">
              <a:lnSpc>
                <a:spcPct val="115000"/>
              </a:lnSpc>
              <a:spcAft>
                <a:spcPts val="200"/>
              </a:spcAft>
              <a:buClr>
                <a:srgbClr val="FD8204"/>
              </a:buClr>
              <a:buChar char="•"/>
            </a:pPr>
            <a:r>
              <a:rPr sz="1050" b="0">
                <a:solidFill>
                  <a:srgbClr val="3A362F"/>
                </a:solidFill>
                <a:latin typeface="나눔스퀘어"/>
                <a:ea typeface="나눔스퀘어"/>
              </a:rPr>
              <a:t>형상 관리 · 마일스톤 준수</a:t>
            </a:r>
          </a:p>
          <a:p>
            <a:pPr algn="l" marL="146304" indent="-146304">
              <a:lnSpc>
                <a:spcPct val="115000"/>
              </a:lnSpc>
              <a:spcAft>
                <a:spcPts val="200"/>
              </a:spcAft>
              <a:buClr>
                <a:srgbClr val="FD8204"/>
              </a:buClr>
              <a:buChar char="•"/>
            </a:pPr>
            <a:r>
              <a:rPr sz="1050" b="0">
                <a:solidFill>
                  <a:srgbClr val="3A362F"/>
                </a:solidFill>
                <a:latin typeface="나눔스퀘어"/>
                <a:ea typeface="나눔스퀘어"/>
              </a:rPr>
              <a:t>기술 아키텍처 · 산출물 문서화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584448"/>
            <a:ext cx="1508760" cy="1078992"/>
          </a:xfrm>
          <a:prstGeom prst="roundRect">
            <a:avLst>
              <a:gd name="adj" fmla="val 6000"/>
            </a:avLst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02920" y="3584448"/>
            <a:ext cx="1417320" cy="1078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나눔스퀘어 ExtraBold"/>
                <a:ea typeface="나눔스퀘어 ExtraBold"/>
              </a:rPr>
              <a:t>도메인 검증</a:t>
            </a:r>
          </a:p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나눔스퀘어 ExtraBold"/>
                <a:ea typeface="나눔스퀘어 ExtraBold"/>
              </a:rPr>
              <a:t>(공정·기계·계장)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03120" y="3584448"/>
            <a:ext cx="3520440" cy="1078992"/>
          </a:xfrm>
          <a:prstGeom prst="roundRect">
            <a:avLst>
              <a:gd name="adj" fmla="val 6000"/>
            </a:avLst>
          </a:prstGeom>
          <a:solidFill>
            <a:srgbClr val="F5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2286000" y="3694176"/>
            <a:ext cx="3246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15000"/>
              </a:lnSpc>
              <a:spcAft>
                <a:spcPts val="200"/>
              </a:spcAft>
              <a:buClr>
                <a:srgbClr val="FD8204"/>
              </a:buClr>
              <a:buChar char="•"/>
            </a:pPr>
            <a:r>
              <a:rPr sz="1050" b="0">
                <a:solidFill>
                  <a:srgbClr val="3A362F"/>
                </a:solidFill>
                <a:latin typeface="나눔스퀘어"/>
                <a:ea typeface="나눔스퀘어"/>
              </a:rPr>
              <a:t>5대 산출물 샘플 · 용어 가이드</a:t>
            </a:r>
          </a:p>
          <a:p>
            <a:pPr algn="l" marL="146304" indent="-146304">
              <a:lnSpc>
                <a:spcPct val="115000"/>
              </a:lnSpc>
              <a:spcAft>
                <a:spcPts val="200"/>
              </a:spcAft>
              <a:buClr>
                <a:srgbClr val="FD8204"/>
              </a:buClr>
              <a:buChar char="•"/>
            </a:pPr>
            <a:r>
              <a:rPr sz="1050" b="0">
                <a:solidFill>
                  <a:srgbClr val="3A362F"/>
                </a:solidFill>
                <a:latin typeface="나눔스퀘어"/>
                <a:ea typeface="나눔스퀘어"/>
              </a:rPr>
              <a:t>교차 검증 룰 정의</a:t>
            </a:r>
          </a:p>
          <a:p>
            <a:pPr algn="l" marL="146304" indent="-146304">
              <a:lnSpc>
                <a:spcPct val="115000"/>
              </a:lnSpc>
              <a:spcAft>
                <a:spcPts val="200"/>
              </a:spcAft>
              <a:buClr>
                <a:srgbClr val="FD8204"/>
              </a:buClr>
              <a:buChar char="•"/>
            </a:pPr>
            <a:r>
              <a:rPr sz="1050" b="0">
                <a:solidFill>
                  <a:srgbClr val="3A362F"/>
                </a:solidFill>
                <a:latin typeface="나눔스퀘어"/>
                <a:ea typeface="나눔스퀘어"/>
              </a:rPr>
              <a:t>파싱 결과 · Golden Set 검증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52160" y="3584448"/>
            <a:ext cx="3566160" cy="1078992"/>
          </a:xfrm>
          <a:prstGeom prst="roundRect">
            <a:avLst>
              <a:gd name="adj" fmla="val 6000"/>
            </a:avLst>
          </a:prstGeom>
          <a:solidFill>
            <a:srgbClr val="FDE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035040" y="3694176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15000"/>
              </a:lnSpc>
              <a:spcAft>
                <a:spcPts val="200"/>
              </a:spcAft>
              <a:buClr>
                <a:srgbClr val="FD8204"/>
              </a:buClr>
              <a:buChar char="•"/>
            </a:pPr>
            <a:r>
              <a:rPr sz="1050" b="0">
                <a:solidFill>
                  <a:srgbClr val="3A362F"/>
                </a:solidFill>
                <a:latin typeface="나눔스퀘어"/>
                <a:ea typeface="나눔스퀘어"/>
              </a:rPr>
              <a:t>MSSQL 스키마 공동 설계</a:t>
            </a:r>
          </a:p>
          <a:p>
            <a:pPr algn="l" marL="146304" indent="-146304">
              <a:lnSpc>
                <a:spcPct val="115000"/>
              </a:lnSpc>
              <a:spcAft>
                <a:spcPts val="200"/>
              </a:spcAft>
              <a:buClr>
                <a:srgbClr val="FD8204"/>
              </a:buClr>
              <a:buChar char="•"/>
            </a:pPr>
            <a:r>
              <a:rPr sz="1050" b="0">
                <a:solidFill>
                  <a:srgbClr val="3A362F"/>
                </a:solidFill>
                <a:latin typeface="나눔스퀘어"/>
                <a:ea typeface="나눔스퀘어"/>
              </a:rPr>
              <a:t>스마트 파서 · 정제 · ETL</a:t>
            </a:r>
          </a:p>
          <a:p>
            <a:pPr algn="l" marL="146304" indent="-146304">
              <a:lnSpc>
                <a:spcPct val="115000"/>
              </a:lnSpc>
              <a:spcAft>
                <a:spcPts val="200"/>
              </a:spcAft>
              <a:buClr>
                <a:srgbClr val="FD8204"/>
              </a:buClr>
              <a:buChar char="•"/>
            </a:pPr>
            <a:r>
              <a:rPr sz="1050" b="0">
                <a:solidFill>
                  <a:srgbClr val="3A362F"/>
                </a:solidFill>
                <a:latin typeface="나눔스퀘어"/>
                <a:ea typeface="나눔스퀘어"/>
              </a:rPr>
              <a:t>검증자 피드백 반영 튜닝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791456"/>
            <a:ext cx="1508760" cy="1078992"/>
          </a:xfrm>
          <a:prstGeom prst="roundRect">
            <a:avLst>
              <a:gd name="adj" fmla="val 6000"/>
            </a:avLst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02920" y="4791456"/>
            <a:ext cx="1417320" cy="1078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나눔스퀘어 ExtraBold"/>
                <a:ea typeface="나눔스퀘어 ExtraBold"/>
              </a:rPr>
              <a:t>AI · 시스템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103120" y="4791456"/>
            <a:ext cx="3520440" cy="1078992"/>
          </a:xfrm>
          <a:prstGeom prst="roundRect">
            <a:avLst>
              <a:gd name="adj" fmla="val 6000"/>
            </a:avLst>
          </a:prstGeom>
          <a:solidFill>
            <a:srgbClr val="F5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2286000" y="4901184"/>
            <a:ext cx="3246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15000"/>
              </a:lnSpc>
              <a:spcAft>
                <a:spcPts val="200"/>
              </a:spcAft>
              <a:buClr>
                <a:srgbClr val="FD8204"/>
              </a:buClr>
              <a:buChar char="•"/>
            </a:pPr>
            <a:r>
              <a:rPr sz="1050" b="0">
                <a:solidFill>
                  <a:srgbClr val="3A362F"/>
                </a:solidFill>
                <a:latin typeface="나눔스퀘어"/>
                <a:ea typeface="나눔스퀘어"/>
              </a:rPr>
              <a:t>내부망 계정 · 보안 가이드</a:t>
            </a:r>
          </a:p>
          <a:p>
            <a:pPr algn="l" marL="146304" indent="-146304">
              <a:lnSpc>
                <a:spcPct val="115000"/>
              </a:lnSpc>
              <a:spcAft>
                <a:spcPts val="200"/>
              </a:spcAft>
              <a:buClr>
                <a:srgbClr val="FD8204"/>
              </a:buClr>
              <a:buChar char="•"/>
            </a:pPr>
            <a:r>
              <a:rPr sz="1050" b="0">
                <a:solidFill>
                  <a:srgbClr val="3A362F"/>
                </a:solidFill>
                <a:latin typeface="나눔스퀘어"/>
                <a:ea typeface="나눔스퀘어"/>
              </a:rPr>
              <a:t>방화벽 · 인프라 권한 지원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52160" y="4791456"/>
            <a:ext cx="3566160" cy="1078992"/>
          </a:xfrm>
          <a:prstGeom prst="roundRect">
            <a:avLst>
              <a:gd name="adj" fmla="val 6000"/>
            </a:avLst>
          </a:prstGeom>
          <a:solidFill>
            <a:srgbClr val="FDE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035040" y="4901184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15000"/>
              </a:lnSpc>
              <a:spcAft>
                <a:spcPts val="200"/>
              </a:spcAft>
              <a:buClr>
                <a:srgbClr val="FD8204"/>
              </a:buClr>
              <a:buChar char="•"/>
            </a:pPr>
            <a:r>
              <a:rPr sz="1050" b="0">
                <a:solidFill>
                  <a:srgbClr val="3A362F"/>
                </a:solidFill>
                <a:latin typeface="나눔스퀘어"/>
                <a:ea typeface="나눔스퀘어"/>
              </a:rPr>
              <a:t>SLM/LLM 서빙 파이프라인</a:t>
            </a:r>
          </a:p>
          <a:p>
            <a:pPr algn="l" marL="146304" indent="-146304">
              <a:lnSpc>
                <a:spcPct val="115000"/>
              </a:lnSpc>
              <a:spcAft>
                <a:spcPts val="200"/>
              </a:spcAft>
              <a:buClr>
                <a:srgbClr val="FD8204"/>
              </a:buClr>
              <a:buChar char="•"/>
            </a:pPr>
            <a:r>
              <a:rPr sz="1050" b="0">
                <a:solidFill>
                  <a:srgbClr val="3A362F"/>
                </a:solidFill>
                <a:latin typeface="나눔스퀘어"/>
                <a:ea typeface="나눔스퀘어"/>
              </a:rPr>
              <a:t>Text-to-SQL · 하이브리드 RAG</a:t>
            </a:r>
          </a:p>
          <a:p>
            <a:pPr algn="l" marL="146304" indent="-146304">
              <a:lnSpc>
                <a:spcPct val="115000"/>
              </a:lnSpc>
              <a:spcAft>
                <a:spcPts val="200"/>
              </a:spcAft>
              <a:buClr>
                <a:srgbClr val="FD8204"/>
              </a:buClr>
              <a:buChar char="•"/>
            </a:pPr>
            <a:r>
              <a:rPr sz="1050" b="0">
                <a:solidFill>
                  <a:srgbClr val="3A362F"/>
                </a:solidFill>
                <a:latin typeface="나눔스퀘어"/>
                <a:ea typeface="나눔스퀘어"/>
              </a:rPr>
              <a:t>웹 포털 배포 · 기술 이전 교육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04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NEXT STEP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0467CE0-9CA5-1A81-CC61-627D44FD67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316148F-D84E-47A3-B267-E08DF939B7C4}" type="slidenum">
              <a:rPr lang="ko-KR" altLang="en-US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pPr/>
              <a:t>12</a:t>
            </a:fld>
            <a:r>
              <a:rPr lang="en-US" altLang="ko-KR">
                <a:latin typeface="나눔스퀘어" panose="020B0600000101010101" pitchFamily="50" charset="-127"/>
                <a:ea typeface="나눔스퀘어" panose="020B0600000101010101" pitchFamily="50" charset="-127"/>
              </a:rPr>
              <a:t>/28</a:t>
            </a:r>
            <a:endParaRPr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" name="Title"/>
          <p:cNvSpPr txBox="1"/>
          <p:nvPr/>
        </p:nvSpPr>
        <p:spPr>
          <a:xfrm>
            <a:off x="448056" y="777240"/>
            <a:ext cx="8961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1">
                <a:solidFill>
                  <a:srgbClr val="1A1714"/>
                </a:solidFill>
                <a:latin typeface="나눔스퀘어 ExtraBold"/>
                <a:ea typeface="나눔스퀘어 ExtraBold"/>
              </a:rPr>
              <a:t>제안 정밀도를 높이기 위한 협의 요청 사항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448056" y="1298448"/>
            <a:ext cx="8961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3A362F"/>
                </a:solidFill>
                <a:latin typeface="나눔스퀘어"/>
                <a:ea typeface="나눔스퀘어"/>
              </a:rPr>
              <a:t>아래 항목을 확정하면 공수와 일정, 검수 기준을 구체화해 상세 제안서와 M/M 계획으로 이어가겠습니다.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65960"/>
            <a:ext cx="2834640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52400" algn="ctr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685800" y="2148840"/>
            <a:ext cx="548640" cy="548640"/>
          </a:xfrm>
          <a:prstGeom prst="ellipse">
            <a:avLst/>
          </a:prstGeom>
          <a:solidFill>
            <a:srgbClr val="FDE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FaLayerGroup_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446" y="2291486"/>
            <a:ext cx="263347" cy="26334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71600" y="214884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A1714"/>
                </a:solidFill>
                <a:latin typeface="나눔스퀘어 ExtraBold"/>
                <a:ea typeface="나눔스퀘어 ExtraBold"/>
              </a:rPr>
              <a:t>데이터 범위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926080"/>
            <a:ext cx="246888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25000"/>
              </a:lnSpc>
              <a:spcAft>
                <a:spcPts val="800"/>
              </a:spcAft>
              <a:buClr>
                <a:srgbClr val="FD8204"/>
              </a:buClr>
              <a:buChar char="•"/>
            </a:pPr>
            <a:r>
              <a:rPr sz="1050" b="0">
                <a:solidFill>
                  <a:srgbClr val="3A362F"/>
                </a:solidFill>
                <a:latin typeface="나눔스퀘어"/>
                <a:ea typeface="나눔스퀘어"/>
              </a:rPr>
              <a:t>과거 프로젝트 적재 범위 (프로젝트·파일·서식 수)</a:t>
            </a:r>
          </a:p>
          <a:p>
            <a:pPr algn="l" marL="146304" indent="-146304">
              <a:lnSpc>
                <a:spcPct val="125000"/>
              </a:lnSpc>
              <a:spcAft>
                <a:spcPts val="800"/>
              </a:spcAft>
              <a:buClr>
                <a:srgbClr val="FD8204"/>
              </a:buClr>
              <a:buChar char="•"/>
            </a:pPr>
            <a:r>
              <a:rPr sz="1050" b="0">
                <a:solidFill>
                  <a:srgbClr val="3A362F"/>
                </a:solidFill>
                <a:latin typeface="나눔스퀘어"/>
                <a:ea typeface="나눔스퀘어"/>
              </a:rPr>
              <a:t>스캔 PDF 비중, 산출물 샘플 제공 시점</a:t>
            </a:r>
          </a:p>
          <a:p>
            <a:pPr algn="l" marL="146304" indent="-146304">
              <a:lnSpc>
                <a:spcPct val="125000"/>
              </a:lnSpc>
              <a:spcAft>
                <a:spcPts val="800"/>
              </a:spcAft>
              <a:buClr>
                <a:srgbClr val="FD8204"/>
              </a:buClr>
              <a:buChar char="•"/>
            </a:pPr>
            <a:r>
              <a:rPr sz="1050" b="0">
                <a:solidFill>
                  <a:srgbClr val="3A362F"/>
                </a:solidFill>
                <a:latin typeface="나눔스퀘어"/>
                <a:ea typeface="나눔스퀘어"/>
              </a:rPr>
              <a:t>P&amp;ID Tag 원천 (설계 툴 추출본 / 도면)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965960"/>
            <a:ext cx="2834640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52400" algn="ctr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3703320" y="2148840"/>
            <a:ext cx="548640" cy="548640"/>
          </a:xfrm>
          <a:prstGeom prst="ellipse">
            <a:avLst/>
          </a:prstGeom>
          <a:solidFill>
            <a:srgbClr val="FDE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icture 12" descr="FaCheckCircle_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5966" y="2291486"/>
            <a:ext cx="263347" cy="26334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389120" y="214884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A1714"/>
                </a:solidFill>
                <a:latin typeface="나눔스퀘어 ExtraBold"/>
                <a:ea typeface="나눔스퀘어 ExtraBold"/>
              </a:rPr>
              <a:t>품질 · 검수 기준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2926080"/>
            <a:ext cx="246888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25000"/>
              </a:lnSpc>
              <a:spcAft>
                <a:spcPts val="800"/>
              </a:spcAft>
              <a:buClr>
                <a:srgbClr val="FD8204"/>
              </a:buClr>
              <a:buChar char="•"/>
            </a:pPr>
            <a:r>
              <a:rPr sz="1050" b="0">
                <a:solidFill>
                  <a:srgbClr val="3A362F"/>
                </a:solidFill>
                <a:latin typeface="나눔스퀘어"/>
                <a:ea typeface="나눔스퀘어"/>
              </a:rPr>
              <a:t>Text-to-SQL 정확도 기준과 Golden Set 규모</a:t>
            </a:r>
          </a:p>
          <a:p>
            <a:pPr algn="l" marL="146304" indent="-146304">
              <a:lnSpc>
                <a:spcPct val="125000"/>
              </a:lnSpc>
              <a:spcAft>
                <a:spcPts val="800"/>
              </a:spcAft>
              <a:buClr>
                <a:srgbClr val="FD8204"/>
              </a:buClr>
              <a:buChar char="•"/>
            </a:pPr>
            <a:r>
              <a:rPr sz="1050" b="0">
                <a:solidFill>
                  <a:srgbClr val="3A362F"/>
                </a:solidFill>
                <a:latin typeface="나눔스퀘어"/>
                <a:ea typeface="나눔스퀘어"/>
              </a:rPr>
              <a:t>가드레일 허용 오차 · 단위 · 차단 범위</a:t>
            </a:r>
          </a:p>
          <a:p>
            <a:pPr algn="l" marL="146304" indent="-146304">
              <a:lnSpc>
                <a:spcPct val="125000"/>
              </a:lnSpc>
              <a:spcAft>
                <a:spcPts val="800"/>
              </a:spcAft>
              <a:buClr>
                <a:srgbClr val="FD8204"/>
              </a:buClr>
              <a:buChar char="•"/>
            </a:pPr>
            <a:r>
              <a:rPr sz="1050" b="0">
                <a:solidFill>
                  <a:srgbClr val="3A362F"/>
                </a:solidFill>
                <a:latin typeface="나눔스퀘어"/>
                <a:ea typeface="나눔스퀘어"/>
              </a:rPr>
              <a:t>동시 사용자 수 · 응답 시간 목표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1965960"/>
            <a:ext cx="2834640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52400" algn="ctr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6720840" y="2148840"/>
            <a:ext cx="548640" cy="548640"/>
          </a:xfrm>
          <a:prstGeom prst="ellipse">
            <a:avLst/>
          </a:prstGeom>
          <a:solidFill>
            <a:srgbClr val="FDE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FaCogs_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3486" y="2291486"/>
            <a:ext cx="263347" cy="26334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406640" y="214884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A1714"/>
                </a:solidFill>
                <a:latin typeface="나눔스퀘어 ExtraBold"/>
                <a:ea typeface="나눔스퀘어 ExtraBold"/>
              </a:rPr>
              <a:t>환경 · 구성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2926080"/>
            <a:ext cx="246888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25000"/>
              </a:lnSpc>
              <a:spcAft>
                <a:spcPts val="800"/>
              </a:spcAft>
              <a:buClr>
                <a:srgbClr val="FD8204"/>
              </a:buClr>
              <a:buChar char="•"/>
            </a:pPr>
            <a:r>
              <a:rPr sz="1050" b="0">
                <a:solidFill>
                  <a:srgbClr val="3A362F"/>
                </a:solidFill>
                <a:latin typeface="나눔스퀘어"/>
                <a:ea typeface="나눔스퀘어"/>
              </a:rPr>
              <a:t>GPU 서버 도입 일정 · 개발 서버 여부</a:t>
            </a:r>
          </a:p>
          <a:p>
            <a:pPr algn="l" marL="146304" indent="-146304">
              <a:lnSpc>
                <a:spcPct val="125000"/>
              </a:lnSpc>
              <a:spcAft>
                <a:spcPts val="800"/>
              </a:spcAft>
              <a:buClr>
                <a:srgbClr val="FD8204"/>
              </a:buClr>
              <a:buChar char="•"/>
            </a:pPr>
            <a:r>
              <a:rPr sz="1050" b="0">
                <a:solidFill>
                  <a:srgbClr val="3A362F"/>
                </a:solidFill>
                <a:latin typeface="나눔스퀘어"/>
                <a:ea typeface="나눔스퀘어"/>
              </a:rPr>
              <a:t>MSSQL 버전 · 조회 전용 계정 · 계정 체계(AD/SSO)</a:t>
            </a:r>
          </a:p>
          <a:p>
            <a:pPr algn="l" marL="146304" indent="-146304">
              <a:lnSpc>
                <a:spcPct val="125000"/>
              </a:lnSpc>
              <a:spcAft>
                <a:spcPts val="800"/>
              </a:spcAft>
              <a:buClr>
                <a:srgbClr val="FD8204"/>
              </a:buClr>
              <a:buChar char="•"/>
            </a:pPr>
            <a:r>
              <a:rPr sz="1050" b="0">
                <a:solidFill>
                  <a:srgbClr val="3A362F"/>
                </a:solidFill>
                <a:latin typeface="나눔스퀘어"/>
                <a:ea typeface="나눔스퀘어"/>
              </a:rPr>
              <a:t>벡터DB 구성(Milvus/pgvector) · TensorRT-LLM 필요 여부</a:t>
            </a:r>
          </a:p>
          <a:p>
            <a:pPr algn="l" marL="146304" indent="-146304">
              <a:lnSpc>
                <a:spcPct val="125000"/>
              </a:lnSpc>
              <a:spcAft>
                <a:spcPts val="800"/>
              </a:spcAft>
              <a:buClr>
                <a:srgbClr val="FD8204"/>
              </a:buClr>
              <a:buChar char="•"/>
            </a:pPr>
            <a:r>
              <a:rPr sz="1050" b="0">
                <a:solidFill>
                  <a:srgbClr val="3A362F"/>
                </a:solidFill>
                <a:latin typeface="나눔스퀘어"/>
                <a:ea typeface="나눔스퀘어"/>
              </a:rPr>
              <a:t>산출물 소스 범위 · 플랫폼 라이선스 형태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5155</TotalTime>
  <Words>2202</Words>
  <Application>Microsoft Office PowerPoint</Application>
  <PresentationFormat>A4 용지(210x297mm)</PresentationFormat>
  <Paragraphs>371</Paragraphs>
  <Slides>27</Slides>
  <Notes>27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27</vt:i4>
      </vt:variant>
    </vt:vector>
  </HeadingPairs>
  <TitlesOfParts>
    <vt:vector size="37" baseType="lpstr">
      <vt:lpstr>나눔스퀘어</vt:lpstr>
      <vt:lpstr>맑은 고딕</vt:lpstr>
      <vt:lpstr>나눔스퀘어 Bold</vt:lpstr>
      <vt:lpstr>Arial</vt:lpstr>
      <vt:lpstr>Calibri</vt:lpstr>
      <vt:lpstr>나눔스퀘어 Light</vt:lpstr>
      <vt:lpstr>맑은 고딕</vt:lpstr>
      <vt:lpstr>나눔스퀘어 ExtraBold</vt:lpstr>
      <vt:lpstr>디자인 사용자 지정</vt:lpstr>
      <vt:lpstr>1_디자인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RAG Agent</vt:lpstr>
      <vt:lpstr>NL2SQL Agent</vt:lpstr>
      <vt:lpstr>통번역 Agent</vt:lpstr>
      <vt:lpstr>문서요약 Agent</vt:lpstr>
      <vt:lpstr>데이터 분석 Agent</vt:lpstr>
      <vt:lpstr>보고서 작성 Agent</vt:lpstr>
      <vt:lpstr>채팅 Agent</vt:lpstr>
      <vt:lpstr>이미지 생성 Agent</vt:lpstr>
      <vt:lpstr>Agent Builder</vt:lpstr>
      <vt:lpstr>AgentOps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채가영'</dc:creator>
  <cp:lastModifiedBy>채 가영</cp:lastModifiedBy>
  <cp:revision>518</cp:revision>
  <dcterms:modified xsi:type="dcterms:W3CDTF">2026-08-03T00:11:59Z</dcterms:modified>
</cp:coreProperties>
</file>